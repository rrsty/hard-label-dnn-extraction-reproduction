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7" userDrawn="1">
          <p15:clr>
            <a:srgbClr val="A4A3A4"/>
          </p15:clr>
        </p15:guide>
        <p15:guide id="2" pos="368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725"/>
    <a:srgbClr val="6096E6"/>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62" d="100"/>
          <a:sy n="62" d="100"/>
        </p:scale>
        <p:origin x="39" y="1215"/>
      </p:cViewPr>
      <p:guideLst>
        <p:guide orient="horz" pos="2087"/>
        <p:guide pos="368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gs" Target="tags/tag99.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大家好，今天汇报 Carlini 等人在二〇二四年发表的论文《Polynomial Time Cryptanalytic Extraction of Deep Neural Networks in the Hard-Label Setting》。它研究一个看似很安全的接口：模型不返回概率和 logits，只返回最终类别。论文证明，即使只有这种硬标签，攻击者仍可利用决策边界的几何结构，以多项式查询和计算恢复深度神经网络参数。报告将重点解释攻击为什么成立、三项核心技术、实验结果和现实限制。</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汇报分为六章。先说明研究背景和硬标签场景的难点，再介绍威胁模型与双点这一核心几何洞见；第三章依次讲双点寻找、签名恢复和符号恢复；第四章看论文实验；第五章预留给我们的小组复现；最后总结贡献并提出讨论问题。每一章前都增加了独立章节封面，方便课堂讲解和后续协作编辑。</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首先进入第一章，研究背景与问题。我们先用一页概括论文贡献，再解释密码分析视角，以及为什么硬标签比完整输出更难攻击。</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论文贡献可以压缩为三步。第一是寻找双点，即在决策边界上找到局部方向突然改变的位置，让隐藏的 ReLU 临界面变得可观察。第二是签名恢复，把同一神经元的多个双空间组合起来，用线性代数恢复权重方向，但此时还差尺度和正负号。第三是符号恢复，通过比较两侧到未来层变化的距离进行统计投票。作者最终在 CIFAR-10 全连接网络上提取九十三万五千三百七十个参数、八百三十二个隐藏神经元和四个隐藏层。</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作者从密码分析角度理解模型提取。神经网络中的权重和偏置是秘密，ReLU 是公开非线性；分组密码中的轮密钥是秘密，S 盒是公开非线性。两者都可以看作秘密线性变换与公开非线性操作的多轮组合。区别是神经网络通常没有为抵抗选择输入攻击而设计，所以分段线性结构会留下几何痕迹。论文不是直接猜参数，而是主动设计查询，再从边界行为反推出内部秘密。</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传统攻击若能看到 logits 或概率，沿输入直线移动时，一旦某个 ReLU 翻转，输出斜率就会变化，临界点可以直接定位。硬标签只保留最大类别。图中的类别转移点仍然可见，但其他隐藏神经元虽然发生翻转，只要最终类别没变，接口就完全沉默。因此难点不只是少了数值，而是用于定位内部折点的侧信道消失了，论文必须找到一种只依赖类别变化的新观测量。</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第二章先把结论的适用边界说清楚，再解释全文最重要的几何概念：双点。理解这两页之后，后续算法就会自然很多。</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攻击目标是仅凭最终类别逐层恢复权重与偏置，使克隆模型复现原模型决策。它依赖四项假设：网络结构与激活函数已知；攻击者可在实数域选择任意方向和幅度；接口稳定且具有足够高的精度；模型主要是全连接 ReLU 网络，卷积结构尚未覆盖。因此这首先是一项可行性与复杂度突破，不能直接理解为所有现实 API 都能被同样方式一键攻击。</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一个隐藏神经元从关闭变为开启时，输入空间中存在临界超平面；两个输出类别相等时，存在决策边界。两者相交的位置称为双点。普通 ReLU 翻转在硬标签下不可见，但当它穿过决策边界时，边界两侧属于不同线性区域，局部法向会发生突变。也就是说，临界面本身仍然隐藏，却在决策边界上留下折痕。攻击者只需通过类别查询重建局部方向，就能感知这处内部状态变化。</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第三章进入论文的完整攻击方法。接下来会先看逐层流程，再分别解释双点搜索、签名恢复、符号恢复，以及理论算法与原型实现的差距。</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攻击按层推进。图中的已恢复层成为已知前缀，当前层是攻击目标，后面是未来层。首先在决策边界上寻找双点；其次根据双点两侧的边界片恢复低维双空间；第三聚类同一神经元的观测并恢复签名；最后比较未来层事件确定符号。完成一层后，输入就可以被映射到该层坐标系，后续攻击在更低维的表示空间继续，因此不需要一次求解所有参数。</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双点搜索包含五个动作。先从两个不同标签的输入出发，通过二分把点压到决策边界；然后在附近查询并估计局部法向；接着沿边界切向移动，同时不断把新点重新投影回边界；当估计出的法向突然改变，就说明路径跨过了某个隐藏神经元的临界面，此处即为双点。二分搜索把位置精度转化为查询次数，在一般位置假设下，整体工作量仍是输入维度和网络规模的多项式。</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单个双点只能给出一个与目标权重相关的低维双空间，论文还要判断哪些双点来自同一神经元。做法是组合候选双空间并检查联合矩阵的最小奇异值。若观测来自同一神经元，它们共享一致的法向方向，最小奇异值会显著坍缩；来自不同神经元时则不会。完成聚类后，就能用线性代数恢复权重方向，也就是签名。多数签名达到至少十八比特精度，但尺度和正负号仍未确定。</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在线演示：对偶点三维可视化</a:t>
            </a:r>
            <a:endParaRPr lang="zh-CN" dirty="0"/>
          </a:p>
          <a:p>
            <a:endParaRPr lang="zh-CN" dirty="0"/>
          </a:p>
          <a:p>
            <a:r>
              <a:rPr lang="zh-CN" dirty="0"/>
              <a:t>这一页用三维交互演示把前两页的几何过程连起来。左侧网页同时展示决策曲面、神经元临界平面与它们的交线；沿边界行走遇到拐弯处即可定位对偶点，再利用两条对偶线恢复临界平面。点击右侧按钮可以打开实时演示，现场拖拽、缩放或逐步播放。</a:t>
            </a:r>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一个法向量和它的相反数表示同一张超平面，所以还要判断神经元在哪一侧开启。作者分别沿候选法向的正、负两侧采样，比较走多远会遇到下一次未来层神经元切换。正确的开启侧会改变后续有效线性映射，因此更容易提前触发未来层变化。单次测量可能出错，所以算法重复实验并投票。Hoeffding 界说明，增加实验次数可以把误判概率压到给定水平，而样本复杂度仍保持多项式。</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里必须区分理论算法与论文原型。理论上，双点、聚类和符号判定均为多项式过程，解决了上一项工作需要指数枚举符号的问题。但原型为了加速使用了符号梯度等白盒信息，报告时间没有计入朴素二次聚类的全部成本，攻击某层时还假设前面层已完美恢复。因此十六小时和八点五小时不是现实黑盒端到端攻击的完整耗时。准确表述是：论文证明了多项式攻击存在，并完成大规模概念验证，但尚未形成成熟的一键工具。</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第四章进入论文自己的实验。下面先看网络规模和计算环境，再用恢复精度、符号正确率与运行时间判断方法是否真正可行。</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实验对象是一个 CIFAR-10 全连接 ReLU 网络。输入维度为三千零七十二，随后是三层各二百五十六个神经元和一层六十四个神经元，输出十个类别。全网共有八百三十二个隐藏神经元、九十三万五千三百七十个参数，测试准确率约百分之五十二。作者使用二百五十六个 CPU 核心和 GPU 运行原型，而查询接口只返回预测类别。实验要验证的是，接近百万参数规模下能否恢复所有隐藏层的签名与符号。</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结果显示，签名恢复约耗时十六小时，多数参数达到至少十八比特精度。符号恢复约耗时八点五小时，四个隐藏层的八百三十二个符号全部正确。附录曲线表明，符号置信度随双点数量增加而收敛。更深层通常需要更多双点，少数困难神经元需要重新运行，但最终所有层都完成正确判定。这支持论文的主要主张：硬标签并没有阻止高精度参数提取。</a:t>
            </a:r>
            <a:endParaRPr 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限制可以分成威胁模型和实现两类。攻击要求已知结构、任意实数域查询、稳定高精度接口，并主要覆盖全连接 ReLU 网络；几乎不激活、不影响决策边界或处于退化系统中的神经元可能无法恢复。实现上，时间没有覆盖朴素聚类全部成本，部分步骤用白盒信息加速，并假设前层完美恢复。安全启示是只返回类别并不自动安全，但输入约束、边界量化或随机化，以及对密集自适应查询的检测，都可能显著提高攻击成本。</a:t>
            </a:r>
            <a:endParaRPr 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第五章汇报小组的复现结果。我们分别复现了软标签前作的符号恢复方法，以及本文在硬标签接口下的端到端网络提取，并在本地 CPU 和服务器两套环境中进行交叉验证。</a:t>
            </a:r>
            <a:endParaRPr 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复现内容分成两条线。软标签前作能够观察高精度实数输出，重点验证 SOE、Neuron Wiggle 和最后隐藏层三种符号恢复方法；硬标签本文只能查询最终类别，进一步验证完整的端到端提取流程。硬标签实验分别在 Windows 纯 CPU 环境和 Linux 服务器环境运行，用来确认结果是否依赖单一平台。</a:t>
            </a:r>
            <a:endParaRPr 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软标签前作的八项攻击实验和一项模型评估全部完成，合计九百八十三个神经元的符号全部恢复正确。SOE 可以一次求解整层，速度最快；最后隐藏层方法利用二阶差分，也能高效恢复整层。Neuron Wiggle 需要逐神经元重复实验，虽然结果全部正确，但在高维 CIFAR-10 网络上达到每个神经元三百三十五秒，是最明显的工程瓶颈。</a:t>
            </a:r>
            <a:endParaRPr 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硬标签端到端实验攻击的是三层、每层三十二个神经元的 ReLU 网络。Windows CPU 环境用了三千八百六十七万次查询和三百九十八秒，服务器用了三千九百三十四万次查询和三百零九秒；两次查询量都与论文约四千万次的预期吻合。恢复参数的最大相对误差在十的负十四次方量级，十万个随机输入以及决策边界附近的测试点都达到百分之百标签一致，验证程序最终输出网络已被窃取。</a:t>
            </a:r>
            <a:endParaRPr 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符号恢复的三类实验都得到稳定结果。Leaky ReLU 网络的九十六个神经元全部恢复正确；标准 ReLU 黑盒实验覆盖三层二十四个神经元，每个神经元十九次统计实验，均形成十九比零的单边投票。CIFAR-10 白盒辅助实验的十六个神经元都成功提取到开启侧和关闭侧的速度差异，并在达到判定条件后提前结束。整体上，攻击更依赖大量单样本查询、双精度数值和稳定的查询接口，而不是 GPU 的批量计算能力。</a:t>
            </a:r>
            <a:endParaRPr 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这一页只保留本组使用的两个复现仓库。左侧是软标签前作的复现代码，右侧是本文硬标签攻击的复现代码；即使汇报现场无法联网，也可以根据页面上的完整地址在课后访问。</a:t>
            </a:r>
            <a:endParaRPr 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最后进入第六章，结论与讨论。我们用一页收束论文的理论突破、实验证据和现实边界，并留下两个开放问题。</a:t>
            </a:r>
            <a:endParaRPr 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最后总结三点。第一，双点把不可见的 ReLU 临界面转化为硬标签下可观察的边界方向变化。第二，签名聚类与统计符号恢复把指数枚举降为多项式复杂度。第三，这项工作的理论意义目前大于直接部署性，但它已经否定了“只返回类别就天然安全”的直觉。可以继续讨论：如果 API 限制输入域、量化边界位置或随机返回标签，理论保证还剩多少；以及方法能否扩展到卷积、残差网络和大模型中的分段线性结构。谢谢大家。</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image" Target="../media/image8.png"/><Relationship Id="rId21" Type="http://schemas.openxmlformats.org/officeDocument/2006/relationships/notesSlide" Target="../notesSlides/notesSlide4.xml"/><Relationship Id="rId20" Type="http://schemas.openxmlformats.org/officeDocument/2006/relationships/slideLayout" Target="../slideLayouts/slideLayout7.xml"/><Relationship Id="rId2" Type="http://schemas.openxmlformats.org/officeDocument/2006/relationships/image" Target="../media/image7.png"/><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hyperlink" Target="https://dualpoints-sec.pages.dev/" TargetMode="Externa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21.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7.xml"/><Relationship Id="rId4" Type="http://schemas.openxmlformats.org/officeDocument/2006/relationships/image" Target="../media/image22.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8.png"/><Relationship Id="rId2" Type="http://schemas.openxmlformats.org/officeDocument/2006/relationships/image" Target="../media/image7.png"/><Relationship Id="rId12" Type="http://schemas.openxmlformats.org/officeDocument/2006/relationships/notesSlide" Target="../notesSlides/notesSlide20.xml"/><Relationship Id="rId11" Type="http://schemas.openxmlformats.org/officeDocument/2006/relationships/slideLayout" Target="../slideLayouts/slideLayout7.xml"/><Relationship Id="rId10" Type="http://schemas.openxmlformats.org/officeDocument/2006/relationships/tags" Target="../tags/tag85.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8.png"/><Relationship Id="rId2" Type="http://schemas.openxmlformats.org/officeDocument/2006/relationships/image" Target="../media/image7.png"/><Relationship Id="rId18" Type="http://schemas.openxmlformats.org/officeDocument/2006/relationships/notesSlide" Target="../notesSlides/notesSlide28.xml"/><Relationship Id="rId17" Type="http://schemas.openxmlformats.org/officeDocument/2006/relationships/slideLayout" Target="../slideLayouts/slideLayout7.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72068"/>
          </a:xfrm>
          <a:prstGeom prst="rect">
            <a:avLst/>
          </a:prstGeom>
          <a:solidFill>
            <a:srgbClr val="0057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l="15745" t="3150" r="14715"/>
          <a:stretch>
            <a:fillRect/>
          </a:stretch>
        </p:blipFill>
        <p:spPr>
          <a:xfrm>
            <a:off x="5807968" y="115046"/>
            <a:ext cx="7632848" cy="6641976"/>
          </a:xfrm>
          <a:prstGeom prst="rect">
            <a:avLst/>
          </a:prstGeom>
        </p:spPr>
      </p:pic>
      <p:pic>
        <p:nvPicPr>
          <p:cNvPr id="7" name="图片 6"/>
          <p:cNvPicPr>
            <a:picLocks noChangeAspect="1"/>
          </p:cNvPicPr>
          <p:nvPr/>
        </p:nvPicPr>
        <p:blipFill rotWithShape="1">
          <a:blip r:embed="rId1">
            <a:extLst>
              <a:ext uri="{28A0092B-C50C-407E-A947-70E740481C1C}">
                <a14:useLocalDpi xmlns:a14="http://schemas.microsoft.com/office/drawing/2010/main" val="0"/>
              </a:ext>
            </a:extLst>
          </a:blip>
          <a:srcRect l="15745" t="3150" r="14715"/>
          <a:stretch>
            <a:fillRect/>
          </a:stretch>
        </p:blipFill>
        <p:spPr>
          <a:xfrm>
            <a:off x="-3625080" y="-1395536"/>
            <a:ext cx="7632848" cy="6641976"/>
          </a:xfrm>
          <a:prstGeom prst="rect">
            <a:avLst/>
          </a:prstGeom>
        </p:spPr>
      </p:pic>
      <p:sp>
        <p:nvSpPr>
          <p:cNvPr id="11" name="Rectangle 15"/>
          <p:cNvSpPr/>
          <p:nvPr/>
        </p:nvSpPr>
        <p:spPr>
          <a:xfrm>
            <a:off x="0" y="2882170"/>
            <a:ext cx="12191238" cy="829913"/>
          </a:xfrm>
          <a:prstGeom prst="rect">
            <a:avLst/>
          </a:prstGeom>
          <a:noFill/>
          <a:ln>
            <a:noFill/>
          </a:ln>
        </p:spPr>
        <p:txBody>
          <a:bodyPr wrap="none" lIns="0" tIns="188959" rIns="0" bIns="0" anchor="t" anchorCtr="0">
            <a:noAutofit/>
          </a:bodyPr>
          <a:lstStyle/>
          <a:p>
            <a:pPr algn="ctr">
              <a:lnSpc>
                <a:spcPts val="4650"/>
              </a:lnSpc>
            </a:pPr>
            <a:r>
              <a:rPr lang="zh-CN" sz="3450" b="1" dirty="0">
                <a:solidFill>
                  <a:srgbClr val="FFFFFF"/>
                </a:solidFill>
                <a:latin typeface="黑体" panose="02010609060101010101" charset="-122"/>
                <a:ea typeface="微软雅黑" panose="020B0503020204020204" charset="-122"/>
                <a:cs typeface="黑体" panose="02010609060101010101" charset="-122"/>
              </a:rPr>
              <a:t>只看标签，也能“偷走”近百万参数</a:t>
            </a:r>
            <a:br>
              <a:rPr lang="zh-CN" sz="3450" b="1" dirty="0">
                <a:solidFill>
                  <a:srgbClr val="FFFFFF"/>
                </a:solidFill>
                <a:latin typeface="黑体" panose="02010609060101010101" charset="-122"/>
                <a:ea typeface="微软雅黑" panose="020B0503020204020204" charset="-122"/>
                <a:cs typeface="黑体" panose="02010609060101010101" charset="-122"/>
              </a:rPr>
            </a:br>
            <a:r>
              <a:rPr lang="zh-CN" sz="3450" b="1" dirty="0">
                <a:solidFill>
                  <a:srgbClr val="FFFFFF"/>
                </a:solidFill>
                <a:latin typeface="黑体" panose="02010609060101010101" charset="-122"/>
                <a:ea typeface="微软雅黑" panose="020B0503020204020204" charset="-122"/>
                <a:cs typeface="黑体" panose="02010609060101010101" charset="-122"/>
              </a:rPr>
              <a:t>硬标签 DNN 的多项式时间密码分析提取</a:t>
            </a:r>
            <a:endParaRPr lang="zh-CN" sz="3450" b="1" dirty="0">
              <a:solidFill>
                <a:srgbClr val="FFFFFF"/>
              </a:solidFill>
              <a:latin typeface="黑体" panose="02010609060101010101" charset="-122"/>
              <a:ea typeface="微软雅黑" panose="020B0503020204020204" charset="-122"/>
              <a:cs typeface="黑体" panose="02010609060101010101" charset="-122"/>
            </a:endParaRPr>
          </a:p>
        </p:txBody>
      </p:sp>
      <p:sp>
        <p:nvSpPr>
          <p:cNvPr id="13" name="文本框 12"/>
          <p:cNvSpPr/>
          <p:nvPr/>
        </p:nvSpPr>
        <p:spPr>
          <a:xfrm>
            <a:off x="5468207" y="6465951"/>
            <a:ext cx="1261777" cy="323183"/>
          </a:xfrm>
          <a:prstGeom prst="rect">
            <a:avLst/>
          </a:prstGeom>
          <a:noFill/>
          <a:ln>
            <a:noFill/>
          </a:ln>
        </p:spPr>
        <p:txBody>
          <a:bodyPr wrap="none" lIns="95" tIns="71102" rIns="0" bIns="0" anchor="t" anchorCtr="0">
            <a:noAutofit/>
          </a:bodyPr>
          <a:lstStyle/>
          <a:p>
            <a:pPr algn="ctr"/>
            <a:r>
              <a:rPr lang="zh-CN" sz="1200" b="1" dirty="0">
                <a:solidFill>
                  <a:srgbClr val="FFFFFF"/>
                </a:solidFill>
                <a:latin typeface="微软雅黑" panose="020B0503020204020204" charset="-122"/>
                <a:ea typeface="微软雅黑" panose="020B0503020204020204" charset="-122"/>
                <a:cs typeface="微软雅黑" panose="020B0503020204020204" charset="-122"/>
              </a:rPr>
              <a:t>—— 2026 ——</a:t>
            </a:r>
            <a:endParaRPr lang="zh-CN" sz="1200" b="1" dirty="0">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22" name="图片 21"/>
          <p:cNvPicPr>
            <a:picLocks noChangeAspect="1"/>
          </p:cNvPicPr>
          <p:nvPr/>
        </p:nvPicPr>
        <p:blipFill>
          <a:blip r:embed="rId2">
            <a:lum bright="70000" contrast="-70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51384" y="4781774"/>
            <a:ext cx="877888" cy="1975248"/>
          </a:xfrm>
          <a:prstGeom prst="rect">
            <a:avLst/>
          </a:prstGeom>
        </p:spPr>
      </p:pic>
      <p:grpSp>
        <p:nvGrpSpPr>
          <p:cNvPr id="23" name="组合 22"/>
          <p:cNvGrpSpPr/>
          <p:nvPr/>
        </p:nvGrpSpPr>
        <p:grpSpPr>
          <a:xfrm>
            <a:off x="3398818" y="704920"/>
            <a:ext cx="5283070" cy="1715968"/>
            <a:chOff x="4420044" y="1243652"/>
            <a:chExt cx="3509502" cy="1139904"/>
          </a:xfrm>
        </p:grpSpPr>
        <p:pic>
          <p:nvPicPr>
            <p:cNvPr id="24" name="图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25" name="图片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26" name="文本框 25"/>
            <p:cNvSpPr txBox="1"/>
            <p:nvPr/>
          </p:nvSpPr>
          <p:spPr>
            <a:xfrm>
              <a:off x="5632297" y="1990403"/>
              <a:ext cx="2297249" cy="306680"/>
            </a:xfrm>
            <a:prstGeom prst="rect">
              <a:avLst/>
            </a:prstGeom>
            <a:noFill/>
          </p:spPr>
          <p:txBody>
            <a:bodyPr wrap="none" rtlCol="0">
              <a:spAutoFit/>
            </a:bodyPr>
            <a:lstStyle/>
            <a:p>
              <a:r>
                <a:rPr lang="en-US" altLang="zh-CN" sz="2400" b="1" spc="300" dirty="0">
                  <a:solidFill>
                    <a:schemeClr val="bg1"/>
                  </a:solidFill>
                  <a:latin typeface="+mj-lt"/>
                </a:rPr>
                <a:t>WUHAN UNIVERSITY</a:t>
              </a:r>
              <a:endParaRPr lang="zh-CN" altLang="en-US" sz="2400" b="1" spc="300" dirty="0">
                <a:solidFill>
                  <a:schemeClr val="bg1"/>
                </a:solidFill>
                <a:latin typeface="+mj-lt"/>
              </a:endParaRPr>
            </a:p>
          </p:txBody>
        </p:sp>
      </p:grpSp>
      <p:sp>
        <p:nvSpPr>
          <p:cNvPr id="2" name="灯片编号占位符 1"/>
          <p:cNvSpPr>
            <a:spLocks noGrp="1"/>
          </p:cNvSpPr>
          <p:nvPr>
            <p:ph type="sldNum" sz="quarter" idx="12"/>
          </p:nvPr>
        </p:nvSpPr>
        <p:spPr/>
        <p:txBody>
          <a:bodyPr/>
          <a:lstStyle/>
          <a:p>
            <a:fld id="{40418A52-F456-4787-8993-0090F40C8E3B}" type="slidenum">
              <a:rPr lang="zh-CN" altLang="en-US" smtClean="0"/>
            </a:fld>
            <a:endParaRPr lang="zh-CN" altLang="en-US"/>
          </a:p>
        </p:txBody>
      </p:sp>
      <p:grpSp>
        <p:nvGrpSpPr>
          <p:cNvPr id="21" name="cover-meta"/>
          <p:cNvGrpSpPr/>
          <p:nvPr/>
        </p:nvGrpSpPr>
        <p:grpSpPr>
          <a:xfrm>
            <a:off x="3035618" y="4606925"/>
            <a:ext cx="6120765" cy="1235075"/>
            <a:chOff x="3035618" y="4606925"/>
            <a:chExt cx="6120765" cy="1235075"/>
          </a:xfrm>
        </p:grpSpPr>
        <p:sp>
          <p:nvSpPr>
            <p:cNvPr id="18" name="TextBox 18"/>
            <p:cNvSpPr txBox="1"/>
            <p:nvPr/>
          </p:nvSpPr>
          <p:spPr>
            <a:xfrm>
              <a:off x="3035618" y="4606925"/>
              <a:ext cx="6120765" cy="560070"/>
            </a:xfrm>
            <a:prstGeom prst="rect">
              <a:avLst/>
            </a:prstGeom>
            <a:noFill/>
            <a:ln>
              <a:noFill/>
            </a:ln>
          </p:spPr>
          <p:txBody>
            <a:bodyPr wrap="none" lIns="0" tIns="0" rIns="0" bIns="0" anchor="t" anchorCtr="0">
              <a:spAutoFit/>
            </a:bodyPr>
            <a:lstStyle/>
            <a:p>
              <a:pPr algn="ctr">
                <a:lnSpc>
                  <a:spcPts val="2100"/>
                </a:lnSpc>
              </a:pPr>
              <a:r>
                <a:rPr lang="en-US" sz="1500" dirty="0">
                  <a:solidFill>
                    <a:srgbClr val="FFFFFF"/>
                  </a:solidFill>
                  <a:latin typeface="Arial" panose="020B0604020202020204"/>
                  <a:ea typeface="Arial" panose="020B0604020202020204"/>
                  <a:cs typeface="Arial" panose="020B0604020202020204"/>
                </a:rPr>
                <a:t>Polynomial Time Cryptanalytic Extraction of Deep Neural Networks</a:t>
              </a:r>
              <a:br>
                <a:rPr lang="en-US" sz="1500" dirty="0">
                  <a:solidFill>
                    <a:srgbClr val="FFFFFF"/>
                  </a:solidFill>
                  <a:latin typeface="Arial" panose="020B0604020202020204"/>
                  <a:ea typeface="Arial" panose="020B0604020202020204"/>
                  <a:cs typeface="Arial" panose="020B0604020202020204"/>
                </a:rPr>
              </a:br>
              <a:r>
                <a:rPr lang="en-US" sz="1500" dirty="0">
                  <a:solidFill>
                    <a:srgbClr val="FFFFFF"/>
                  </a:solidFill>
                  <a:latin typeface="Arial" panose="020B0604020202020204"/>
                  <a:ea typeface="Arial" panose="020B0604020202020204"/>
                  <a:cs typeface="Arial" panose="020B0604020202020204"/>
                </a:rPr>
                <a:t>in the Hard-Label Setting</a:t>
              </a:r>
              <a:endParaRPr lang="en-US" sz="1500" dirty="0">
                <a:solidFill>
                  <a:srgbClr val="FFFFFF"/>
                </a:solidFill>
                <a:latin typeface="Arial" panose="020B0604020202020204"/>
                <a:ea typeface="Arial" panose="020B0604020202020204"/>
                <a:cs typeface="Arial" panose="020B0604020202020204"/>
              </a:endParaRPr>
            </a:p>
          </p:txBody>
        </p:sp>
        <p:sp>
          <p:nvSpPr>
            <p:cNvPr id="19" name="TextBox 19"/>
            <p:cNvSpPr txBox="1"/>
            <p:nvPr/>
          </p:nvSpPr>
          <p:spPr>
            <a:xfrm>
              <a:off x="6032500" y="5334000"/>
              <a:ext cx="127000" cy="196850"/>
            </a:xfrm>
            <a:prstGeom prst="rect">
              <a:avLst/>
            </a:prstGeom>
            <a:noFill/>
            <a:ln>
              <a:noFill/>
            </a:ln>
          </p:spPr>
          <p:txBody>
            <a:bodyPr wrap="none" lIns="0" tIns="0" rIns="0" bIns="0" anchor="t" anchorCtr="0">
              <a:spAutoFit/>
            </a:bodyPr>
            <a:lstStyle/>
            <a:p>
              <a:pPr algn="ctr"/>
              <a:endParaRPr lang="en-US" sz="1280" dirty="0">
                <a:solidFill>
                  <a:srgbClr val="FFFFFF"/>
                </a:solidFill>
                <a:latin typeface="Arial" panose="020B0604020202020204"/>
                <a:ea typeface="Arial" panose="020B0604020202020204"/>
                <a:cs typeface="Arial" panose="020B0604020202020204"/>
              </a:endParaRPr>
            </a:p>
          </p:txBody>
        </p:sp>
        <p:sp>
          <p:nvSpPr>
            <p:cNvPr id="20" name="TextBox 20"/>
            <p:cNvSpPr txBox="1"/>
            <p:nvPr/>
          </p:nvSpPr>
          <p:spPr>
            <a:xfrm>
              <a:off x="6032500" y="5657850"/>
              <a:ext cx="127000" cy="184150"/>
            </a:xfrm>
            <a:prstGeom prst="rect">
              <a:avLst/>
            </a:prstGeom>
            <a:noFill/>
            <a:ln>
              <a:noFill/>
            </a:ln>
          </p:spPr>
          <p:txBody>
            <a:bodyPr wrap="none" lIns="0" tIns="0" rIns="0" bIns="0" anchor="t" anchorCtr="0">
              <a:spAutoFit/>
            </a:bodyPr>
            <a:lstStyle/>
            <a:p>
              <a:pPr algn="ctr"/>
              <a:endParaRPr lang="zh-CN" sz="1200" dirty="0">
                <a:solidFill>
                  <a:srgbClr val="FFFFFF"/>
                </a:solidFill>
                <a:latin typeface="Arial" panose="020B0604020202020204"/>
                <a:ea typeface="微软雅黑" panose="020B0503020204020204" charset="-122"/>
                <a:cs typeface="Arial" panose="020B060402020202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oc-background"/>
          <p:cNvPicPr>
            <a:picLocks noChangeAspect="1"/>
          </p:cNvPicPr>
          <p:nvPr/>
        </p:nvPicPr>
        <p:blipFill>
          <a:blip r:embed="rId1"/>
          <a:stretch>
            <a:fillRect/>
          </a:stretch>
        </p:blipFill>
        <p:spPr>
          <a:xfrm>
            <a:off x="0" y="0"/>
            <a:ext cx="12192000" cy="6858000"/>
          </a:xfrm>
          <a:prstGeom prst="rect">
            <a:avLst/>
          </a:prstGeom>
        </p:spPr>
      </p:pic>
      <p:pic>
        <p:nvPicPr>
          <p:cNvPr id="3" name="toc-decoration"/>
          <p:cNvPicPr>
            <a:picLocks noChangeAspect="1"/>
          </p:cNvPicPr>
          <p:nvPr/>
        </p:nvPicPr>
        <p:blipFill>
          <a:blip r:embed="rId2"/>
          <a:stretch>
            <a:fillRect/>
          </a:stretch>
        </p:blipFill>
        <p:spPr>
          <a:xfrm>
            <a:off x="0" y="0"/>
            <a:ext cx="12192000" cy="6858000"/>
          </a:xfrm>
          <a:prstGeom prst="rect">
            <a:avLst/>
          </a:prstGeom>
        </p:spPr>
      </p:pic>
      <p:pic>
        <p:nvPicPr>
          <p:cNvPr id="4" name="toc-logo"/>
          <p:cNvPicPr>
            <a:picLocks noChangeAspect="1"/>
          </p:cNvPicPr>
          <p:nvPr/>
        </p:nvPicPr>
        <p:blipFill>
          <a:blip r:embed="rId3"/>
          <a:stretch>
            <a:fillRect/>
          </a:stretch>
        </p:blipFill>
        <p:spPr>
          <a:xfrm>
            <a:off x="10375011" y="211264"/>
            <a:ext cx="1512189" cy="481394"/>
          </a:xfrm>
          <a:prstGeom prst="rect">
            <a:avLst/>
          </a:prstGeom>
        </p:spPr>
      </p:pic>
      <p:grpSp>
        <p:nvGrpSpPr>
          <p:cNvPr id="8" name="toc-header"/>
          <p:cNvGrpSpPr/>
          <p:nvPr/>
        </p:nvGrpSpPr>
        <p:grpSpPr>
          <a:xfrm>
            <a:off x="666750" y="444500"/>
            <a:ext cx="10839450" cy="819150"/>
            <a:chOff x="666750" y="444500"/>
            <a:chExt cx="10839450" cy="819150"/>
          </a:xfrm>
        </p:grpSpPr>
        <p:sp>
          <p:nvSpPr>
            <p:cNvPr id="5" name="TextBox 5"/>
            <p:cNvSpPr txBox="1"/>
            <p:nvPr/>
          </p:nvSpPr>
          <p:spPr>
            <a:xfrm>
              <a:off x="666750" y="444500"/>
              <a:ext cx="1168908" cy="819150"/>
            </a:xfrm>
            <a:prstGeom prst="rect">
              <a:avLst/>
            </a:prstGeom>
            <a:noFill/>
            <a:ln>
              <a:noFill/>
            </a:ln>
          </p:spPr>
          <p:txBody>
            <a:bodyPr wrap="none" lIns="0" tIns="0" rIns="0" bIns="0" anchor="t" anchorCtr="0">
              <a:spAutoFit/>
            </a:bodyPr>
            <a:lstStyle/>
            <a:p>
              <a:pPr algn="l"/>
              <a:r>
                <a:rPr lang="zh-CN" sz="4200" b="1" dirty="0">
                  <a:solidFill>
                    <a:srgbClr val="165128"/>
                  </a:solidFill>
                  <a:latin typeface="Arial" panose="020B0604020202020204"/>
                  <a:ea typeface="微软雅黑" panose="020B0503020204020204" charset="-122"/>
                  <a:cs typeface="Arial" panose="020B0604020202020204"/>
                </a:rPr>
                <a:t>目录</a:t>
              </a:r>
              <a:endParaRPr lang="zh-CN" sz="4200" b="1" dirty="0">
                <a:solidFill>
                  <a:srgbClr val="165128"/>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2036445" y="673100"/>
              <a:ext cx="1624310" cy="440055"/>
            </a:xfrm>
            <a:prstGeom prst="rect">
              <a:avLst/>
            </a:prstGeom>
            <a:noFill/>
            <a:ln>
              <a:noFill/>
            </a:ln>
          </p:spPr>
          <p:txBody>
            <a:bodyPr wrap="none" lIns="0" tIns="0" rIns="0" bIns="0" anchor="t" anchorCtr="0">
              <a:spAutoFit/>
            </a:bodyPr>
            <a:lstStyle/>
            <a:p>
              <a:pPr algn="l"/>
              <a:r>
                <a:rPr lang="en-US" sz="2250" dirty="0">
                  <a:solidFill>
                    <a:srgbClr val="165128"/>
                  </a:solidFill>
                  <a:latin typeface="Arial" panose="020B0604020202020204"/>
                  <a:ea typeface="Arial" panose="020B0604020202020204"/>
                  <a:cs typeface="Arial" panose="020B0604020202020204"/>
                </a:rPr>
                <a:t>/ Contents</a:t>
              </a:r>
              <a:endParaRPr lang="en-US" sz="2250" dirty="0">
                <a:solidFill>
                  <a:srgbClr val="165128"/>
                </a:solidFill>
                <a:latin typeface="Arial" panose="020B0604020202020204"/>
                <a:ea typeface="Arial" panose="020B0604020202020204"/>
                <a:cs typeface="Arial" panose="020B0604020202020204"/>
              </a:endParaRPr>
            </a:p>
          </p:txBody>
        </p:sp>
        <p:sp>
          <p:nvSpPr>
            <p:cNvPr id="7" name="Line 7"/>
            <p:cNvSpPr/>
            <p:nvPr/>
          </p:nvSpPr>
          <p:spPr>
            <a:xfrm>
              <a:off x="685800" y="1219200"/>
              <a:ext cx="10820400" cy="9525"/>
            </a:xfrm>
            <a:custGeom>
              <a:avLst/>
              <a:gdLst/>
              <a:ahLst/>
              <a:cxnLst/>
              <a:rect l="l" t="t" r="r" b="b"/>
              <a:pathLst>
                <a:path w="10820400" h="9525">
                  <a:moveTo>
                    <a:pt x="0" y="0"/>
                  </a:moveTo>
                  <a:lnTo>
                    <a:pt x="10820400" y="0"/>
                  </a:lnTo>
                </a:path>
              </a:pathLst>
            </a:custGeom>
            <a:noFill/>
            <a:ln w="19050">
              <a:solidFill>
                <a:srgbClr val="A7CBB5"/>
              </a:solidFill>
            </a:ln>
          </p:spPr>
        </p:sp>
      </p:grpSp>
      <p:grpSp>
        <p:nvGrpSpPr>
          <p:cNvPr id="13" name="toc-item-1"/>
          <p:cNvGrpSpPr/>
          <p:nvPr/>
        </p:nvGrpSpPr>
        <p:grpSpPr>
          <a:xfrm>
            <a:off x="685800" y="1952625"/>
            <a:ext cx="5257800" cy="876300"/>
            <a:chOff x="685800" y="1952625"/>
            <a:chExt cx="5257800" cy="876300"/>
          </a:xfrm>
        </p:grpSpPr>
        <p:sp>
          <p:nvSpPr>
            <p:cNvPr id="9" name="Rectangle 9"/>
            <p:cNvSpPr/>
            <p:nvPr/>
          </p:nvSpPr>
          <p:spPr>
            <a:xfrm>
              <a:off x="685800" y="1952625"/>
              <a:ext cx="5257800" cy="876300"/>
            </a:xfrm>
            <a:prstGeom prst="roundRect">
              <a:avLst>
                <a:gd name="adj" fmla="val 8696"/>
              </a:avLst>
            </a:prstGeom>
            <a:solidFill>
              <a:srgbClr val="FFFFFF"/>
            </a:solidFill>
            <a:ln w="19050">
              <a:solidFill>
                <a:srgbClr val="9FC4AD"/>
              </a:solidFill>
            </a:ln>
          </p:spPr>
        </p:sp>
        <p:sp>
          <p:nvSpPr>
            <p:cNvPr id="10" name="Freeform 10"/>
            <p:cNvSpPr/>
            <p:nvPr/>
          </p:nvSpPr>
          <p:spPr>
            <a:xfrm>
              <a:off x="685800" y="19526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11" name="TextBox 11"/>
            <p:cNvSpPr txBox="1"/>
            <p:nvPr/>
          </p:nvSpPr>
          <p:spPr>
            <a:xfrm>
              <a:off x="950877" y="22002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01</a:t>
              </a:r>
              <a:endParaRPr lang="zh-CN" sz="2780" b="1" dirty="0">
                <a:solidFill>
                  <a:srgbClr val="FFFFFF"/>
                </a:solidFill>
                <a:latin typeface="Arial" panose="020B0604020202020204"/>
                <a:ea typeface="Arial" panose="020B0604020202020204"/>
                <a:cs typeface="Arial" panose="020B0604020202020204"/>
              </a:endParaRPr>
            </a:p>
          </p:txBody>
        </p:sp>
        <p:sp>
          <p:nvSpPr>
            <p:cNvPr id="12" name="TextBox 12"/>
            <p:cNvSpPr txBox="1"/>
            <p:nvPr/>
          </p:nvSpPr>
          <p:spPr>
            <a:xfrm>
              <a:off x="2104263" y="2263775"/>
              <a:ext cx="1924101"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研究背景与问题</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18" name="toc-item-2"/>
          <p:cNvGrpSpPr/>
          <p:nvPr/>
        </p:nvGrpSpPr>
        <p:grpSpPr>
          <a:xfrm>
            <a:off x="685800" y="3209925"/>
            <a:ext cx="5257800" cy="876300"/>
            <a:chOff x="685800" y="3209925"/>
            <a:chExt cx="5257800" cy="876300"/>
          </a:xfrm>
        </p:grpSpPr>
        <p:sp>
          <p:nvSpPr>
            <p:cNvPr id="14" name="Rectangle 14"/>
            <p:cNvSpPr/>
            <p:nvPr/>
          </p:nvSpPr>
          <p:spPr>
            <a:xfrm>
              <a:off x="685800" y="3209925"/>
              <a:ext cx="5257800" cy="876300"/>
            </a:xfrm>
            <a:prstGeom prst="roundRect">
              <a:avLst>
                <a:gd name="adj" fmla="val 8696"/>
              </a:avLst>
            </a:prstGeom>
            <a:solidFill>
              <a:srgbClr val="FFFFFF"/>
            </a:solidFill>
            <a:ln w="19050">
              <a:solidFill>
                <a:srgbClr val="9FC4AD"/>
              </a:solidFill>
            </a:ln>
          </p:spPr>
        </p:sp>
        <p:sp>
          <p:nvSpPr>
            <p:cNvPr id="15" name="Freeform 15"/>
            <p:cNvSpPr/>
            <p:nvPr/>
          </p:nvSpPr>
          <p:spPr>
            <a:xfrm>
              <a:off x="685800" y="32099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16" name="TextBox 16"/>
            <p:cNvSpPr txBox="1"/>
            <p:nvPr/>
          </p:nvSpPr>
          <p:spPr>
            <a:xfrm>
              <a:off x="950877" y="34575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02</a:t>
              </a:r>
              <a:endParaRPr lang="zh-CN" sz="2780" b="1" dirty="0">
                <a:solidFill>
                  <a:srgbClr val="FFFFFF"/>
                </a:solidFill>
                <a:latin typeface="Arial" panose="020B0604020202020204"/>
                <a:ea typeface="Arial" panose="020B0604020202020204"/>
                <a:cs typeface="Arial" panose="020B0604020202020204"/>
              </a:endParaRPr>
            </a:p>
          </p:txBody>
        </p:sp>
        <p:sp>
          <p:nvSpPr>
            <p:cNvPr id="17" name="TextBox 17"/>
            <p:cNvSpPr txBox="1"/>
            <p:nvPr/>
          </p:nvSpPr>
          <p:spPr>
            <a:xfrm>
              <a:off x="2104263" y="3521075"/>
              <a:ext cx="2467966"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威胁模型与核心洞见</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23" name="toc-item-3"/>
          <p:cNvGrpSpPr/>
          <p:nvPr/>
        </p:nvGrpSpPr>
        <p:grpSpPr>
          <a:xfrm>
            <a:off x="685800" y="4467225"/>
            <a:ext cx="5257800" cy="876300"/>
            <a:chOff x="685800" y="4467225"/>
            <a:chExt cx="5257800" cy="876300"/>
          </a:xfrm>
        </p:grpSpPr>
        <p:sp>
          <p:nvSpPr>
            <p:cNvPr id="19" name="Rectangle 19"/>
            <p:cNvSpPr/>
            <p:nvPr/>
          </p:nvSpPr>
          <p:spPr>
            <a:xfrm>
              <a:off x="685800" y="4467225"/>
              <a:ext cx="5257800" cy="876300"/>
            </a:xfrm>
            <a:prstGeom prst="roundRect">
              <a:avLst>
                <a:gd name="adj" fmla="val 8696"/>
              </a:avLst>
            </a:prstGeom>
            <a:solidFill>
              <a:srgbClr val="FFFFFF"/>
            </a:solidFill>
            <a:ln w="19050">
              <a:solidFill>
                <a:srgbClr val="9FC4AD"/>
              </a:solidFill>
            </a:ln>
          </p:spPr>
        </p:sp>
        <p:sp>
          <p:nvSpPr>
            <p:cNvPr id="20" name="Freeform 20"/>
            <p:cNvSpPr/>
            <p:nvPr/>
          </p:nvSpPr>
          <p:spPr>
            <a:xfrm>
              <a:off x="685800" y="44672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21" name="TextBox 21"/>
            <p:cNvSpPr txBox="1"/>
            <p:nvPr/>
          </p:nvSpPr>
          <p:spPr>
            <a:xfrm>
              <a:off x="950877" y="47148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03</a:t>
              </a:r>
              <a:endParaRPr lang="zh-CN" sz="2780" b="1" dirty="0">
                <a:solidFill>
                  <a:srgbClr val="FFFFFF"/>
                </a:solidFill>
                <a:latin typeface="Arial" panose="020B0604020202020204"/>
                <a:ea typeface="Arial" panose="020B0604020202020204"/>
                <a:cs typeface="Arial" panose="020B0604020202020204"/>
              </a:endParaRPr>
            </a:p>
          </p:txBody>
        </p:sp>
        <p:sp>
          <p:nvSpPr>
            <p:cNvPr id="22" name="TextBox 22"/>
            <p:cNvSpPr txBox="1"/>
            <p:nvPr/>
          </p:nvSpPr>
          <p:spPr>
            <a:xfrm>
              <a:off x="2104263" y="4778375"/>
              <a:ext cx="1108304"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攻击方法</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28" name="toc-item-4"/>
          <p:cNvGrpSpPr/>
          <p:nvPr/>
        </p:nvGrpSpPr>
        <p:grpSpPr>
          <a:xfrm>
            <a:off x="6248400" y="1952625"/>
            <a:ext cx="5257800" cy="876300"/>
            <a:chOff x="6248400" y="1952625"/>
            <a:chExt cx="5257800" cy="876300"/>
          </a:xfrm>
        </p:grpSpPr>
        <p:sp>
          <p:nvSpPr>
            <p:cNvPr id="24" name="Rectangle 24"/>
            <p:cNvSpPr/>
            <p:nvPr/>
          </p:nvSpPr>
          <p:spPr>
            <a:xfrm>
              <a:off x="6248400" y="1952625"/>
              <a:ext cx="5257800" cy="876300"/>
            </a:xfrm>
            <a:prstGeom prst="roundRect">
              <a:avLst>
                <a:gd name="adj" fmla="val 8696"/>
              </a:avLst>
            </a:prstGeom>
            <a:solidFill>
              <a:srgbClr val="FFFFFF"/>
            </a:solidFill>
            <a:ln w="19050">
              <a:solidFill>
                <a:srgbClr val="9FC4AD"/>
              </a:solidFill>
            </a:ln>
          </p:spPr>
        </p:sp>
        <p:sp>
          <p:nvSpPr>
            <p:cNvPr id="25" name="Freeform 25"/>
            <p:cNvSpPr/>
            <p:nvPr/>
          </p:nvSpPr>
          <p:spPr>
            <a:xfrm>
              <a:off x="6248400" y="19526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26" name="TextBox 26"/>
            <p:cNvSpPr txBox="1"/>
            <p:nvPr/>
          </p:nvSpPr>
          <p:spPr>
            <a:xfrm>
              <a:off x="6513477" y="22002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04</a:t>
              </a:r>
              <a:endParaRPr lang="zh-CN" sz="2780" b="1" dirty="0">
                <a:solidFill>
                  <a:srgbClr val="FFFFFF"/>
                </a:solidFill>
                <a:latin typeface="Arial" panose="020B0604020202020204"/>
                <a:ea typeface="Arial" panose="020B0604020202020204"/>
                <a:cs typeface="Arial" panose="020B0604020202020204"/>
              </a:endParaRPr>
            </a:p>
          </p:txBody>
        </p:sp>
        <p:sp>
          <p:nvSpPr>
            <p:cNvPr id="27" name="TextBox 27"/>
            <p:cNvSpPr txBox="1"/>
            <p:nvPr/>
          </p:nvSpPr>
          <p:spPr>
            <a:xfrm>
              <a:off x="7666863" y="2263775"/>
              <a:ext cx="1924101"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论文实验与评估</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33" name="toc-item-5"/>
          <p:cNvGrpSpPr/>
          <p:nvPr/>
        </p:nvGrpSpPr>
        <p:grpSpPr>
          <a:xfrm>
            <a:off x="6248400" y="3209925"/>
            <a:ext cx="5257800" cy="876300"/>
            <a:chOff x="6248400" y="3209925"/>
            <a:chExt cx="5257800" cy="876300"/>
          </a:xfrm>
        </p:grpSpPr>
        <p:sp>
          <p:nvSpPr>
            <p:cNvPr id="29" name="Rectangle 29"/>
            <p:cNvSpPr/>
            <p:nvPr/>
          </p:nvSpPr>
          <p:spPr>
            <a:xfrm>
              <a:off x="6248400" y="3209925"/>
              <a:ext cx="5257800" cy="876300"/>
            </a:xfrm>
            <a:prstGeom prst="roundRect">
              <a:avLst>
                <a:gd name="adj" fmla="val 8696"/>
              </a:avLst>
            </a:prstGeom>
            <a:solidFill>
              <a:srgbClr val="FFFFFF"/>
            </a:solidFill>
            <a:ln w="19050">
              <a:solidFill>
                <a:srgbClr val="9FC4AD"/>
              </a:solidFill>
            </a:ln>
          </p:spPr>
        </p:sp>
        <p:sp>
          <p:nvSpPr>
            <p:cNvPr id="30" name="Freeform 30"/>
            <p:cNvSpPr/>
            <p:nvPr/>
          </p:nvSpPr>
          <p:spPr>
            <a:xfrm>
              <a:off x="6248400" y="32099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31" name="TextBox 31"/>
            <p:cNvSpPr txBox="1"/>
            <p:nvPr/>
          </p:nvSpPr>
          <p:spPr>
            <a:xfrm>
              <a:off x="6513477" y="34575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05</a:t>
              </a:r>
              <a:endParaRPr lang="zh-CN" sz="2780" b="1" dirty="0">
                <a:solidFill>
                  <a:srgbClr val="FFFFFF"/>
                </a:solidFill>
                <a:latin typeface="Arial" panose="020B0604020202020204"/>
                <a:ea typeface="Arial" panose="020B0604020202020204"/>
                <a:cs typeface="Arial" panose="020B0604020202020204"/>
              </a:endParaRPr>
            </a:p>
          </p:txBody>
        </p:sp>
        <p:sp>
          <p:nvSpPr>
            <p:cNvPr id="32" name="TextBox 32"/>
            <p:cNvSpPr txBox="1"/>
            <p:nvPr/>
          </p:nvSpPr>
          <p:spPr>
            <a:xfrm>
              <a:off x="7666863" y="3521075"/>
              <a:ext cx="1108304"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复现结果</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38" name="toc-item-6"/>
          <p:cNvGrpSpPr/>
          <p:nvPr/>
        </p:nvGrpSpPr>
        <p:grpSpPr>
          <a:xfrm>
            <a:off x="6248400" y="4467225"/>
            <a:ext cx="5257800" cy="876300"/>
            <a:chOff x="6248400" y="4467225"/>
            <a:chExt cx="5257800" cy="876300"/>
          </a:xfrm>
        </p:grpSpPr>
        <p:sp>
          <p:nvSpPr>
            <p:cNvPr id="34" name="Rectangle 34"/>
            <p:cNvSpPr/>
            <p:nvPr/>
          </p:nvSpPr>
          <p:spPr>
            <a:xfrm>
              <a:off x="6248400" y="4467225"/>
              <a:ext cx="5257800" cy="876300"/>
            </a:xfrm>
            <a:prstGeom prst="roundRect">
              <a:avLst>
                <a:gd name="adj" fmla="val 8696"/>
              </a:avLst>
            </a:prstGeom>
            <a:solidFill>
              <a:srgbClr val="FFFFFF"/>
            </a:solidFill>
            <a:ln w="19050">
              <a:solidFill>
                <a:srgbClr val="9FC4AD"/>
              </a:solidFill>
            </a:ln>
          </p:spPr>
        </p:sp>
        <p:sp>
          <p:nvSpPr>
            <p:cNvPr id="35" name="Freeform 35"/>
            <p:cNvSpPr/>
            <p:nvPr/>
          </p:nvSpPr>
          <p:spPr>
            <a:xfrm>
              <a:off x="6248400" y="4467225"/>
              <a:ext cx="1162050" cy="876300"/>
            </a:xfrm>
            <a:custGeom>
              <a:avLst/>
              <a:gdLst/>
              <a:ahLst/>
              <a:cxnLst/>
              <a:rect l="l" t="t" r="r" b="b"/>
              <a:pathLst>
                <a:path w="1162050" h="876300">
                  <a:moveTo>
                    <a:pt x="0" y="0"/>
                  </a:moveTo>
                  <a:lnTo>
                    <a:pt x="990600" y="0"/>
                  </a:lnTo>
                  <a:lnTo>
                    <a:pt x="1162050" y="876300"/>
                  </a:lnTo>
                  <a:lnTo>
                    <a:pt x="0" y="876300"/>
                  </a:lnTo>
                  <a:close/>
                </a:path>
              </a:pathLst>
            </a:custGeom>
            <a:solidFill>
              <a:srgbClr val="005725"/>
            </a:solidFill>
            <a:ln>
              <a:noFill/>
            </a:ln>
          </p:spPr>
        </p:sp>
        <p:sp>
          <p:nvSpPr>
            <p:cNvPr id="36" name="TextBox 36"/>
            <p:cNvSpPr txBox="1"/>
            <p:nvPr/>
          </p:nvSpPr>
          <p:spPr>
            <a:xfrm>
              <a:off x="6513477" y="4714875"/>
              <a:ext cx="460445" cy="543687"/>
            </a:xfrm>
            <a:prstGeom prst="rect">
              <a:avLst/>
            </a:prstGeom>
            <a:noFill/>
            <a:ln>
              <a:noFill/>
            </a:ln>
          </p:spPr>
          <p:txBody>
            <a:bodyPr wrap="none" lIns="0" tIns="0" rIns="0" bIns="0" anchor="t" anchorCtr="0">
              <a:spAutoFit/>
            </a:bodyPr>
            <a:lstStyle/>
            <a:p>
              <a:pPr algn="ctr"/>
              <a:r>
                <a:rPr lang="zh-CN" sz="2780" b="1" dirty="0">
                  <a:solidFill>
                    <a:srgbClr val="FFFFFF"/>
                  </a:solidFill>
                  <a:latin typeface="Arial" panose="020B0604020202020204"/>
                  <a:ea typeface="Arial" panose="020B0604020202020204"/>
                  <a:cs typeface="Arial" panose="020B0604020202020204"/>
                </a:rPr>
                <a:t>06</a:t>
              </a:r>
              <a:endParaRPr lang="zh-CN" sz="2780" b="1" dirty="0">
                <a:solidFill>
                  <a:srgbClr val="FFFFFF"/>
                </a:solidFill>
                <a:latin typeface="Arial" panose="020B0604020202020204"/>
                <a:ea typeface="Arial" panose="020B0604020202020204"/>
                <a:cs typeface="Arial" panose="020B0604020202020204"/>
              </a:endParaRPr>
            </a:p>
          </p:txBody>
        </p:sp>
        <p:sp>
          <p:nvSpPr>
            <p:cNvPr id="37" name="TextBox 37"/>
            <p:cNvSpPr txBox="1"/>
            <p:nvPr/>
          </p:nvSpPr>
          <p:spPr>
            <a:xfrm>
              <a:off x="7666863" y="4778375"/>
              <a:ext cx="1380236" cy="396050"/>
            </a:xfrm>
            <a:prstGeom prst="rect">
              <a:avLst/>
            </a:prstGeom>
            <a:noFill/>
            <a:ln>
              <a:noFill/>
            </a:ln>
          </p:spPr>
          <p:txBody>
            <a:bodyPr wrap="none" lIns="0" tIns="0" rIns="0" bIns="0" anchor="t" anchorCtr="0">
              <a:spAutoFit/>
            </a:bodyPr>
            <a:lstStyle/>
            <a:p>
              <a:pPr algn="l"/>
              <a:r>
                <a:rPr lang="zh-CN" sz="2020" b="1" dirty="0">
                  <a:solidFill>
                    <a:srgbClr val="404040"/>
                  </a:solidFill>
                  <a:latin typeface="Arial" panose="020B0604020202020204"/>
                  <a:ea typeface="微软雅黑" panose="020B0503020204020204" charset="-122"/>
                  <a:cs typeface="Arial" panose="020B0604020202020204"/>
                </a:rPr>
                <a:t>结论与讨论</a:t>
              </a:r>
              <a:endParaRPr lang="zh-CN" sz="2020" b="1" dirty="0">
                <a:solidFill>
                  <a:srgbClr val="404040"/>
                </a:solidFill>
                <a:latin typeface="Arial" panose="020B0604020202020204"/>
                <a:ea typeface="微软雅黑" panose="020B0503020204020204" charset="-122"/>
                <a:cs typeface="Arial" panose="020B0604020202020204"/>
              </a:endParaRPr>
            </a:p>
          </p:txBody>
        </p:sp>
      </p:grpSp>
      <p:grpSp>
        <p:nvGrpSpPr>
          <p:cNvPr id="41" name="toc-footer"/>
          <p:cNvGrpSpPr/>
          <p:nvPr/>
        </p:nvGrpSpPr>
        <p:grpSpPr>
          <a:xfrm>
            <a:off x="680466" y="6064250"/>
            <a:ext cx="10811637" cy="486918"/>
            <a:chOff x="680466" y="6064250"/>
            <a:chExt cx="10811637" cy="486918"/>
          </a:xfrm>
        </p:grpSpPr>
        <p:sp>
          <p:nvSpPr>
            <p:cNvPr id="39" name="TextBox 39"/>
            <p:cNvSpPr txBox="1"/>
            <p:nvPr/>
          </p:nvSpPr>
          <p:spPr>
            <a:xfrm>
              <a:off x="680466" y="6064250"/>
              <a:ext cx="127000" cy="161290"/>
            </a:xfrm>
            <a:prstGeom prst="rect">
              <a:avLst/>
            </a:prstGeom>
            <a:noFill/>
            <a:ln>
              <a:noFill/>
            </a:ln>
          </p:spPr>
          <p:txBody>
            <a:bodyPr wrap="none" lIns="0" tIns="0" rIns="0" bIns="0" anchor="t" anchorCtr="0">
              <a:spAutoFit/>
            </a:bodyPr>
            <a:lstStyle/>
            <a:p>
              <a:pPr algn="l"/>
              <a:endParaRPr lang="en-US" sz="1050" dirty="0">
                <a:solidFill>
                  <a:srgbClr val="667085"/>
                </a:solidFill>
                <a:latin typeface="Arial" panose="020B0604020202020204"/>
                <a:ea typeface="Arial" panose="020B0604020202020204"/>
                <a:cs typeface="Arial" panose="020B0604020202020204"/>
              </a:endParaRPr>
            </a:p>
          </p:txBody>
        </p:sp>
        <p:sp>
          <p:nvSpPr>
            <p:cNvPr id="40" name="TextBox 40"/>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2</a:t>
              </a:r>
              <a:endParaRPr lang="zh-CN" sz="980" dirty="0">
                <a:solidFill>
                  <a:srgbClr val="404040"/>
                </a:solidFill>
                <a:latin typeface="Arial" panose="020B0604020202020204"/>
                <a:ea typeface="Arial" panose="020B0604020202020204"/>
                <a:cs typeface="Arial" panose="020B06040202020202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269179" rIns="0" bIns="0" anchor="t" anchorCtr="0">
            <a:noAutofit/>
          </a:bodyPr>
          <a:lstStyle/>
          <a:p>
            <a:pPr algn="l"/>
            <a:r>
              <a:rPr lang="zh-CN" sz="4950" b="1" dirty="0">
                <a:solidFill>
                  <a:srgbClr val="FFFFFF"/>
                </a:solidFill>
                <a:latin typeface="Arial" panose="020B0604020202020204"/>
                <a:ea typeface="微软雅黑" panose="020B0503020204020204" charset="-122"/>
                <a:cs typeface="Arial" panose="020B0604020202020204"/>
              </a:rPr>
              <a:t> 研究背景与问题</a:t>
            </a:r>
            <a:endParaRPr lang="zh-CN" sz="495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01</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1. 研究背景与问题</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28" name="page-body"/>
          <p:cNvGrpSpPr/>
          <p:nvPr>
            <p:custDataLst>
              <p:tags r:id="rId4"/>
            </p:custDataLst>
          </p:nvPr>
        </p:nvGrpSpPr>
        <p:grpSpPr>
          <a:xfrm>
            <a:off x="672846" y="1501775"/>
            <a:ext cx="10833354" cy="4527550"/>
            <a:chOff x="672846" y="1501775"/>
            <a:chExt cx="10833354" cy="4527550"/>
          </a:xfrm>
        </p:grpSpPr>
        <p:sp>
          <p:nvSpPr>
            <p:cNvPr id="10" name="TextBox 10"/>
            <p:cNvSpPr txBox="1"/>
            <p:nvPr/>
          </p:nvSpPr>
          <p:spPr>
            <a:xfrm>
              <a:off x="672846" y="1501775"/>
              <a:ext cx="6548247"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一页看懂论文：硬标签参数提取的三项突破</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custDataLst>
                <p:tags r:id="rId5"/>
              </p:custDataLst>
            </p:nvPr>
          </p:nvSpPr>
          <p:spPr>
            <a:xfrm>
              <a:off x="685800" y="2266950"/>
              <a:ext cx="3295650" cy="2905125"/>
            </a:xfrm>
            <a:prstGeom prst="roundRect">
              <a:avLst>
                <a:gd name="adj" fmla="val 4590"/>
              </a:avLst>
            </a:prstGeom>
            <a:solidFill>
              <a:srgbClr val="FFFFFF"/>
            </a:solidFill>
            <a:ln w="19050">
              <a:solidFill>
                <a:srgbClr val="B9D2C4"/>
              </a:solidFill>
            </a:ln>
          </p:spPr>
        </p:sp>
        <p:sp>
          <p:nvSpPr>
            <p:cNvPr id="12" name="Ellipse 12"/>
            <p:cNvSpPr/>
            <p:nvPr>
              <p:custDataLst>
                <p:tags r:id="rId6"/>
              </p:custDataLst>
            </p:nvPr>
          </p:nvSpPr>
          <p:spPr>
            <a:xfrm>
              <a:off x="923925" y="2447925"/>
              <a:ext cx="552450" cy="552450"/>
            </a:xfrm>
            <a:prstGeom prst="ellipse">
              <a:avLst/>
            </a:prstGeom>
            <a:solidFill>
              <a:srgbClr val="005725"/>
            </a:solidFill>
            <a:ln>
              <a:noFill/>
            </a:ln>
          </p:spPr>
        </p:sp>
        <p:sp>
          <p:nvSpPr>
            <p:cNvPr id="13" name="TextBox 13"/>
            <p:cNvSpPr txBox="1"/>
            <p:nvPr>
              <p:custDataLst>
                <p:tags r:id="rId7"/>
              </p:custDataLst>
            </p:nvPr>
          </p:nvSpPr>
          <p:spPr>
            <a:xfrm>
              <a:off x="1107852" y="2574925"/>
              <a:ext cx="184596"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panose="020B0604020202020204"/>
                  <a:ea typeface="Arial" panose="020B0604020202020204"/>
                  <a:cs typeface="Arial" panose="020B0604020202020204"/>
                </a:rPr>
                <a:t>1</a:t>
              </a:r>
              <a:endParaRPr lang="zh-CN" sz="2100" b="1" dirty="0">
                <a:solidFill>
                  <a:srgbClr val="FFFFFF"/>
                </a:solidFill>
                <a:latin typeface="Arial" panose="020B0604020202020204"/>
                <a:ea typeface="Arial" panose="020B0604020202020204"/>
                <a:cs typeface="Arial" panose="020B0604020202020204"/>
              </a:endParaRPr>
            </a:p>
          </p:txBody>
        </p:sp>
        <p:sp>
          <p:nvSpPr>
            <p:cNvPr id="14" name="TextBox 14"/>
            <p:cNvSpPr txBox="1"/>
            <p:nvPr>
              <p:custDataLst>
                <p:tags r:id="rId8"/>
              </p:custDataLst>
            </p:nvPr>
          </p:nvSpPr>
          <p:spPr>
            <a:xfrm>
              <a:off x="1608963" y="2568575"/>
              <a:ext cx="1108304"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寻找双点</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5" name="TextBox 15"/>
            <p:cNvSpPr txBox="1"/>
            <p:nvPr>
              <p:custDataLst>
                <p:tags r:id="rId9"/>
              </p:custDataLst>
            </p:nvPr>
          </p:nvSpPr>
          <p:spPr>
            <a:xfrm>
              <a:off x="963930" y="3117850"/>
              <a:ext cx="2011680" cy="98044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在决策边界上定位</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局部方向突变，让</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隐藏ReLU临界面可见。</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6" name="Rectangle 16"/>
            <p:cNvSpPr/>
            <p:nvPr>
              <p:custDataLst>
                <p:tags r:id="rId10"/>
              </p:custDataLst>
            </p:nvPr>
          </p:nvSpPr>
          <p:spPr>
            <a:xfrm>
              <a:off x="4448175" y="2266950"/>
              <a:ext cx="3295650" cy="2905125"/>
            </a:xfrm>
            <a:prstGeom prst="roundRect">
              <a:avLst>
                <a:gd name="adj" fmla="val 4590"/>
              </a:avLst>
            </a:prstGeom>
            <a:solidFill>
              <a:srgbClr val="FFFFFF"/>
            </a:solidFill>
            <a:ln w="19050">
              <a:solidFill>
                <a:srgbClr val="B9D2C4"/>
              </a:solidFill>
            </a:ln>
          </p:spPr>
        </p:sp>
        <p:sp>
          <p:nvSpPr>
            <p:cNvPr id="17" name="Ellipse 17"/>
            <p:cNvSpPr/>
            <p:nvPr>
              <p:custDataLst>
                <p:tags r:id="rId11"/>
              </p:custDataLst>
            </p:nvPr>
          </p:nvSpPr>
          <p:spPr>
            <a:xfrm>
              <a:off x="4686300" y="2447925"/>
              <a:ext cx="552450" cy="552450"/>
            </a:xfrm>
            <a:prstGeom prst="ellipse">
              <a:avLst/>
            </a:prstGeom>
            <a:solidFill>
              <a:srgbClr val="005725"/>
            </a:solidFill>
            <a:ln>
              <a:noFill/>
            </a:ln>
          </p:spPr>
        </p:sp>
        <p:sp>
          <p:nvSpPr>
            <p:cNvPr id="18" name="TextBox 18"/>
            <p:cNvSpPr txBox="1"/>
            <p:nvPr>
              <p:custDataLst>
                <p:tags r:id="rId12"/>
              </p:custDataLst>
            </p:nvPr>
          </p:nvSpPr>
          <p:spPr>
            <a:xfrm>
              <a:off x="4870227" y="2574925"/>
              <a:ext cx="184596"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panose="020B0604020202020204"/>
                  <a:ea typeface="Arial" panose="020B0604020202020204"/>
                  <a:cs typeface="Arial" panose="020B0604020202020204"/>
                </a:rPr>
                <a:t>2</a:t>
              </a:r>
              <a:endParaRPr lang="zh-CN" sz="2100" b="1" dirty="0">
                <a:solidFill>
                  <a:srgbClr val="FFFFFF"/>
                </a:solidFill>
                <a:latin typeface="Arial" panose="020B0604020202020204"/>
                <a:ea typeface="Arial" panose="020B0604020202020204"/>
                <a:cs typeface="Arial" panose="020B0604020202020204"/>
              </a:endParaRPr>
            </a:p>
          </p:txBody>
        </p:sp>
        <p:sp>
          <p:nvSpPr>
            <p:cNvPr id="19" name="TextBox 19"/>
            <p:cNvSpPr txBox="1"/>
            <p:nvPr>
              <p:custDataLst>
                <p:tags r:id="rId13"/>
              </p:custDataLst>
            </p:nvPr>
          </p:nvSpPr>
          <p:spPr>
            <a:xfrm>
              <a:off x="5371338" y="2568575"/>
              <a:ext cx="1108304"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恢复签名</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20" name="TextBox 20"/>
            <p:cNvSpPr txBox="1"/>
            <p:nvPr>
              <p:custDataLst>
                <p:tags r:id="rId14"/>
              </p:custDataLst>
            </p:nvPr>
          </p:nvSpPr>
          <p:spPr>
            <a:xfrm>
              <a:off x="4726305" y="3117850"/>
              <a:ext cx="1714500" cy="98044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组合多个</a:t>
              </a:r>
              <a:r>
                <a:rPr lang="zh-CN" sz="1500" dirty="0">
                  <a:solidFill>
                    <a:srgbClr val="262626"/>
                  </a:solidFill>
                  <a:latin typeface="Arial" panose="020B0604020202020204"/>
                  <a:ea typeface="微软雅黑" panose="020B0503020204020204" charset="-122"/>
                  <a:cs typeface="Arial" panose="020B0604020202020204"/>
                </a:rPr>
                <a:t>对偶空间，</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利用线性代数恢复</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神经元权重方向。</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21" name="Rectangle 21"/>
            <p:cNvSpPr/>
            <p:nvPr>
              <p:custDataLst>
                <p:tags r:id="rId15"/>
              </p:custDataLst>
            </p:nvPr>
          </p:nvSpPr>
          <p:spPr>
            <a:xfrm>
              <a:off x="8210550" y="2266950"/>
              <a:ext cx="3295650" cy="2905125"/>
            </a:xfrm>
            <a:prstGeom prst="roundRect">
              <a:avLst>
                <a:gd name="adj" fmla="val 4590"/>
              </a:avLst>
            </a:prstGeom>
            <a:solidFill>
              <a:srgbClr val="FFFFFF"/>
            </a:solidFill>
            <a:ln w="19050">
              <a:solidFill>
                <a:srgbClr val="B9D2C4"/>
              </a:solidFill>
            </a:ln>
          </p:spPr>
        </p:sp>
        <p:sp>
          <p:nvSpPr>
            <p:cNvPr id="22" name="Ellipse 22"/>
            <p:cNvSpPr/>
            <p:nvPr>
              <p:custDataLst>
                <p:tags r:id="rId16"/>
              </p:custDataLst>
            </p:nvPr>
          </p:nvSpPr>
          <p:spPr>
            <a:xfrm>
              <a:off x="8448675" y="2447925"/>
              <a:ext cx="552450" cy="552450"/>
            </a:xfrm>
            <a:prstGeom prst="ellipse">
              <a:avLst/>
            </a:prstGeom>
            <a:solidFill>
              <a:srgbClr val="005725"/>
            </a:solidFill>
            <a:ln>
              <a:noFill/>
            </a:ln>
          </p:spPr>
        </p:sp>
        <p:sp>
          <p:nvSpPr>
            <p:cNvPr id="23" name="TextBox 23"/>
            <p:cNvSpPr txBox="1"/>
            <p:nvPr>
              <p:custDataLst>
                <p:tags r:id="rId17"/>
              </p:custDataLst>
            </p:nvPr>
          </p:nvSpPr>
          <p:spPr>
            <a:xfrm>
              <a:off x="8632602" y="2574925"/>
              <a:ext cx="184596"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panose="020B0604020202020204"/>
                  <a:ea typeface="Arial" panose="020B0604020202020204"/>
                  <a:cs typeface="Arial" panose="020B0604020202020204"/>
                </a:rPr>
                <a:t>3</a:t>
              </a:r>
              <a:endParaRPr lang="zh-CN" sz="2100" b="1" dirty="0">
                <a:solidFill>
                  <a:srgbClr val="FFFFFF"/>
                </a:solidFill>
                <a:latin typeface="Arial" panose="020B0604020202020204"/>
                <a:ea typeface="Arial" panose="020B0604020202020204"/>
                <a:cs typeface="Arial" panose="020B0604020202020204"/>
              </a:endParaRPr>
            </a:p>
          </p:txBody>
        </p:sp>
        <p:sp>
          <p:nvSpPr>
            <p:cNvPr id="24" name="TextBox 24"/>
            <p:cNvSpPr txBox="1"/>
            <p:nvPr>
              <p:custDataLst>
                <p:tags r:id="rId18"/>
              </p:custDataLst>
            </p:nvPr>
          </p:nvSpPr>
          <p:spPr>
            <a:xfrm>
              <a:off x="9133713" y="2568575"/>
              <a:ext cx="1108304"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恢复符号</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25" name="TextBox 25"/>
            <p:cNvSpPr txBox="1"/>
            <p:nvPr>
              <p:custDataLst>
                <p:tags r:id="rId19"/>
              </p:custDataLst>
            </p:nvPr>
          </p:nvSpPr>
          <p:spPr>
            <a:xfrm>
              <a:off x="8488680" y="3117850"/>
              <a:ext cx="1920240" cy="94107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比较两侧未来层事件，</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用统计投票确定</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神经元开启方向。</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26" name="Rectangle 26"/>
            <p:cNvSpPr/>
            <p:nvPr/>
          </p:nvSpPr>
          <p:spPr>
            <a:xfrm>
              <a:off x="685800" y="5476875"/>
              <a:ext cx="10820400" cy="552450"/>
            </a:xfrm>
            <a:prstGeom prst="roundRect">
              <a:avLst>
                <a:gd name="adj" fmla="val 17241"/>
              </a:avLst>
            </a:prstGeom>
            <a:solidFill>
              <a:srgbClr val="EAF4EE"/>
            </a:solidFill>
            <a:ln w="14288">
              <a:solidFill>
                <a:srgbClr val="8FBAA1"/>
              </a:solidFill>
            </a:ln>
          </p:spPr>
        </p:sp>
        <p:sp>
          <p:nvSpPr>
            <p:cNvPr id="27" name="TextBox 27"/>
            <p:cNvSpPr txBox="1"/>
            <p:nvPr/>
          </p:nvSpPr>
          <p:spPr>
            <a:xfrm>
              <a:off x="2089404" y="5635625"/>
              <a:ext cx="8013192" cy="322707"/>
            </a:xfrm>
            <a:prstGeom prst="rect">
              <a:avLst/>
            </a:prstGeom>
            <a:noFill/>
            <a:ln>
              <a:noFill/>
            </a:ln>
          </p:spPr>
          <p:txBody>
            <a:bodyPr wrap="none" lIns="0" tIns="0" rIns="0" bIns="0" anchor="t" anchorCtr="0">
              <a:spAutoFit/>
            </a:bodyPr>
            <a:lstStyle/>
            <a:p>
              <a:pPr algn="ctr"/>
              <a:r>
                <a:rPr lang="zh-CN" sz="1650" b="1" dirty="0">
                  <a:solidFill>
                    <a:srgbClr val="005725"/>
                  </a:solidFill>
                  <a:latin typeface="Arial" panose="020B0604020202020204"/>
                  <a:ea typeface="微软雅黑" panose="020B0503020204020204" charset="-122"/>
                  <a:cs typeface="Arial" panose="020B0604020202020204"/>
                </a:rPr>
                <a:t>核心突破：首次同时实现硬标签参数提取的多项式查询复杂度与多项式计算复杂度</a:t>
              </a:r>
              <a:endParaRPr lang="zh-CN" sz="1650" b="1" dirty="0">
                <a:solidFill>
                  <a:srgbClr val="005725"/>
                </a:solidFill>
                <a:latin typeface="Arial" panose="020B0604020202020204"/>
                <a:ea typeface="微软雅黑" panose="020B0503020204020204" charset="-122"/>
                <a:cs typeface="Arial" panose="020B0604020202020204"/>
              </a:endParaRPr>
            </a:p>
          </p:txBody>
        </p:sp>
      </p:grpSp>
      <p:sp>
        <p:nvSpPr>
          <p:cNvPr id="29" name="TextBox 29"/>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4</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1. 研究背景与问题</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9" name="page-body"/>
          <p:cNvGrpSpPr/>
          <p:nvPr/>
        </p:nvGrpSpPr>
        <p:grpSpPr>
          <a:xfrm>
            <a:off x="666750" y="1517650"/>
            <a:ext cx="10839450" cy="4906645"/>
            <a:chOff x="666750" y="1517650"/>
            <a:chExt cx="10839450" cy="4906645"/>
          </a:xfrm>
        </p:grpSpPr>
        <p:sp>
          <p:nvSpPr>
            <p:cNvPr id="10" name="TextBox 10"/>
            <p:cNvSpPr txBox="1"/>
            <p:nvPr/>
          </p:nvSpPr>
          <p:spPr>
            <a:xfrm>
              <a:off x="673608" y="1517650"/>
              <a:ext cx="8271495" cy="469392"/>
            </a:xfrm>
            <a:prstGeom prst="rect">
              <a:avLst/>
            </a:prstGeom>
            <a:noFill/>
            <a:ln>
              <a:noFill/>
            </a:ln>
          </p:spPr>
          <p:txBody>
            <a:bodyPr wrap="none" lIns="0" tIns="0" rIns="0" bIns="0" anchor="t" anchorCtr="0">
              <a:spAutoFit/>
            </a:bodyPr>
            <a:lstStyle/>
            <a:p>
              <a:pPr algn="l"/>
              <a:r>
                <a:rPr lang="zh-CN" sz="2400" b="1" dirty="0">
                  <a:solidFill>
                    <a:srgbClr val="005725"/>
                  </a:solidFill>
                  <a:latin typeface="Arial" panose="020B0604020202020204"/>
                  <a:ea typeface="微软雅黑" panose="020B0503020204020204" charset="-122"/>
                  <a:cs typeface="Arial" panose="020B0604020202020204"/>
                </a:rPr>
                <a:t>DNN 与分组密码共享“秘密线性变换 + 公开非线性”的骨架</a:t>
              </a:r>
              <a:endParaRPr lang="zh-CN" sz="240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43125"/>
              <a:ext cx="6286500" cy="3638550"/>
            </a:xfrm>
            <a:prstGeom prst="roundRect">
              <a:avLst>
                <a:gd name="adj" fmla="val 3141"/>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57250" y="2715769"/>
              <a:ext cx="5905500" cy="2378962"/>
            </a:xfrm>
            <a:prstGeom prst="rect">
              <a:avLst/>
            </a:prstGeom>
          </p:spPr>
        </p:pic>
        <p:sp>
          <p:nvSpPr>
            <p:cNvPr id="13" name="TextBox 13"/>
            <p:cNvSpPr/>
            <p:nvPr/>
          </p:nvSpPr>
          <p:spPr>
            <a:xfrm>
              <a:off x="2349341" y="5556218"/>
              <a:ext cx="2921413" cy="220028"/>
            </a:xfrm>
            <a:prstGeom prst="rect">
              <a:avLst/>
            </a:prstGeom>
            <a:noFill/>
            <a:ln>
              <a:noFill/>
            </a:ln>
          </p:spPr>
          <p:txBody>
            <a:bodyPr wrap="none" lIns="0" tIns="32" rIns="95" bIns="0" anchor="t" anchorCtr="0">
              <a:noAutofit/>
            </a:bodyPr>
            <a:lstStyle/>
            <a:p>
              <a:pPr algn="ctr"/>
              <a:r>
                <a:rPr lang="zh-CN" sz="1120" dirty="0">
                  <a:solidFill>
                    <a:srgbClr val="667085"/>
                  </a:solidFill>
                  <a:latin typeface="Arial" panose="020B0604020202020204"/>
                  <a:ea typeface="微软雅黑" panose="020B0503020204020204" charset="-122"/>
                  <a:cs typeface="Arial" panose="020B0604020202020204"/>
                </a:rPr>
                <a:t>图1：DNN 与分组密码的结构类比</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14" name="Rectangle 14"/>
            <p:cNvSpPr/>
            <p:nvPr/>
          </p:nvSpPr>
          <p:spPr>
            <a:xfrm>
              <a:off x="7239000" y="2143125"/>
              <a:ext cx="4267200" cy="3638550"/>
            </a:xfrm>
            <a:prstGeom prst="roundRect">
              <a:avLst>
                <a:gd name="adj" fmla="val 3141"/>
              </a:avLst>
            </a:prstGeom>
            <a:solidFill>
              <a:srgbClr val="F3F8F5"/>
            </a:solidFill>
            <a:ln w="19050">
              <a:solidFill>
                <a:srgbClr val="A6C9B4"/>
              </a:solidFill>
            </a:ln>
          </p:spPr>
        </p:sp>
        <p:sp>
          <p:nvSpPr>
            <p:cNvPr id="15" name="TextBox 15"/>
            <p:cNvSpPr txBox="1"/>
            <p:nvPr/>
          </p:nvSpPr>
          <p:spPr>
            <a:xfrm>
              <a:off x="7533513" y="2387600"/>
              <a:ext cx="3325912"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为什么用“密码分析”视角？</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7535799" y="2813050"/>
              <a:ext cx="2444115" cy="1923415"/>
            </a:xfrm>
            <a:prstGeom prst="rect">
              <a:avLst/>
            </a:prstGeom>
            <a:noFill/>
            <a:ln>
              <a:noFill/>
            </a:ln>
          </p:spPr>
          <p:txBody>
            <a:bodyPr wrap="none" lIns="0" tIns="0" rIns="0" bIns="0" anchor="t" anchorCtr="0">
              <a:spAutoFit/>
            </a:bodyPr>
            <a:lstStyle/>
            <a:p>
              <a:pPr marL="170815" indent="-170815" algn="l">
                <a:lnSpc>
                  <a:spcPts val="3750"/>
                </a:lnSpc>
                <a:buClr>
                  <a:srgbClr val="262626"/>
                </a:buClr>
                <a:buSzTx/>
                <a:buFontTx/>
                <a:buChar char="•"/>
              </a:pPr>
              <a:r>
                <a:rPr lang="zh-CN" sz="1580" dirty="0">
                  <a:solidFill>
                    <a:srgbClr val="262626"/>
                  </a:solidFill>
                  <a:latin typeface="Arial" panose="020B0604020202020204"/>
                  <a:ea typeface="微软雅黑" panose="020B0503020204020204" charset="-122"/>
                  <a:cs typeface="Arial" panose="020B0604020202020204"/>
                </a:rPr>
                <a:t>权重与偏置 ≈ 秘密轮密钥</a:t>
              </a:r>
              <a:endParaRPr lang="zh-CN" sz="1580" dirty="0">
                <a:solidFill>
                  <a:srgbClr val="262626"/>
                </a:solidFill>
                <a:latin typeface="Arial" panose="020B0604020202020204"/>
                <a:ea typeface="微软雅黑" panose="020B0503020204020204" charset="-122"/>
                <a:cs typeface="Arial" panose="020B0604020202020204"/>
              </a:endParaRPr>
            </a:p>
            <a:p>
              <a:pPr marL="170815" indent="-170815" algn="l">
                <a:lnSpc>
                  <a:spcPts val="3750"/>
                </a:lnSpc>
                <a:buClr>
                  <a:srgbClr val="262626"/>
                </a:buClr>
                <a:buSzTx/>
                <a:buFontTx/>
                <a:buChar char="•"/>
              </a:pPr>
              <a:r>
                <a:rPr lang="zh-CN" sz="1580" dirty="0">
                  <a:solidFill>
                    <a:srgbClr val="262626"/>
                  </a:solidFill>
                  <a:latin typeface="Arial" panose="020B0604020202020204"/>
                  <a:ea typeface="微软雅黑" panose="020B0503020204020204" charset="-122"/>
                  <a:cs typeface="Arial" panose="020B0604020202020204"/>
                </a:rPr>
                <a:t>ReLU ≈ 公开的非线性S盒</a:t>
              </a:r>
              <a:endParaRPr lang="zh-CN" sz="1580" dirty="0">
                <a:solidFill>
                  <a:srgbClr val="262626"/>
                </a:solidFill>
                <a:latin typeface="Arial" panose="020B0604020202020204"/>
                <a:ea typeface="微软雅黑" panose="020B0503020204020204" charset="-122"/>
                <a:cs typeface="Arial" panose="020B0604020202020204"/>
              </a:endParaRPr>
            </a:p>
            <a:p>
              <a:pPr marL="170815" indent="-170815" algn="l">
                <a:lnSpc>
                  <a:spcPts val="3750"/>
                </a:lnSpc>
                <a:buClr>
                  <a:srgbClr val="262626"/>
                </a:buClr>
                <a:buSzTx/>
                <a:buFontTx/>
                <a:buChar char="•"/>
              </a:pPr>
              <a:r>
                <a:rPr lang="zh-CN" sz="1580" dirty="0">
                  <a:solidFill>
                    <a:srgbClr val="262626"/>
                  </a:solidFill>
                  <a:latin typeface="Arial" panose="020B0604020202020204"/>
                  <a:ea typeface="微软雅黑" panose="020B0503020204020204" charset="-122"/>
                  <a:cs typeface="Arial" panose="020B0604020202020204"/>
                </a:rPr>
                <a:t>主动查询 ≈ 选择明文攻击</a:t>
              </a:r>
              <a:endParaRPr lang="zh-CN" sz="1580" dirty="0">
                <a:solidFill>
                  <a:srgbClr val="262626"/>
                </a:solidFill>
                <a:latin typeface="Arial" panose="020B0604020202020204"/>
                <a:ea typeface="微软雅黑" panose="020B0503020204020204" charset="-122"/>
                <a:cs typeface="Arial" panose="020B0604020202020204"/>
              </a:endParaRPr>
            </a:p>
            <a:p>
              <a:pPr marL="170815" indent="-170815" algn="l">
                <a:lnSpc>
                  <a:spcPts val="3750"/>
                </a:lnSpc>
                <a:buClr>
                  <a:srgbClr val="262626"/>
                </a:buClr>
                <a:buSzTx/>
                <a:buFontTx/>
                <a:buChar char="•"/>
              </a:pPr>
              <a:r>
                <a:rPr lang="zh-CN" sz="1580" dirty="0">
                  <a:solidFill>
                    <a:srgbClr val="262626"/>
                  </a:solidFill>
                  <a:latin typeface="Arial" panose="020B0604020202020204"/>
                  <a:ea typeface="微软雅黑" panose="020B0503020204020204" charset="-122"/>
                  <a:cs typeface="Arial" panose="020B0604020202020204"/>
                </a:rPr>
                <a:t>边界几何泄露内部结构</a:t>
              </a:r>
              <a:endParaRPr lang="zh-CN" sz="1580" dirty="0">
                <a:solidFill>
                  <a:srgbClr val="262626"/>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7836078" y="5146675"/>
              <a:ext cx="3073044" cy="278702"/>
            </a:xfrm>
            <a:prstGeom prst="rect">
              <a:avLst/>
            </a:prstGeom>
            <a:noFill/>
            <a:ln>
              <a:noFill/>
            </a:ln>
          </p:spPr>
          <p:txBody>
            <a:bodyPr wrap="none" lIns="0" tIns="0" rIns="0" bIns="0" anchor="t" anchorCtr="0">
              <a:spAutoFit/>
            </a:bodyPr>
            <a:lstStyle/>
            <a:p>
              <a:pPr algn="ctr"/>
              <a:r>
                <a:rPr lang="zh-CN" sz="1420" b="1" dirty="0">
                  <a:solidFill>
                    <a:srgbClr val="C00000"/>
                  </a:solidFill>
                  <a:latin typeface="Arial" panose="020B0604020202020204"/>
                  <a:ea typeface="微软雅黑" panose="020B0503020204020204" charset="-122"/>
                  <a:cs typeface="Arial" panose="020B0604020202020204"/>
                </a:rPr>
                <a:t>网络没有为抵抗选择输入攻击而设计</a:t>
              </a:r>
              <a:endParaRPr lang="zh-CN" sz="1420" b="1" dirty="0">
                <a:solidFill>
                  <a:srgbClr val="C0000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0" name="TextBox 20"/>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5</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1. 研究背景与问题</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9" name="page-body"/>
          <p:cNvGrpSpPr/>
          <p:nvPr/>
        </p:nvGrpSpPr>
        <p:grpSpPr>
          <a:xfrm>
            <a:off x="666750" y="1517650"/>
            <a:ext cx="10839450" cy="4906645"/>
            <a:chOff x="666750" y="1517650"/>
            <a:chExt cx="10839450" cy="4906645"/>
          </a:xfrm>
        </p:grpSpPr>
        <p:sp>
          <p:nvSpPr>
            <p:cNvPr id="10" name="TextBox 10"/>
            <p:cNvSpPr txBox="1"/>
            <p:nvPr/>
          </p:nvSpPr>
          <p:spPr>
            <a:xfrm>
              <a:off x="673608" y="1517650"/>
              <a:ext cx="8495690" cy="469392"/>
            </a:xfrm>
            <a:prstGeom prst="rect">
              <a:avLst/>
            </a:prstGeom>
            <a:noFill/>
            <a:ln>
              <a:noFill/>
            </a:ln>
          </p:spPr>
          <p:txBody>
            <a:bodyPr wrap="none" lIns="0" tIns="0" rIns="0" bIns="0" anchor="t" anchorCtr="0">
              <a:spAutoFit/>
            </a:bodyPr>
            <a:lstStyle/>
            <a:p>
              <a:pPr algn="l"/>
              <a:r>
                <a:rPr lang="zh-CN" sz="2400" b="1" dirty="0">
                  <a:solidFill>
                    <a:srgbClr val="005725"/>
                  </a:solidFill>
                  <a:latin typeface="Arial" panose="020B0604020202020204"/>
                  <a:ea typeface="微软雅黑" panose="020B0503020204020204" charset="-122"/>
                  <a:cs typeface="Arial" panose="020B0604020202020204"/>
                </a:rPr>
                <a:t>硬标签丢掉的不只是数值，而是定位 ReLU 翻转的“侧信道”</a:t>
              </a:r>
              <a:endParaRPr lang="zh-CN" sz="240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33600"/>
              <a:ext cx="7286625" cy="3476625"/>
            </a:xfrm>
            <a:prstGeom prst="roundRect">
              <a:avLst>
                <a:gd name="adj" fmla="val 3288"/>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57250" y="2524031"/>
              <a:ext cx="6905625" cy="2638612"/>
            </a:xfrm>
            <a:prstGeom prst="rect">
              <a:avLst/>
            </a:prstGeom>
          </p:spPr>
        </p:pic>
        <p:sp>
          <p:nvSpPr>
            <p:cNvPr id="24" name="figure-caption-2"/>
            <p:cNvSpPr/>
            <p:nvPr/>
          </p:nvSpPr>
          <p:spPr>
            <a:xfrm>
              <a:off x="666750" y="5172075"/>
              <a:ext cx="7286625" cy="381000"/>
            </a:xfrm>
            <a:prstGeom prst="rect">
              <a:avLst/>
            </a:prstGeom>
            <a:noFill/>
            <a:ln>
              <a:noFill/>
            </a:ln>
          </p:spPr>
          <p:txBody>
            <a:bodyPr wrap="none" lIns="0" tIns="136525" rIns="0" bIns="0" anchor="t" anchorCtr="0">
              <a:noAutofit/>
            </a:bodyPr>
            <a:lstStyle/>
            <a:p>
              <a:pPr algn="ctr"/>
              <a:r>
                <a:rPr lang="zh-CN" sz="1120" dirty="0">
                  <a:solidFill>
                    <a:srgbClr val="667085"/>
                  </a:solidFill>
                  <a:latin typeface="Arial" panose="020B0604020202020204"/>
                  <a:ea typeface="微软雅黑" panose="020B0503020204020204" charset="-122"/>
                  <a:cs typeface="Arial" panose="020B0604020202020204"/>
                </a:rPr>
                <a:t>图2：不同攻击方式示意图</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13" name="Rectangle 13"/>
            <p:cNvSpPr/>
            <p:nvPr/>
          </p:nvSpPr>
          <p:spPr>
            <a:xfrm>
              <a:off x="8248650" y="2133600"/>
              <a:ext cx="3257550" cy="3476625"/>
            </a:xfrm>
            <a:prstGeom prst="roundRect">
              <a:avLst>
                <a:gd name="adj" fmla="val 3509"/>
              </a:avLst>
            </a:prstGeom>
            <a:solidFill>
              <a:srgbClr val="F3F8F5"/>
            </a:solidFill>
            <a:ln w="19050">
              <a:solidFill>
                <a:srgbClr val="A6C9B4"/>
              </a:solidFill>
            </a:ln>
          </p:spPr>
        </p:sp>
        <p:sp>
          <p:nvSpPr>
            <p:cNvPr id="14" name="TextBox 14"/>
            <p:cNvSpPr txBox="1"/>
            <p:nvPr/>
          </p:nvSpPr>
          <p:spPr>
            <a:xfrm>
              <a:off x="9160002" y="2393950"/>
              <a:ext cx="1434846" cy="410718"/>
            </a:xfrm>
            <a:prstGeom prst="rect">
              <a:avLst/>
            </a:prstGeom>
            <a:noFill/>
            <a:ln>
              <a:noFill/>
            </a:ln>
          </p:spPr>
          <p:txBody>
            <a:bodyPr wrap="none" lIns="0" tIns="0" rIns="0" bIns="0" anchor="t" anchorCtr="0">
              <a:spAutoFit/>
            </a:bodyPr>
            <a:lstStyle/>
            <a:p>
              <a:pPr algn="ctr"/>
              <a:r>
                <a:rPr lang="zh-CN" sz="2100" b="1" dirty="0">
                  <a:solidFill>
                    <a:srgbClr val="005725"/>
                  </a:solidFill>
                  <a:latin typeface="Arial" panose="020B0604020202020204"/>
                  <a:ea typeface="微软雅黑" panose="020B0503020204020204" charset="-122"/>
                  <a:cs typeface="Arial" panose="020B0604020202020204"/>
                </a:rPr>
                <a:t>可见性差距</a:t>
              </a:r>
              <a:endParaRPr lang="zh-CN" sz="2100" b="1" dirty="0">
                <a:solidFill>
                  <a:srgbClr val="005725"/>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517255" y="2927350"/>
              <a:ext cx="2110740" cy="191262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完整输出：</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数值变化 → 导数突变</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 可直接定位临界点</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硬标签：</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只有最终类别变化可见，</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多数 ReLU 翻转被隐藏。</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6" name="Rectangle 16"/>
            <p:cNvSpPr/>
            <p:nvPr/>
          </p:nvSpPr>
          <p:spPr>
            <a:xfrm>
              <a:off x="666750" y="5810250"/>
              <a:ext cx="10839450" cy="428625"/>
            </a:xfrm>
            <a:prstGeom prst="roundRect">
              <a:avLst>
                <a:gd name="adj" fmla="val 17778"/>
              </a:avLst>
            </a:prstGeom>
            <a:solidFill>
              <a:srgbClr val="FFF4F0"/>
            </a:solidFill>
            <a:ln w="14288">
              <a:solidFill>
                <a:srgbClr val="E3B2A7"/>
              </a:solidFill>
            </a:ln>
          </p:spPr>
        </p:sp>
        <p:sp>
          <p:nvSpPr>
            <p:cNvPr id="17" name="TextBox 17"/>
            <p:cNvSpPr txBox="1"/>
            <p:nvPr/>
          </p:nvSpPr>
          <p:spPr>
            <a:xfrm>
              <a:off x="2781630" y="5905500"/>
              <a:ext cx="6609690" cy="308991"/>
            </a:xfrm>
            <a:prstGeom prst="rect">
              <a:avLst/>
            </a:prstGeom>
            <a:noFill/>
            <a:ln>
              <a:noFill/>
            </a:ln>
          </p:spPr>
          <p:txBody>
            <a:bodyPr wrap="none" lIns="0" tIns="0" rIns="0" bIns="0" anchor="t" anchorCtr="0">
              <a:spAutoFit/>
            </a:bodyPr>
            <a:lstStyle/>
            <a:p>
              <a:pPr algn="ctr"/>
              <a:r>
                <a:rPr lang="zh-CN" sz="1580" b="1" dirty="0">
                  <a:solidFill>
                    <a:srgbClr val="C00000"/>
                  </a:solidFill>
                  <a:latin typeface="Arial" panose="020B0604020202020204"/>
                  <a:ea typeface="微软雅黑" panose="020B0503020204020204" charset="-122"/>
                  <a:cs typeface="Arial" panose="020B0604020202020204"/>
                </a:rPr>
                <a:t>论文必须寻找一种只依赖类别变化、却仍能感知内部折点的新观测量。</a:t>
              </a:r>
              <a:endParaRPr lang="zh-CN" sz="1580" b="1" dirty="0">
                <a:solidFill>
                  <a:srgbClr val="C0000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0" name="TextBox 20"/>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6</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332679" rIns="0" bIns="0" anchor="t" anchorCtr="0">
            <a:noAutofit/>
          </a:bodyPr>
          <a:lstStyle/>
          <a:p>
            <a:pPr algn="l"/>
            <a:r>
              <a:rPr lang="zh-CN" sz="4500" b="1" dirty="0">
                <a:solidFill>
                  <a:srgbClr val="FFFFFF"/>
                </a:solidFill>
                <a:latin typeface="Arial" panose="020B0604020202020204"/>
                <a:ea typeface="微软雅黑" panose="020B0503020204020204" charset="-122"/>
                <a:cs typeface="Arial" panose="020B0604020202020204"/>
              </a:rPr>
              <a:t> 威胁模型与核心洞见</a:t>
            </a:r>
            <a:endParaRPr lang="zh-CN" sz="450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02</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p:nvPr>
            <p:ph type="sldNum" sz="quarter" idx="12"/>
          </p:nvPr>
        </p:nvSpPr>
        <p:spPr>
          <a:xfrm>
            <a:off x="8877586" y="6314408"/>
            <a:ext cx="2699956" cy="316802"/>
          </a:xfrm>
          <a:prstGeom prst="rect">
            <a:avLst/>
          </a:prstGeom>
          <a:noFill/>
          <a:ln>
            <a:noFill/>
          </a:ln>
        </p:spPr>
        <p:txBody>
          <a:bodyPr wrap="none" lIns="0" tIns="45712" rIns="91345" bIns="0" anchor="t" anchorCtr="0">
            <a:noAutofit/>
          </a:bodyPr>
          <a:lstStyle/>
          <a:p>
            <a:pPr algn="r"/>
            <a:r>
              <a:rPr lang="zh-CN" sz="1000" dirty="0">
                <a:solidFill>
                  <a:srgbClr val="404040"/>
                </a:solidFill>
                <a:latin typeface="Arial" panose="020B0604020202020204"/>
                <a:ea typeface="Arial" panose="020B0604020202020204"/>
                <a:cs typeface="Arial" panose="020B0604020202020204"/>
              </a:rPr>
              <a:t>7</a:t>
            </a:r>
            <a:endParaRPr lang="zh-CN" sz="100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4037838" cy="908558"/>
            <a:chOff x="0" y="371475"/>
            <a:chExt cx="4037838"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317296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2. 威胁模型与核心洞见</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25" name="page-body"/>
          <p:cNvGrpSpPr/>
          <p:nvPr/>
        </p:nvGrpSpPr>
        <p:grpSpPr>
          <a:xfrm>
            <a:off x="672846" y="1492250"/>
            <a:ext cx="10833354" cy="4670425"/>
            <a:chOff x="672846" y="1492250"/>
            <a:chExt cx="10833354" cy="4670425"/>
          </a:xfrm>
        </p:grpSpPr>
        <p:sp>
          <p:nvSpPr>
            <p:cNvPr id="10" name="TextBox 10"/>
            <p:cNvSpPr txBox="1"/>
            <p:nvPr/>
          </p:nvSpPr>
          <p:spPr>
            <a:xfrm>
              <a:off x="672846" y="1492250"/>
              <a:ext cx="6891528"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攻击目标：仅凭最终类别，逐层恢复网络参数</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85800" y="2247900"/>
              <a:ext cx="5095875" cy="1295400"/>
            </a:xfrm>
            <a:prstGeom prst="roundRect">
              <a:avLst>
                <a:gd name="adj" fmla="val 8824"/>
              </a:avLst>
            </a:prstGeom>
            <a:solidFill>
              <a:srgbClr val="FFFFFF"/>
            </a:solidFill>
            <a:ln w="19050">
              <a:solidFill>
                <a:srgbClr val="9FC4AD"/>
              </a:solidFill>
            </a:ln>
          </p:spPr>
        </p:sp>
        <p:sp>
          <p:nvSpPr>
            <p:cNvPr id="12" name="TextBox 12"/>
            <p:cNvSpPr txBox="1"/>
            <p:nvPr/>
          </p:nvSpPr>
          <p:spPr>
            <a:xfrm>
              <a:off x="942594" y="2463800"/>
              <a:ext cx="1069848" cy="381381"/>
            </a:xfrm>
            <a:prstGeom prst="rect">
              <a:avLst/>
            </a:prstGeom>
            <a:noFill/>
            <a:ln>
              <a:noFill/>
            </a:ln>
          </p:spPr>
          <p:txBody>
            <a:bodyPr wrap="none" lIns="0" tIns="0" rIns="0" bIns="0" anchor="t" anchorCtr="0">
              <a:spAutoFit/>
            </a:bodyPr>
            <a:lstStyle/>
            <a:p>
              <a:pPr algn="l"/>
              <a:r>
                <a:rPr lang="zh-CN" sz="1950" b="1" dirty="0">
                  <a:solidFill>
                    <a:srgbClr val="005725"/>
                  </a:solidFill>
                  <a:latin typeface="Arial" panose="020B0604020202020204"/>
                  <a:ea typeface="微软雅黑" panose="020B0503020204020204" charset="-122"/>
                  <a:cs typeface="Arial" panose="020B0604020202020204"/>
                </a:rPr>
                <a:t>结构已知</a:t>
              </a:r>
              <a:endParaRPr lang="zh-CN" sz="1950" b="1" dirty="0">
                <a:solidFill>
                  <a:srgbClr val="005725"/>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2487930" y="2428875"/>
              <a:ext cx="1253490" cy="598170"/>
            </a:xfrm>
            <a:prstGeom prst="rect">
              <a:avLst/>
            </a:prstGeom>
            <a:noFill/>
            <a:ln>
              <a:noFill/>
            </a:ln>
          </p:spPr>
          <p:txBody>
            <a:bodyPr wrap="none" lIns="0" tIns="0" rIns="0" bIns="0" anchor="t" anchorCtr="0">
              <a:spAutoFit/>
            </a:bodyPr>
            <a:lstStyle/>
            <a:p>
              <a:pPr algn="l">
                <a:lnSpc>
                  <a:spcPts val="2400"/>
                </a:lnSpc>
              </a:pPr>
              <a:r>
                <a:rPr lang="zh-CN" sz="1500" dirty="0">
                  <a:solidFill>
                    <a:srgbClr val="262626"/>
                  </a:solidFill>
                  <a:latin typeface="Arial" panose="020B0604020202020204"/>
                  <a:ea typeface="微软雅黑" panose="020B0503020204020204" charset="-122"/>
                  <a:cs typeface="Arial" panose="020B0604020202020204"/>
                </a:rPr>
                <a:t>层数、宽度及</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ReLU 激活已知</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4" name="Rectangle 14"/>
            <p:cNvSpPr/>
            <p:nvPr/>
          </p:nvSpPr>
          <p:spPr>
            <a:xfrm>
              <a:off x="6143625" y="2247900"/>
              <a:ext cx="5095875" cy="1295400"/>
            </a:xfrm>
            <a:prstGeom prst="roundRect">
              <a:avLst>
                <a:gd name="adj" fmla="val 8824"/>
              </a:avLst>
            </a:prstGeom>
            <a:solidFill>
              <a:srgbClr val="FFFFFF"/>
            </a:solidFill>
            <a:ln w="19050">
              <a:solidFill>
                <a:srgbClr val="9FC4AD"/>
              </a:solidFill>
            </a:ln>
          </p:spPr>
        </p:sp>
        <p:sp>
          <p:nvSpPr>
            <p:cNvPr id="15" name="TextBox 15"/>
            <p:cNvSpPr txBox="1"/>
            <p:nvPr/>
          </p:nvSpPr>
          <p:spPr>
            <a:xfrm>
              <a:off x="6400419" y="2463800"/>
              <a:ext cx="1069848" cy="381381"/>
            </a:xfrm>
            <a:prstGeom prst="rect">
              <a:avLst/>
            </a:prstGeom>
            <a:noFill/>
            <a:ln>
              <a:noFill/>
            </a:ln>
          </p:spPr>
          <p:txBody>
            <a:bodyPr wrap="none" lIns="0" tIns="0" rIns="0" bIns="0" anchor="t" anchorCtr="0">
              <a:spAutoFit/>
            </a:bodyPr>
            <a:lstStyle/>
            <a:p>
              <a:pPr algn="l"/>
              <a:r>
                <a:rPr lang="zh-CN" sz="1950" b="1" dirty="0">
                  <a:solidFill>
                    <a:srgbClr val="005725"/>
                  </a:solidFill>
                  <a:latin typeface="Arial" panose="020B0604020202020204"/>
                  <a:ea typeface="微软雅黑" panose="020B0503020204020204" charset="-122"/>
                  <a:cs typeface="Arial" panose="020B0604020202020204"/>
                </a:rPr>
                <a:t>任意查询</a:t>
              </a:r>
              <a:endParaRPr lang="zh-CN" sz="1950" b="1" dirty="0">
                <a:solidFill>
                  <a:srgbClr val="005725"/>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7945755" y="2428875"/>
              <a:ext cx="1539240" cy="598170"/>
            </a:xfrm>
            <a:prstGeom prst="rect">
              <a:avLst/>
            </a:prstGeom>
            <a:noFill/>
            <a:ln>
              <a:noFill/>
            </a:ln>
          </p:spPr>
          <p:txBody>
            <a:bodyPr wrap="none" lIns="0" tIns="0" rIns="0" bIns="0" anchor="t" anchorCtr="0">
              <a:spAutoFit/>
            </a:bodyPr>
            <a:lstStyle/>
            <a:p>
              <a:pPr algn="l">
                <a:lnSpc>
                  <a:spcPts val="2400"/>
                </a:lnSpc>
              </a:pPr>
              <a:r>
                <a:rPr lang="zh-CN" sz="1500" dirty="0">
                  <a:solidFill>
                    <a:srgbClr val="262626"/>
                  </a:solidFill>
                  <a:latin typeface="Arial" panose="020B0604020202020204"/>
                  <a:ea typeface="微软雅黑" panose="020B0503020204020204" charset="-122"/>
                  <a:cs typeface="Arial" panose="020B0604020202020204"/>
                </a:rPr>
                <a:t>可选择实数域方向</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与较大扰动幅度</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7" name="Rectangle 17"/>
            <p:cNvSpPr/>
            <p:nvPr/>
          </p:nvSpPr>
          <p:spPr>
            <a:xfrm>
              <a:off x="685800" y="3819525"/>
              <a:ext cx="5095875" cy="1295400"/>
            </a:xfrm>
            <a:prstGeom prst="roundRect">
              <a:avLst>
                <a:gd name="adj" fmla="val 8824"/>
              </a:avLst>
            </a:prstGeom>
            <a:solidFill>
              <a:srgbClr val="FFFFFF"/>
            </a:solidFill>
            <a:ln w="19050">
              <a:solidFill>
                <a:srgbClr val="9FC4AD"/>
              </a:solidFill>
            </a:ln>
          </p:spPr>
        </p:sp>
        <p:sp>
          <p:nvSpPr>
            <p:cNvPr id="18" name="TextBox 18"/>
            <p:cNvSpPr txBox="1"/>
            <p:nvPr/>
          </p:nvSpPr>
          <p:spPr>
            <a:xfrm>
              <a:off x="942594" y="4035425"/>
              <a:ext cx="1069848" cy="381381"/>
            </a:xfrm>
            <a:prstGeom prst="rect">
              <a:avLst/>
            </a:prstGeom>
            <a:noFill/>
            <a:ln>
              <a:noFill/>
            </a:ln>
          </p:spPr>
          <p:txBody>
            <a:bodyPr wrap="none" lIns="0" tIns="0" rIns="0" bIns="0" anchor="t" anchorCtr="0">
              <a:spAutoFit/>
            </a:bodyPr>
            <a:lstStyle/>
            <a:p>
              <a:pPr algn="l"/>
              <a:r>
                <a:rPr lang="zh-CN" sz="1950" b="1" dirty="0">
                  <a:solidFill>
                    <a:srgbClr val="005725"/>
                  </a:solidFill>
                  <a:latin typeface="Arial" panose="020B0604020202020204"/>
                  <a:ea typeface="微软雅黑" panose="020B0503020204020204" charset="-122"/>
                  <a:cs typeface="Arial" panose="020B0604020202020204"/>
                </a:rPr>
                <a:t>接口稳定</a:t>
              </a:r>
              <a:endParaRPr lang="zh-CN" sz="1950" b="1" dirty="0">
                <a:solidFill>
                  <a:srgbClr val="005725"/>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2487930" y="4000500"/>
              <a:ext cx="1539240" cy="598170"/>
            </a:xfrm>
            <a:prstGeom prst="rect">
              <a:avLst/>
            </a:prstGeom>
            <a:noFill/>
            <a:ln>
              <a:noFill/>
            </a:ln>
          </p:spPr>
          <p:txBody>
            <a:bodyPr wrap="none" lIns="0" tIns="0" rIns="0" bIns="0" anchor="t" anchorCtr="0">
              <a:spAutoFit/>
            </a:bodyPr>
            <a:lstStyle/>
            <a:p>
              <a:pPr algn="l">
                <a:lnSpc>
                  <a:spcPts val="2400"/>
                </a:lnSpc>
              </a:pPr>
              <a:r>
                <a:rPr lang="zh-CN" sz="1500" dirty="0">
                  <a:solidFill>
                    <a:srgbClr val="262626"/>
                  </a:solidFill>
                  <a:latin typeface="Arial" panose="020B0604020202020204"/>
                  <a:ea typeface="微软雅黑" panose="020B0503020204020204" charset="-122"/>
                  <a:cs typeface="Arial" panose="020B0604020202020204"/>
                </a:rPr>
                <a:t>仅返回类别，但需</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确定性且精度足够</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20" name="Rectangle 20"/>
            <p:cNvSpPr/>
            <p:nvPr/>
          </p:nvSpPr>
          <p:spPr>
            <a:xfrm>
              <a:off x="6143625" y="3819525"/>
              <a:ext cx="5095875" cy="1295400"/>
            </a:xfrm>
            <a:prstGeom prst="roundRect">
              <a:avLst>
                <a:gd name="adj" fmla="val 8824"/>
              </a:avLst>
            </a:prstGeom>
            <a:solidFill>
              <a:srgbClr val="FFFFFF"/>
            </a:solidFill>
            <a:ln w="19050">
              <a:solidFill>
                <a:srgbClr val="9FC4AD"/>
              </a:solidFill>
            </a:ln>
          </p:spPr>
        </p:sp>
        <p:sp>
          <p:nvSpPr>
            <p:cNvPr id="21" name="TextBox 21"/>
            <p:cNvSpPr txBox="1"/>
            <p:nvPr/>
          </p:nvSpPr>
          <p:spPr>
            <a:xfrm>
              <a:off x="6400419" y="4035425"/>
              <a:ext cx="1069848" cy="381381"/>
            </a:xfrm>
            <a:prstGeom prst="rect">
              <a:avLst/>
            </a:prstGeom>
            <a:noFill/>
            <a:ln>
              <a:noFill/>
            </a:ln>
          </p:spPr>
          <p:txBody>
            <a:bodyPr wrap="none" lIns="0" tIns="0" rIns="0" bIns="0" anchor="t" anchorCtr="0">
              <a:spAutoFit/>
            </a:bodyPr>
            <a:lstStyle/>
            <a:p>
              <a:pPr algn="l"/>
              <a:r>
                <a:rPr lang="zh-CN" sz="1950" b="1" dirty="0">
                  <a:solidFill>
                    <a:srgbClr val="005725"/>
                  </a:solidFill>
                  <a:latin typeface="Arial" panose="020B0604020202020204"/>
                  <a:ea typeface="微软雅黑" panose="020B0503020204020204" charset="-122"/>
                  <a:cs typeface="Arial" panose="020B0604020202020204"/>
                </a:rPr>
                <a:t>网络范围</a:t>
              </a:r>
              <a:endParaRPr lang="zh-CN" sz="1950" b="1" dirty="0">
                <a:solidFill>
                  <a:srgbClr val="005725"/>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7945755" y="4000500"/>
              <a:ext cx="1348740" cy="598170"/>
            </a:xfrm>
            <a:prstGeom prst="rect">
              <a:avLst/>
            </a:prstGeom>
            <a:noFill/>
            <a:ln>
              <a:noFill/>
            </a:ln>
          </p:spPr>
          <p:txBody>
            <a:bodyPr wrap="none" lIns="0" tIns="0" rIns="0" bIns="0" anchor="t" anchorCtr="0">
              <a:spAutoFit/>
            </a:bodyPr>
            <a:lstStyle/>
            <a:p>
              <a:pPr algn="l">
                <a:lnSpc>
                  <a:spcPts val="2400"/>
                </a:lnSpc>
              </a:pPr>
              <a:r>
                <a:rPr lang="zh-CN" sz="1500" dirty="0">
                  <a:solidFill>
                    <a:srgbClr val="262626"/>
                  </a:solidFill>
                  <a:latin typeface="Arial" panose="020B0604020202020204"/>
                  <a:ea typeface="微软雅黑" panose="020B0503020204020204" charset="-122"/>
                  <a:cs typeface="Arial" panose="020B0604020202020204"/>
                </a:rPr>
                <a:t>主要覆盖全连接</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ReLU 网络</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23" name="Rectangle 23"/>
            <p:cNvSpPr/>
            <p:nvPr/>
          </p:nvSpPr>
          <p:spPr>
            <a:xfrm>
              <a:off x="685800" y="5572125"/>
              <a:ext cx="10820400" cy="590550"/>
            </a:xfrm>
            <a:prstGeom prst="roundRect">
              <a:avLst>
                <a:gd name="adj" fmla="val 16129"/>
              </a:avLst>
            </a:prstGeom>
            <a:solidFill>
              <a:srgbClr val="EAF4EE"/>
            </a:solidFill>
            <a:ln w="14288">
              <a:solidFill>
                <a:srgbClr val="8FBAA1"/>
              </a:solidFill>
            </a:ln>
          </p:spPr>
        </p:sp>
        <p:sp>
          <p:nvSpPr>
            <p:cNvPr id="24" name="TextBox 24"/>
            <p:cNvSpPr txBox="1"/>
            <p:nvPr/>
          </p:nvSpPr>
          <p:spPr>
            <a:xfrm>
              <a:off x="2089404" y="5740400"/>
              <a:ext cx="8013192" cy="322707"/>
            </a:xfrm>
            <a:prstGeom prst="rect">
              <a:avLst/>
            </a:prstGeom>
            <a:noFill/>
            <a:ln>
              <a:noFill/>
            </a:ln>
          </p:spPr>
          <p:txBody>
            <a:bodyPr wrap="none" lIns="0" tIns="0" rIns="0" bIns="0" anchor="t" anchorCtr="0">
              <a:spAutoFit/>
            </a:bodyPr>
            <a:lstStyle/>
            <a:p>
              <a:pPr algn="ctr"/>
              <a:r>
                <a:rPr lang="zh-CN" sz="1650" b="1" dirty="0">
                  <a:solidFill>
                    <a:srgbClr val="005725"/>
                  </a:solidFill>
                  <a:latin typeface="Arial" panose="020B0604020202020204"/>
                  <a:ea typeface="微软雅黑" panose="020B0503020204020204" charset="-122"/>
                  <a:cs typeface="Arial" panose="020B0604020202020204"/>
                </a:rPr>
                <a:t>目标是构造一个克隆模型，使其复现原模型决策；这是一项可行性与复杂度突破。</a:t>
              </a:r>
              <a:endParaRPr lang="zh-CN" sz="1650" b="1" dirty="0">
                <a:solidFill>
                  <a:srgbClr val="005725"/>
                </a:solidFill>
                <a:latin typeface="Arial" panose="020B0604020202020204"/>
                <a:ea typeface="微软雅黑" panose="020B0503020204020204" charset="-122"/>
                <a:cs typeface="Arial" panose="020B0604020202020204"/>
              </a:endParaRPr>
            </a:p>
          </p:txBody>
        </p:sp>
      </p:grpSp>
      <p:sp>
        <p:nvSpPr>
          <p:cNvPr id="26" name="TextBox 26"/>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8</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4037838" cy="908558"/>
            <a:chOff x="0" y="371475"/>
            <a:chExt cx="4037838"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317296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2. 威胁模型与核心洞见</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8" name="page-body"/>
          <p:cNvGrpSpPr/>
          <p:nvPr/>
        </p:nvGrpSpPr>
        <p:grpSpPr>
          <a:xfrm>
            <a:off x="666750" y="1517650"/>
            <a:ext cx="10839450" cy="4906645"/>
            <a:chOff x="666750" y="1517650"/>
            <a:chExt cx="10839450" cy="4906645"/>
          </a:xfrm>
        </p:grpSpPr>
        <p:sp>
          <p:nvSpPr>
            <p:cNvPr id="10" name="TextBox 10"/>
            <p:cNvSpPr txBox="1"/>
            <p:nvPr/>
          </p:nvSpPr>
          <p:spPr>
            <a:xfrm>
              <a:off x="673608" y="1517650"/>
              <a:ext cx="8585200" cy="368935"/>
            </a:xfrm>
            <a:prstGeom prst="rect">
              <a:avLst/>
            </a:prstGeom>
            <a:noFill/>
            <a:ln>
              <a:noFill/>
            </a:ln>
          </p:spPr>
          <p:txBody>
            <a:bodyPr wrap="none" lIns="0" tIns="0" rIns="0" bIns="0" anchor="t" anchorCtr="0">
              <a:spAutoFit/>
            </a:bodyPr>
            <a:lstStyle/>
            <a:p>
              <a:pPr algn="l"/>
              <a:r>
                <a:rPr lang="zh-CN" sz="2400" b="1" dirty="0">
                  <a:solidFill>
                    <a:srgbClr val="005725"/>
                  </a:solidFill>
                  <a:latin typeface="Arial" panose="020B0604020202020204"/>
                  <a:ea typeface="微软雅黑" panose="020B0503020204020204" charset="-122"/>
                  <a:cs typeface="Arial" panose="020B0604020202020204"/>
                </a:rPr>
                <a:t>对偶点把不可见的 ReLU 临界面，投影成决策边界上的可见折痕</a:t>
              </a:r>
              <a:endParaRPr lang="zh-CN" sz="240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52650"/>
              <a:ext cx="7429500" cy="3371850"/>
            </a:xfrm>
            <a:prstGeom prst="roundRect">
              <a:avLst>
                <a:gd name="adj" fmla="val 3390"/>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73075" y="2352675"/>
              <a:ext cx="7016851" cy="2895600"/>
            </a:xfrm>
            <a:prstGeom prst="rect">
              <a:avLst/>
            </a:prstGeom>
          </p:spPr>
        </p:pic>
        <p:sp>
          <p:nvSpPr>
            <p:cNvPr id="23" name="figure-caption-4"/>
            <p:cNvSpPr/>
            <p:nvPr/>
          </p:nvSpPr>
          <p:spPr>
            <a:xfrm>
              <a:off x="666750" y="5219700"/>
              <a:ext cx="7429500" cy="342900"/>
            </a:xfrm>
            <a:prstGeom prst="rect">
              <a:avLst/>
            </a:prstGeom>
            <a:noFill/>
            <a:ln>
              <a:noFill/>
            </a:ln>
          </p:spPr>
          <p:txBody>
            <a:bodyPr wrap="none" lIns="0" tIns="117475" rIns="0" bIns="0" anchor="t" anchorCtr="0">
              <a:noAutofit/>
            </a:bodyPr>
            <a:lstStyle/>
            <a:p>
              <a:pPr algn="ctr"/>
              <a:r>
                <a:rPr lang="zh-CN" sz="1090" dirty="0">
                  <a:solidFill>
                    <a:srgbClr val="667085"/>
                  </a:solidFill>
                  <a:latin typeface="Arial" panose="020B0604020202020204"/>
                  <a:ea typeface="微软雅黑" panose="020B0503020204020204" charset="-122"/>
                  <a:cs typeface="Arial" panose="020B0604020202020204"/>
                </a:rPr>
                <a:t>图4：神经元临界超平面与决策边界片的局部方向变化</a:t>
              </a:r>
              <a:endParaRPr lang="zh-CN" sz="1090" dirty="0">
                <a:solidFill>
                  <a:srgbClr val="667085"/>
                </a:solidFill>
                <a:latin typeface="Arial" panose="020B0604020202020204"/>
                <a:ea typeface="微软雅黑" panose="020B0503020204020204" charset="-122"/>
                <a:cs typeface="Arial" panose="020B0604020202020204"/>
              </a:endParaRPr>
            </a:p>
          </p:txBody>
        </p:sp>
        <p:sp>
          <p:nvSpPr>
            <p:cNvPr id="13" name="Rectangle 13"/>
            <p:cNvSpPr/>
            <p:nvPr/>
          </p:nvSpPr>
          <p:spPr>
            <a:xfrm>
              <a:off x="8382000" y="2152650"/>
              <a:ext cx="3124200" cy="3371850"/>
            </a:xfrm>
            <a:prstGeom prst="roundRect">
              <a:avLst>
                <a:gd name="adj" fmla="val 3659"/>
              </a:avLst>
            </a:prstGeom>
            <a:solidFill>
              <a:srgbClr val="F3F8F5"/>
            </a:solidFill>
            <a:ln w="19050">
              <a:solidFill>
                <a:srgbClr val="A6C9B4"/>
              </a:solidFill>
            </a:ln>
          </p:spPr>
        </p:sp>
        <p:sp>
          <p:nvSpPr>
            <p:cNvPr id="14" name="TextBox 14"/>
            <p:cNvSpPr txBox="1"/>
            <p:nvPr/>
          </p:nvSpPr>
          <p:spPr>
            <a:xfrm>
              <a:off x="9368028" y="2393950"/>
              <a:ext cx="1152144" cy="410718"/>
            </a:xfrm>
            <a:prstGeom prst="rect">
              <a:avLst/>
            </a:prstGeom>
            <a:noFill/>
            <a:ln>
              <a:noFill/>
            </a:ln>
          </p:spPr>
          <p:txBody>
            <a:bodyPr wrap="none" lIns="0" tIns="0" rIns="0" bIns="0" anchor="t" anchorCtr="0">
              <a:spAutoFit/>
            </a:bodyPr>
            <a:lstStyle/>
            <a:p>
              <a:pPr algn="ctr"/>
              <a:r>
                <a:rPr lang="zh-CN" sz="2100" b="1" dirty="0">
                  <a:solidFill>
                    <a:srgbClr val="005725"/>
                  </a:solidFill>
                  <a:latin typeface="Arial" panose="020B0604020202020204"/>
                  <a:ea typeface="微软雅黑" panose="020B0503020204020204" charset="-122"/>
                  <a:cs typeface="Arial" panose="020B0604020202020204"/>
                </a:rPr>
                <a:t>几何链条</a:t>
              </a:r>
              <a:endParaRPr lang="zh-CN" sz="2100" b="1" dirty="0">
                <a:solidFill>
                  <a:srgbClr val="005725"/>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660130" y="2962275"/>
              <a:ext cx="1539240" cy="2426970"/>
            </a:xfrm>
            <a:prstGeom prst="rect">
              <a:avLst/>
            </a:prstGeom>
            <a:noFill/>
            <a:ln>
              <a:noFill/>
            </a:ln>
          </p:spPr>
          <p:txBody>
            <a:bodyPr wrap="none" lIns="0" tIns="0" rIns="0" bIns="0" anchor="t" anchorCtr="0">
              <a:spAutoFit/>
            </a:bodyPr>
            <a:lstStyle/>
            <a:p>
              <a:pPr algn="l">
                <a:lnSpc>
                  <a:spcPts val="2400"/>
                </a:lnSpc>
              </a:pPr>
              <a:r>
                <a:rPr lang="zh-CN" sz="1500" b="1" dirty="0">
                  <a:solidFill>
                    <a:srgbClr val="262626"/>
                  </a:solidFill>
                  <a:latin typeface="Arial" panose="020B0604020202020204"/>
                  <a:ea typeface="微软雅黑" panose="020B0503020204020204" charset="-122"/>
                  <a:cs typeface="Arial" panose="020B0604020202020204"/>
                </a:rPr>
                <a:t>隐藏神经元翻转</a:t>
              </a:r>
              <a:br>
                <a:rPr lang="zh-CN" sz="1500" b="1" dirty="0">
                  <a:solidFill>
                    <a:srgbClr val="262626"/>
                  </a:solidFill>
                  <a:latin typeface="Arial" panose="020B0604020202020204"/>
                  <a:ea typeface="微软雅黑" panose="020B0503020204020204" charset="-122"/>
                  <a:cs typeface="Arial" panose="020B0604020202020204"/>
                </a:rPr>
              </a:br>
              <a:r>
                <a:rPr lang="zh-CN" sz="1500" b="1" dirty="0">
                  <a:solidFill>
                    <a:srgbClr val="262626"/>
                  </a:solidFill>
                  <a:latin typeface="Arial" panose="020B0604020202020204"/>
                  <a:ea typeface="Arial" panose="020B0604020202020204"/>
                  <a:cs typeface="Arial" panose="020B0604020202020204"/>
                </a:rPr>
                <a:t>↓</a:t>
              </a:r>
              <a:br>
                <a:rPr lang="zh-CN" sz="1500" b="1" dirty="0">
                  <a:solidFill>
                    <a:srgbClr val="262626"/>
                  </a:solidFill>
                  <a:latin typeface="Arial" panose="020B0604020202020204"/>
                  <a:ea typeface="Arial" panose="020B0604020202020204"/>
                  <a:cs typeface="Arial" panose="020B0604020202020204"/>
                </a:rPr>
              </a:br>
              <a:r>
                <a:rPr lang="zh-CN" sz="1500" b="1" dirty="0">
                  <a:solidFill>
                    <a:srgbClr val="262626"/>
                  </a:solidFill>
                  <a:latin typeface="Arial" panose="020B0604020202020204"/>
                  <a:ea typeface="微软雅黑" panose="020B0503020204020204" charset="-122"/>
                  <a:cs typeface="Arial" panose="020B0604020202020204"/>
                </a:rPr>
                <a:t>临界超平面与</a:t>
              </a:r>
              <a:br>
                <a:rPr lang="zh-CN" sz="1500" b="1" dirty="0">
                  <a:solidFill>
                    <a:srgbClr val="262626"/>
                  </a:solidFill>
                  <a:latin typeface="Arial" panose="020B0604020202020204"/>
                  <a:ea typeface="微软雅黑" panose="020B0503020204020204" charset="-122"/>
                  <a:cs typeface="Arial" panose="020B0604020202020204"/>
                </a:rPr>
              </a:br>
              <a:r>
                <a:rPr lang="zh-CN" sz="1500" b="1" dirty="0">
                  <a:solidFill>
                    <a:srgbClr val="262626"/>
                  </a:solidFill>
                  <a:latin typeface="Arial" panose="020B0604020202020204"/>
                  <a:ea typeface="微软雅黑" panose="020B0503020204020204" charset="-122"/>
                  <a:cs typeface="Arial" panose="020B0604020202020204"/>
                </a:rPr>
                <a:t>决策边界相交</a:t>
              </a:r>
              <a:br>
                <a:rPr lang="zh-CN" sz="1500" b="1" dirty="0">
                  <a:solidFill>
                    <a:srgbClr val="262626"/>
                  </a:solidFill>
                  <a:latin typeface="Arial" panose="020B0604020202020204"/>
                  <a:ea typeface="微软雅黑" panose="020B0503020204020204" charset="-122"/>
                  <a:cs typeface="Arial" panose="020B0604020202020204"/>
                </a:rPr>
              </a:br>
              <a:r>
                <a:rPr lang="zh-CN" sz="1500" b="1" dirty="0">
                  <a:solidFill>
                    <a:srgbClr val="262626"/>
                  </a:solidFill>
                  <a:latin typeface="Arial" panose="020B0604020202020204"/>
                  <a:ea typeface="Arial" panose="020B0604020202020204"/>
                  <a:cs typeface="Arial" panose="020B0604020202020204"/>
                </a:rPr>
                <a:t>↓</a:t>
              </a:r>
              <a:br>
                <a:rPr lang="zh-CN" sz="1500" b="1" dirty="0">
                  <a:solidFill>
                    <a:srgbClr val="262626"/>
                  </a:solidFill>
                  <a:latin typeface="Arial" panose="020B0604020202020204"/>
                  <a:ea typeface="Arial" panose="020B0604020202020204"/>
                  <a:cs typeface="Arial" panose="020B0604020202020204"/>
                </a:rPr>
              </a:br>
              <a:r>
                <a:rPr lang="zh-CN" sz="1500" b="1" dirty="0">
                  <a:solidFill>
                    <a:srgbClr val="262626"/>
                  </a:solidFill>
                  <a:latin typeface="Arial" panose="020B0604020202020204"/>
                  <a:ea typeface="微软雅黑" panose="020B0503020204020204" charset="-122"/>
                  <a:cs typeface="Arial" panose="020B0604020202020204"/>
                </a:rPr>
                <a:t>局部法向发生突变</a:t>
              </a:r>
              <a:br>
                <a:rPr lang="zh-CN" sz="1500" b="1" dirty="0">
                  <a:solidFill>
                    <a:srgbClr val="262626"/>
                  </a:solidFill>
                  <a:latin typeface="Arial" panose="020B0604020202020204"/>
                  <a:ea typeface="微软雅黑" panose="020B0503020204020204" charset="-122"/>
                  <a:cs typeface="Arial" panose="020B0604020202020204"/>
                </a:rPr>
              </a:br>
              <a:r>
                <a:rPr lang="zh-CN" sz="1500" b="1" dirty="0">
                  <a:solidFill>
                    <a:srgbClr val="262626"/>
                  </a:solidFill>
                  <a:latin typeface="Arial" panose="020B0604020202020204"/>
                  <a:ea typeface="Arial" panose="020B0604020202020204"/>
                  <a:cs typeface="Arial" panose="020B0604020202020204"/>
                </a:rPr>
                <a:t>↓</a:t>
              </a:r>
              <a:br>
                <a:rPr lang="zh-CN" sz="1500" b="1" dirty="0">
                  <a:solidFill>
                    <a:srgbClr val="262626"/>
                  </a:solidFill>
                  <a:latin typeface="Arial" panose="020B0604020202020204"/>
                  <a:ea typeface="Arial" panose="020B0604020202020204"/>
                  <a:cs typeface="Arial" panose="020B0604020202020204"/>
                </a:rPr>
              </a:br>
              <a:r>
                <a:rPr lang="zh-CN" sz="1500" b="1" dirty="0">
                  <a:solidFill>
                    <a:srgbClr val="262626"/>
                  </a:solidFill>
                  <a:latin typeface="Arial" panose="020B0604020202020204"/>
                  <a:ea typeface="微软雅黑" panose="020B0503020204020204" charset="-122"/>
                  <a:cs typeface="Arial" panose="020B0604020202020204"/>
                </a:rPr>
                <a:t>硬标签查询可感知</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4205606" y="5746750"/>
              <a:ext cx="3780790" cy="264160"/>
            </a:xfrm>
            <a:prstGeom prst="rect">
              <a:avLst/>
            </a:prstGeom>
            <a:noFill/>
            <a:ln>
              <a:noFill/>
            </a:ln>
          </p:spPr>
          <p:txBody>
            <a:bodyPr wrap="none" lIns="0" tIns="0" rIns="0" bIns="0" anchor="t" anchorCtr="0">
              <a:spAutoFit/>
            </a:bodyPr>
            <a:lstStyle/>
            <a:p>
              <a:pPr algn="ctr"/>
              <a:r>
                <a:rPr lang="zh-CN" sz="1720" b="1" dirty="0">
                  <a:solidFill>
                    <a:srgbClr val="C00000"/>
                  </a:solidFill>
                  <a:latin typeface="Arial" panose="020B0604020202020204"/>
                  <a:ea typeface="微软雅黑" panose="020B0503020204020204" charset="-122"/>
                  <a:cs typeface="Arial" panose="020B0604020202020204"/>
                </a:rPr>
                <a:t>对偶点 = ReLU 临界超平面 ∩ 决策边界</a:t>
              </a:r>
              <a:endParaRPr lang="zh-CN" sz="1720" b="1" dirty="0">
                <a:solidFill>
                  <a:srgbClr val="C00000"/>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19" name="TextBox 19"/>
          <p:cNvSpPr txBox="1"/>
          <p:nvPr/>
        </p:nvSpPr>
        <p:spPr>
          <a:xfrm>
            <a:off x="11409637" y="6359525"/>
            <a:ext cx="8246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9</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218379" rIns="0" bIns="0" anchor="t" anchorCtr="0">
            <a:noAutofit/>
          </a:bodyPr>
          <a:lstStyle/>
          <a:p>
            <a:pPr algn="l"/>
            <a:r>
              <a:rPr lang="zh-CN" sz="5400" b="1" dirty="0">
                <a:solidFill>
                  <a:srgbClr val="FFFFFF"/>
                </a:solidFill>
                <a:latin typeface="Arial" panose="020B0604020202020204"/>
                <a:ea typeface="微软雅黑" panose="020B0503020204020204" charset="-122"/>
                <a:cs typeface="Arial" panose="020B0604020202020204"/>
              </a:rPr>
              <a:t> 攻击方法</a:t>
            </a:r>
            <a:endParaRPr lang="zh-CN" sz="540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03</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p:nvPr>
            <p:ph type="sldNum" sz="quarter" idx="12"/>
          </p:nvPr>
        </p:nvSpPr>
        <p:spPr>
          <a:xfrm>
            <a:off x="8877586" y="6314408"/>
            <a:ext cx="2699956" cy="316802"/>
          </a:xfrm>
          <a:prstGeom prst="rect">
            <a:avLst/>
          </a:prstGeom>
          <a:noFill/>
          <a:ln>
            <a:noFill/>
          </a:ln>
        </p:spPr>
        <p:txBody>
          <a:bodyPr wrap="none" lIns="0" tIns="45712" rIns="91345" bIns="0" anchor="t" anchorCtr="0">
            <a:noAutofit/>
          </a:bodyPr>
          <a:lstStyle/>
          <a:p>
            <a:pPr algn="r"/>
            <a:r>
              <a:rPr lang="zh-CN" sz="1000" dirty="0">
                <a:solidFill>
                  <a:srgbClr val="404040"/>
                </a:solidFill>
                <a:latin typeface="Arial" panose="020B0604020202020204"/>
                <a:ea typeface="Arial" panose="020B0604020202020204"/>
                <a:cs typeface="Arial" panose="020B0604020202020204"/>
              </a:rPr>
              <a:t>10</a:t>
            </a:r>
            <a:endParaRPr lang="zh-CN" sz="100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32" name="page-body"/>
          <p:cNvGrpSpPr/>
          <p:nvPr/>
        </p:nvGrpSpPr>
        <p:grpSpPr>
          <a:xfrm>
            <a:off x="672846" y="1492250"/>
            <a:ext cx="10833354" cy="4932045"/>
            <a:chOff x="672846" y="1492250"/>
            <a:chExt cx="10833354" cy="4932045"/>
          </a:xfrm>
        </p:grpSpPr>
        <p:sp>
          <p:nvSpPr>
            <p:cNvPr id="10" name="TextBox 10"/>
            <p:cNvSpPr txBox="1"/>
            <p:nvPr/>
          </p:nvSpPr>
          <p:spPr>
            <a:xfrm>
              <a:off x="672846" y="1492250"/>
              <a:ext cx="7234809"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攻击按层推进：已恢复层会成为下一层的测量仪</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Ellipse 11"/>
            <p:cNvSpPr/>
            <p:nvPr/>
          </p:nvSpPr>
          <p:spPr>
            <a:xfrm>
              <a:off x="771525" y="2295525"/>
              <a:ext cx="514350" cy="514350"/>
            </a:xfrm>
            <a:prstGeom prst="ellipse">
              <a:avLst/>
            </a:prstGeom>
            <a:solidFill>
              <a:srgbClr val="005725"/>
            </a:solidFill>
            <a:ln>
              <a:noFill/>
            </a:ln>
          </p:spPr>
        </p:sp>
        <p:sp>
          <p:nvSpPr>
            <p:cNvPr id="12" name="TextBox 12"/>
            <p:cNvSpPr txBox="1"/>
            <p:nvPr/>
          </p:nvSpPr>
          <p:spPr>
            <a:xfrm>
              <a:off x="949587" y="2419350"/>
              <a:ext cx="15822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panose="020B0604020202020204"/>
                  <a:ea typeface="Arial" panose="020B0604020202020204"/>
                  <a:cs typeface="Arial" panose="020B0604020202020204"/>
                </a:rPr>
                <a:t>1</a:t>
              </a:r>
              <a:endParaRPr lang="zh-CN" sz="1800" b="1" dirty="0">
                <a:solidFill>
                  <a:srgbClr val="FFFFFF"/>
                </a:solidFill>
                <a:latin typeface="Arial" panose="020B0604020202020204"/>
                <a:ea typeface="Arial" panose="020B0604020202020204"/>
                <a:cs typeface="Arial" panose="020B0604020202020204"/>
              </a:endParaRPr>
            </a:p>
          </p:txBody>
        </p:sp>
        <p:sp>
          <p:nvSpPr>
            <p:cNvPr id="13" name="TextBox 13"/>
            <p:cNvSpPr txBox="1"/>
            <p:nvPr/>
          </p:nvSpPr>
          <p:spPr>
            <a:xfrm>
              <a:off x="1458087" y="2422525"/>
              <a:ext cx="1092200" cy="264160"/>
            </a:xfrm>
            <a:prstGeom prst="rect">
              <a:avLst/>
            </a:prstGeom>
            <a:noFill/>
            <a:ln>
              <a:noFill/>
            </a:ln>
          </p:spPr>
          <p:txBody>
            <a:bodyPr wrap="none" lIns="0" tIns="0" rIns="0" bIns="0" anchor="t" anchorCtr="0">
              <a:spAutoFit/>
            </a:bodyPr>
            <a:lstStyle/>
            <a:p>
              <a:pPr algn="l"/>
              <a:r>
                <a:rPr lang="zh-CN" sz="1720" b="1" dirty="0">
                  <a:solidFill>
                    <a:srgbClr val="262626"/>
                  </a:solidFill>
                  <a:latin typeface="Arial" panose="020B0604020202020204"/>
                  <a:ea typeface="微软雅黑" panose="020B0503020204020204" charset="-122"/>
                  <a:cs typeface="Arial" panose="020B0604020202020204"/>
                </a:rPr>
                <a:t>寻找</a:t>
              </a:r>
              <a:r>
                <a:rPr lang="zh-CN" sz="1720" b="1" dirty="0">
                  <a:solidFill>
                    <a:srgbClr val="262626"/>
                  </a:solidFill>
                  <a:latin typeface="Arial" panose="020B0604020202020204"/>
                  <a:ea typeface="微软雅黑" panose="020B0503020204020204" charset="-122"/>
                  <a:cs typeface="Arial" panose="020B0604020202020204"/>
                </a:rPr>
                <a:t>对偶点</a:t>
              </a:r>
              <a:endParaRPr lang="zh-CN" sz="1720" b="1" dirty="0">
                <a:solidFill>
                  <a:srgbClr val="262626"/>
                </a:solidFill>
                <a:latin typeface="Arial" panose="020B0604020202020204"/>
                <a:ea typeface="微软雅黑" panose="020B0503020204020204" charset="-122"/>
                <a:cs typeface="Arial" panose="020B0604020202020204"/>
              </a:endParaRPr>
            </a:p>
          </p:txBody>
        </p:sp>
        <p:sp>
          <p:nvSpPr>
            <p:cNvPr id="14" name="Line 14"/>
            <p:cNvSpPr/>
            <p:nvPr/>
          </p:nvSpPr>
          <p:spPr>
            <a:xfrm>
              <a:off x="1028700" y="2819400"/>
              <a:ext cx="9525" cy="266700"/>
            </a:xfrm>
            <a:custGeom>
              <a:avLst/>
              <a:gdLst/>
              <a:ahLst/>
              <a:cxnLst/>
              <a:rect l="l" t="t" r="r" b="b"/>
              <a:pathLst>
                <a:path w="9525" h="266700">
                  <a:moveTo>
                    <a:pt x="0" y="0"/>
                  </a:moveTo>
                  <a:lnTo>
                    <a:pt x="0" y="266700"/>
                  </a:lnTo>
                </a:path>
              </a:pathLst>
            </a:custGeom>
            <a:noFill/>
            <a:ln w="28575">
              <a:solidFill>
                <a:srgbClr val="7FAE92"/>
              </a:solidFill>
            </a:ln>
          </p:spPr>
        </p:sp>
        <p:sp>
          <p:nvSpPr>
            <p:cNvPr id="15" name="Ellipse 15"/>
            <p:cNvSpPr/>
            <p:nvPr/>
          </p:nvSpPr>
          <p:spPr>
            <a:xfrm>
              <a:off x="771525" y="3133725"/>
              <a:ext cx="514350" cy="514350"/>
            </a:xfrm>
            <a:prstGeom prst="ellipse">
              <a:avLst/>
            </a:prstGeom>
            <a:solidFill>
              <a:srgbClr val="005725"/>
            </a:solidFill>
            <a:ln>
              <a:noFill/>
            </a:ln>
          </p:spPr>
        </p:sp>
        <p:sp>
          <p:nvSpPr>
            <p:cNvPr id="16" name="TextBox 16"/>
            <p:cNvSpPr txBox="1"/>
            <p:nvPr/>
          </p:nvSpPr>
          <p:spPr>
            <a:xfrm>
              <a:off x="949587" y="3257550"/>
              <a:ext cx="15822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panose="020B0604020202020204"/>
                  <a:ea typeface="Arial" panose="020B0604020202020204"/>
                  <a:cs typeface="Arial" panose="020B0604020202020204"/>
                </a:rPr>
                <a:t>2</a:t>
              </a:r>
              <a:endParaRPr lang="zh-CN" sz="1800" b="1" dirty="0">
                <a:solidFill>
                  <a:srgbClr val="FFFFFF"/>
                </a:solidFill>
                <a:latin typeface="Arial" panose="020B0604020202020204"/>
                <a:ea typeface="Arial" panose="020B0604020202020204"/>
                <a:cs typeface="Arial" panose="020B0604020202020204"/>
              </a:endParaRPr>
            </a:p>
          </p:txBody>
        </p:sp>
        <p:sp>
          <p:nvSpPr>
            <p:cNvPr id="17" name="TextBox 17"/>
            <p:cNvSpPr txBox="1"/>
            <p:nvPr/>
          </p:nvSpPr>
          <p:spPr>
            <a:xfrm>
              <a:off x="1458087" y="3260725"/>
              <a:ext cx="1310640" cy="264160"/>
            </a:xfrm>
            <a:prstGeom prst="rect">
              <a:avLst/>
            </a:prstGeom>
            <a:noFill/>
            <a:ln>
              <a:noFill/>
            </a:ln>
          </p:spPr>
          <p:txBody>
            <a:bodyPr wrap="none" lIns="0" tIns="0" rIns="0" bIns="0" anchor="t" anchorCtr="0">
              <a:spAutoFit/>
            </a:bodyPr>
            <a:lstStyle/>
            <a:p>
              <a:pPr algn="l"/>
              <a:r>
                <a:rPr lang="zh-CN" sz="1720" b="1" dirty="0">
                  <a:solidFill>
                    <a:srgbClr val="262626"/>
                  </a:solidFill>
                  <a:latin typeface="Arial" panose="020B0604020202020204"/>
                  <a:ea typeface="微软雅黑" panose="020B0503020204020204" charset="-122"/>
                  <a:cs typeface="Arial" panose="020B0604020202020204"/>
                </a:rPr>
                <a:t>恢复</a:t>
              </a:r>
              <a:r>
                <a:rPr lang="zh-CN" sz="1720" b="1" dirty="0">
                  <a:solidFill>
                    <a:srgbClr val="262626"/>
                  </a:solidFill>
                  <a:latin typeface="Arial" panose="020B0604020202020204"/>
                  <a:ea typeface="微软雅黑" panose="020B0503020204020204" charset="-122"/>
                  <a:cs typeface="Arial" panose="020B0604020202020204"/>
                </a:rPr>
                <a:t>对偶空间</a:t>
              </a:r>
              <a:endParaRPr lang="zh-CN" sz="1720" b="1" dirty="0">
                <a:solidFill>
                  <a:srgbClr val="262626"/>
                </a:solidFill>
                <a:latin typeface="Arial" panose="020B0604020202020204"/>
                <a:ea typeface="微软雅黑" panose="020B0503020204020204" charset="-122"/>
                <a:cs typeface="Arial" panose="020B0604020202020204"/>
              </a:endParaRPr>
            </a:p>
          </p:txBody>
        </p:sp>
        <p:sp>
          <p:nvSpPr>
            <p:cNvPr id="18" name="Line 18"/>
            <p:cNvSpPr/>
            <p:nvPr/>
          </p:nvSpPr>
          <p:spPr>
            <a:xfrm>
              <a:off x="1028700" y="3657600"/>
              <a:ext cx="9525" cy="266700"/>
            </a:xfrm>
            <a:custGeom>
              <a:avLst/>
              <a:gdLst/>
              <a:ahLst/>
              <a:cxnLst/>
              <a:rect l="l" t="t" r="r" b="b"/>
              <a:pathLst>
                <a:path w="9525" h="266700">
                  <a:moveTo>
                    <a:pt x="0" y="0"/>
                  </a:moveTo>
                  <a:lnTo>
                    <a:pt x="0" y="266700"/>
                  </a:lnTo>
                </a:path>
              </a:pathLst>
            </a:custGeom>
            <a:noFill/>
            <a:ln w="28575">
              <a:solidFill>
                <a:srgbClr val="7FAE92"/>
              </a:solidFill>
            </a:ln>
          </p:spPr>
        </p:sp>
        <p:sp>
          <p:nvSpPr>
            <p:cNvPr id="19" name="Ellipse 19"/>
            <p:cNvSpPr/>
            <p:nvPr/>
          </p:nvSpPr>
          <p:spPr>
            <a:xfrm>
              <a:off x="771525" y="3971925"/>
              <a:ext cx="514350" cy="514350"/>
            </a:xfrm>
            <a:prstGeom prst="ellipse">
              <a:avLst/>
            </a:prstGeom>
            <a:solidFill>
              <a:srgbClr val="005725"/>
            </a:solidFill>
            <a:ln>
              <a:noFill/>
            </a:ln>
          </p:spPr>
        </p:sp>
        <p:sp>
          <p:nvSpPr>
            <p:cNvPr id="20" name="TextBox 20"/>
            <p:cNvSpPr txBox="1"/>
            <p:nvPr/>
          </p:nvSpPr>
          <p:spPr>
            <a:xfrm>
              <a:off x="949587" y="4095750"/>
              <a:ext cx="15822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panose="020B0604020202020204"/>
                  <a:ea typeface="Arial" panose="020B0604020202020204"/>
                  <a:cs typeface="Arial" panose="020B0604020202020204"/>
                </a:rPr>
                <a:t>3</a:t>
              </a:r>
              <a:endParaRPr lang="zh-CN" sz="1800" b="1" dirty="0">
                <a:solidFill>
                  <a:srgbClr val="FFFFFF"/>
                </a:solidFill>
                <a:latin typeface="Arial" panose="020B0604020202020204"/>
                <a:ea typeface="Arial" panose="020B0604020202020204"/>
                <a:cs typeface="Arial" panose="020B0604020202020204"/>
              </a:endParaRPr>
            </a:p>
          </p:txBody>
        </p:sp>
        <p:sp>
          <p:nvSpPr>
            <p:cNvPr id="21" name="TextBox 21"/>
            <p:cNvSpPr txBox="1"/>
            <p:nvPr/>
          </p:nvSpPr>
          <p:spPr>
            <a:xfrm>
              <a:off x="1458087" y="4098925"/>
              <a:ext cx="1638351" cy="337376"/>
            </a:xfrm>
            <a:prstGeom prst="rect">
              <a:avLst/>
            </a:prstGeom>
            <a:noFill/>
            <a:ln>
              <a:noFill/>
            </a:ln>
          </p:spPr>
          <p:txBody>
            <a:bodyPr wrap="none" lIns="0" tIns="0" rIns="0" bIns="0" anchor="t" anchorCtr="0">
              <a:spAutoFit/>
            </a:bodyPr>
            <a:lstStyle/>
            <a:p>
              <a:pPr algn="l"/>
              <a:r>
                <a:rPr lang="zh-CN" sz="1720" b="1" dirty="0">
                  <a:solidFill>
                    <a:srgbClr val="262626"/>
                  </a:solidFill>
                  <a:latin typeface="Arial" panose="020B0604020202020204"/>
                  <a:ea typeface="微软雅黑" panose="020B0503020204020204" charset="-122"/>
                  <a:cs typeface="Arial" panose="020B0604020202020204"/>
                </a:rPr>
                <a:t>聚类并恢复签名</a:t>
              </a:r>
              <a:endParaRPr lang="zh-CN" sz="1720" b="1" dirty="0">
                <a:solidFill>
                  <a:srgbClr val="262626"/>
                </a:solidFill>
                <a:latin typeface="Arial" panose="020B0604020202020204"/>
                <a:ea typeface="微软雅黑" panose="020B0503020204020204" charset="-122"/>
                <a:cs typeface="Arial" panose="020B0604020202020204"/>
              </a:endParaRPr>
            </a:p>
          </p:txBody>
        </p:sp>
        <p:sp>
          <p:nvSpPr>
            <p:cNvPr id="22" name="Line 22"/>
            <p:cNvSpPr/>
            <p:nvPr/>
          </p:nvSpPr>
          <p:spPr>
            <a:xfrm>
              <a:off x="1028700" y="4495800"/>
              <a:ext cx="9525" cy="266700"/>
            </a:xfrm>
            <a:custGeom>
              <a:avLst/>
              <a:gdLst/>
              <a:ahLst/>
              <a:cxnLst/>
              <a:rect l="l" t="t" r="r" b="b"/>
              <a:pathLst>
                <a:path w="9525" h="266700">
                  <a:moveTo>
                    <a:pt x="0" y="0"/>
                  </a:moveTo>
                  <a:lnTo>
                    <a:pt x="0" y="266700"/>
                  </a:lnTo>
                </a:path>
              </a:pathLst>
            </a:custGeom>
            <a:noFill/>
            <a:ln w="28575">
              <a:solidFill>
                <a:srgbClr val="7FAE92"/>
              </a:solidFill>
            </a:ln>
          </p:spPr>
        </p:sp>
        <p:sp>
          <p:nvSpPr>
            <p:cNvPr id="23" name="Ellipse 23"/>
            <p:cNvSpPr/>
            <p:nvPr/>
          </p:nvSpPr>
          <p:spPr>
            <a:xfrm>
              <a:off x="771525" y="4810125"/>
              <a:ext cx="514350" cy="514350"/>
            </a:xfrm>
            <a:prstGeom prst="ellipse">
              <a:avLst/>
            </a:prstGeom>
            <a:solidFill>
              <a:srgbClr val="005725"/>
            </a:solidFill>
            <a:ln>
              <a:noFill/>
            </a:ln>
          </p:spPr>
        </p:sp>
        <p:sp>
          <p:nvSpPr>
            <p:cNvPr id="24" name="TextBox 24"/>
            <p:cNvSpPr txBox="1"/>
            <p:nvPr/>
          </p:nvSpPr>
          <p:spPr>
            <a:xfrm>
              <a:off x="949587" y="4933950"/>
              <a:ext cx="15822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panose="020B0604020202020204"/>
                  <a:ea typeface="Arial" panose="020B0604020202020204"/>
                  <a:cs typeface="Arial" panose="020B0604020202020204"/>
                </a:rPr>
                <a:t>4</a:t>
              </a:r>
              <a:endParaRPr lang="zh-CN" sz="1800" b="1" dirty="0">
                <a:solidFill>
                  <a:srgbClr val="FFFFFF"/>
                </a:solidFill>
                <a:latin typeface="Arial" panose="020B0604020202020204"/>
                <a:ea typeface="Arial" panose="020B0604020202020204"/>
                <a:cs typeface="Arial" panose="020B0604020202020204"/>
              </a:endParaRPr>
            </a:p>
          </p:txBody>
        </p:sp>
        <p:sp>
          <p:nvSpPr>
            <p:cNvPr id="25" name="TextBox 25"/>
            <p:cNvSpPr txBox="1"/>
            <p:nvPr/>
          </p:nvSpPr>
          <p:spPr>
            <a:xfrm>
              <a:off x="1458087" y="4937125"/>
              <a:ext cx="2332990" cy="337376"/>
            </a:xfrm>
            <a:prstGeom prst="rect">
              <a:avLst/>
            </a:prstGeom>
            <a:noFill/>
            <a:ln>
              <a:noFill/>
            </a:ln>
          </p:spPr>
          <p:txBody>
            <a:bodyPr wrap="none" lIns="0" tIns="0" rIns="0" bIns="0" anchor="t" anchorCtr="0">
              <a:spAutoFit/>
            </a:bodyPr>
            <a:lstStyle/>
            <a:p>
              <a:pPr algn="l"/>
              <a:r>
                <a:rPr lang="zh-CN" sz="1720" b="1" dirty="0">
                  <a:solidFill>
                    <a:srgbClr val="262626"/>
                  </a:solidFill>
                  <a:latin typeface="Arial" panose="020B0604020202020204"/>
                  <a:ea typeface="微软雅黑" panose="020B0503020204020204" charset="-122"/>
                  <a:cs typeface="Arial" panose="020B0604020202020204"/>
                </a:rPr>
                <a:t>判定符号并推进下一层</a:t>
              </a:r>
              <a:endParaRPr lang="zh-CN" sz="1720" b="1" dirty="0">
                <a:solidFill>
                  <a:srgbClr val="262626"/>
                </a:solidFill>
                <a:latin typeface="Arial" panose="020B0604020202020204"/>
                <a:ea typeface="微软雅黑" panose="020B0503020204020204" charset="-122"/>
                <a:cs typeface="Arial" panose="020B0604020202020204"/>
              </a:endParaRPr>
            </a:p>
          </p:txBody>
        </p:sp>
        <p:sp>
          <p:nvSpPr>
            <p:cNvPr id="26" name="Rectangle 26"/>
            <p:cNvSpPr/>
            <p:nvPr/>
          </p:nvSpPr>
          <p:spPr>
            <a:xfrm>
              <a:off x="5048250" y="2152650"/>
              <a:ext cx="6457950" cy="3638550"/>
            </a:xfrm>
            <a:prstGeom prst="roundRect">
              <a:avLst>
                <a:gd name="adj" fmla="val 3141"/>
              </a:avLst>
            </a:prstGeom>
            <a:solidFill>
              <a:srgbClr val="FFFFFF"/>
            </a:solidFill>
            <a:ln w="19050">
              <a:solidFill>
                <a:srgbClr val="A6C9B4"/>
              </a:solidFill>
            </a:ln>
          </p:spPr>
        </p:sp>
        <p:pic>
          <p:nvPicPr>
            <p:cNvPr id="27" name="Image 27"/>
            <p:cNvPicPr>
              <a:picLocks noChangeAspect="1"/>
            </p:cNvPicPr>
            <p:nvPr/>
          </p:nvPicPr>
          <p:blipFill>
            <a:blip r:embed="rId4"/>
            <a:stretch>
              <a:fillRect/>
            </a:stretch>
          </p:blipFill>
          <p:spPr>
            <a:xfrm>
              <a:off x="5238750" y="2780156"/>
              <a:ext cx="6076950" cy="2202563"/>
            </a:xfrm>
            <a:prstGeom prst="rect">
              <a:avLst/>
            </a:prstGeom>
          </p:spPr>
        </p:pic>
        <p:sp>
          <p:nvSpPr>
            <p:cNvPr id="28" name="TextBox 28"/>
            <p:cNvSpPr/>
            <p:nvPr/>
          </p:nvSpPr>
          <p:spPr>
            <a:xfrm>
              <a:off x="6712268" y="5514975"/>
              <a:ext cx="3130010" cy="234696"/>
            </a:xfrm>
            <a:prstGeom prst="rect">
              <a:avLst/>
            </a:prstGeom>
            <a:noFill/>
            <a:ln>
              <a:noFill/>
            </a:ln>
          </p:spPr>
          <p:txBody>
            <a:bodyPr wrap="none" lIns="0" tIns="0" rIns="95" bIns="0" anchor="t" anchorCtr="0">
              <a:noAutofit/>
            </a:bodyPr>
            <a:lstStyle/>
            <a:p>
              <a:pPr algn="ctr"/>
              <a:r>
                <a:rPr lang="zh-CN" sz="1200" dirty="0">
                  <a:solidFill>
                    <a:srgbClr val="667085"/>
                  </a:solidFill>
                  <a:latin typeface="Arial" panose="020B0604020202020204"/>
                  <a:ea typeface="微软雅黑" panose="020B0503020204020204" charset="-122"/>
                  <a:cs typeface="Arial" panose="020B0604020202020204"/>
                </a:rPr>
                <a:t>图3：DNN 的逐层攻击结构</a:t>
              </a:r>
              <a:endParaRPr lang="zh-CN" sz="1200" dirty="0">
                <a:solidFill>
                  <a:srgbClr val="667085"/>
                </a:solidFill>
                <a:latin typeface="Arial" panose="020B0604020202020204"/>
                <a:ea typeface="微软雅黑" panose="020B0503020204020204" charset="-122"/>
                <a:cs typeface="Arial" panose="020B0604020202020204"/>
              </a:endParaRPr>
            </a:p>
          </p:txBody>
        </p:sp>
        <p:sp>
          <p:nvSpPr>
            <p:cNvPr id="29" name="Rectangle 29"/>
            <p:cNvSpPr/>
            <p:nvPr/>
          </p:nvSpPr>
          <p:spPr>
            <a:xfrm>
              <a:off x="685800" y="5838825"/>
              <a:ext cx="10820400" cy="400050"/>
            </a:xfrm>
            <a:prstGeom prst="roundRect">
              <a:avLst>
                <a:gd name="adj" fmla="val 19048"/>
              </a:avLst>
            </a:prstGeom>
            <a:solidFill>
              <a:srgbClr val="EAF4EE"/>
            </a:solidFill>
            <a:ln w="14288">
              <a:solidFill>
                <a:srgbClr val="8FBAA1"/>
              </a:solidFill>
            </a:ln>
          </p:spPr>
        </p:sp>
        <p:sp>
          <p:nvSpPr>
            <p:cNvPr id="30" name="TextBox 30"/>
            <p:cNvSpPr txBox="1"/>
            <p:nvPr/>
          </p:nvSpPr>
          <p:spPr>
            <a:xfrm>
              <a:off x="3665220" y="5927725"/>
              <a:ext cx="4861560" cy="293370"/>
            </a:xfrm>
            <a:prstGeom prst="rect">
              <a:avLst/>
            </a:prstGeom>
            <a:noFill/>
            <a:ln>
              <a:noFill/>
            </a:ln>
          </p:spPr>
          <p:txBody>
            <a:bodyPr wrap="none" lIns="0" tIns="0" rIns="0" bIns="0" anchor="t" anchorCtr="0">
              <a:spAutoFit/>
            </a:bodyPr>
            <a:lstStyle/>
            <a:p>
              <a:pPr algn="ctr"/>
              <a:r>
                <a:rPr lang="zh-CN" sz="1500" b="1" dirty="0">
                  <a:solidFill>
                    <a:srgbClr val="005725"/>
                  </a:solidFill>
                  <a:latin typeface="Arial" panose="020B0604020202020204"/>
                  <a:ea typeface="微软雅黑" panose="020B0503020204020204" charset="-122"/>
                  <a:cs typeface="Arial" panose="020B0604020202020204"/>
                </a:rPr>
                <a:t>每完成一层，后续搜索就在更低维的表示空间中继续。</a:t>
              </a:r>
              <a:endParaRPr lang="zh-CN" sz="1500" b="1" dirty="0">
                <a:solidFill>
                  <a:srgbClr val="005725"/>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33" name="TextBox 33"/>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11</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33" name="page-body"/>
          <p:cNvGrpSpPr/>
          <p:nvPr/>
        </p:nvGrpSpPr>
        <p:grpSpPr>
          <a:xfrm>
            <a:off x="590550" y="1425575"/>
            <a:ext cx="10915650" cy="4998720"/>
            <a:chOff x="590550" y="1425575"/>
            <a:chExt cx="10915650" cy="4998720"/>
          </a:xfrm>
        </p:grpSpPr>
        <p:sp>
          <p:nvSpPr>
            <p:cNvPr id="10" name="TextBox 10"/>
            <p:cNvSpPr txBox="1"/>
            <p:nvPr/>
          </p:nvSpPr>
          <p:spPr>
            <a:xfrm>
              <a:off x="672846" y="1425575"/>
              <a:ext cx="7772400" cy="391795"/>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如何找到</a:t>
              </a:r>
              <a:r>
                <a:rPr lang="zh-CN" sz="2550" b="1" dirty="0">
                  <a:solidFill>
                    <a:srgbClr val="005725"/>
                  </a:solidFill>
                  <a:latin typeface="Arial" panose="020B0604020202020204"/>
                  <a:ea typeface="微软雅黑" panose="020B0503020204020204" charset="-122"/>
                  <a:cs typeface="Arial" panose="020B0604020202020204"/>
                </a:rPr>
                <a:t>对偶点：在决策边界上“走”，检测方向突变</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590550" y="2076450"/>
              <a:ext cx="1809750" cy="666750"/>
            </a:xfrm>
            <a:prstGeom prst="roundRect">
              <a:avLst>
                <a:gd name="adj" fmla="val 14286"/>
              </a:avLst>
            </a:prstGeom>
            <a:solidFill>
              <a:srgbClr val="FFFFFF"/>
            </a:solidFill>
            <a:ln w="19050">
              <a:solidFill>
                <a:srgbClr val="8FBAA1"/>
              </a:solidFill>
            </a:ln>
          </p:spPr>
        </p:sp>
        <p:sp>
          <p:nvSpPr>
            <p:cNvPr id="12" name="TextBox 12"/>
            <p:cNvSpPr txBox="1"/>
            <p:nvPr/>
          </p:nvSpPr>
          <p:spPr>
            <a:xfrm>
              <a:off x="834561" y="2317750"/>
              <a:ext cx="1321727" cy="293370"/>
            </a:xfrm>
            <a:prstGeom prst="rect">
              <a:avLst/>
            </a:prstGeom>
            <a:noFill/>
            <a:ln>
              <a:noFill/>
            </a:ln>
          </p:spPr>
          <p:txBody>
            <a:bodyPr wrap="none" lIns="0" tIns="0" rIns="0" bIns="0" anchor="t" anchorCtr="0">
              <a:spAutoFit/>
            </a:bodyPr>
            <a:lstStyle/>
            <a:p>
              <a:pPr algn="ctr"/>
              <a:r>
                <a:rPr lang="zh-CN" sz="1500" b="1" dirty="0">
                  <a:solidFill>
                    <a:srgbClr val="262626"/>
                  </a:solidFill>
                  <a:latin typeface="Arial" panose="020B0604020202020204"/>
                  <a:ea typeface="微软雅黑" panose="020B0503020204020204" charset="-122"/>
                  <a:cs typeface="Arial" panose="020B0604020202020204"/>
                </a:rPr>
                <a:t>1. 二分到边界</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13" name="Freeform 13"/>
            <p:cNvSpPr/>
            <p:nvPr/>
          </p:nvSpPr>
          <p:spPr>
            <a:xfrm>
              <a:off x="2438400" y="2409825"/>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14" name="Freeform 14"/>
            <p:cNvSpPr/>
            <p:nvPr/>
          </p:nvSpPr>
          <p:spPr>
            <a:xfrm>
              <a:off x="2676525" y="2352675"/>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15" name="Rectangle 15"/>
            <p:cNvSpPr/>
            <p:nvPr/>
          </p:nvSpPr>
          <p:spPr>
            <a:xfrm>
              <a:off x="2838450" y="2076450"/>
              <a:ext cx="1809750" cy="666750"/>
            </a:xfrm>
            <a:prstGeom prst="roundRect">
              <a:avLst>
                <a:gd name="adj" fmla="val 14286"/>
              </a:avLst>
            </a:prstGeom>
            <a:solidFill>
              <a:srgbClr val="FFFFFF"/>
            </a:solidFill>
            <a:ln w="19050">
              <a:solidFill>
                <a:srgbClr val="8FBAA1"/>
              </a:solidFill>
            </a:ln>
          </p:spPr>
        </p:sp>
        <p:sp>
          <p:nvSpPr>
            <p:cNvPr id="16" name="TextBox 16"/>
            <p:cNvSpPr txBox="1"/>
            <p:nvPr/>
          </p:nvSpPr>
          <p:spPr>
            <a:xfrm>
              <a:off x="2981496" y="2317750"/>
              <a:ext cx="1523657" cy="293370"/>
            </a:xfrm>
            <a:prstGeom prst="rect">
              <a:avLst/>
            </a:prstGeom>
            <a:noFill/>
            <a:ln>
              <a:noFill/>
            </a:ln>
          </p:spPr>
          <p:txBody>
            <a:bodyPr wrap="none" lIns="0" tIns="0" rIns="0" bIns="0" anchor="t" anchorCtr="0">
              <a:spAutoFit/>
            </a:bodyPr>
            <a:lstStyle/>
            <a:p>
              <a:pPr algn="ctr"/>
              <a:r>
                <a:rPr lang="zh-CN" sz="1500" b="1" dirty="0">
                  <a:solidFill>
                    <a:srgbClr val="262626"/>
                  </a:solidFill>
                  <a:latin typeface="Arial" panose="020B0604020202020204"/>
                  <a:ea typeface="微软雅黑" panose="020B0503020204020204" charset="-122"/>
                  <a:cs typeface="Arial" panose="020B0604020202020204"/>
                </a:rPr>
                <a:t>2. 估计局部法向</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17" name="Freeform 17"/>
            <p:cNvSpPr/>
            <p:nvPr/>
          </p:nvSpPr>
          <p:spPr>
            <a:xfrm>
              <a:off x="4686300" y="2409825"/>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18" name="Freeform 18"/>
            <p:cNvSpPr/>
            <p:nvPr/>
          </p:nvSpPr>
          <p:spPr>
            <a:xfrm>
              <a:off x="4924425" y="2352675"/>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19" name="Rectangle 19"/>
            <p:cNvSpPr/>
            <p:nvPr/>
          </p:nvSpPr>
          <p:spPr>
            <a:xfrm>
              <a:off x="5086350" y="2076450"/>
              <a:ext cx="1809750" cy="666750"/>
            </a:xfrm>
            <a:prstGeom prst="roundRect">
              <a:avLst>
                <a:gd name="adj" fmla="val 14286"/>
              </a:avLst>
            </a:prstGeom>
            <a:solidFill>
              <a:srgbClr val="FFFFFF"/>
            </a:solidFill>
            <a:ln w="19050">
              <a:solidFill>
                <a:srgbClr val="8FBAA1"/>
              </a:solidFill>
            </a:ln>
          </p:spPr>
        </p:sp>
        <p:sp>
          <p:nvSpPr>
            <p:cNvPr id="20" name="TextBox 20"/>
            <p:cNvSpPr txBox="1"/>
            <p:nvPr/>
          </p:nvSpPr>
          <p:spPr>
            <a:xfrm>
              <a:off x="5330361" y="2317750"/>
              <a:ext cx="1321727" cy="293370"/>
            </a:xfrm>
            <a:prstGeom prst="rect">
              <a:avLst/>
            </a:prstGeom>
            <a:noFill/>
            <a:ln>
              <a:noFill/>
            </a:ln>
          </p:spPr>
          <p:txBody>
            <a:bodyPr wrap="none" lIns="0" tIns="0" rIns="0" bIns="0" anchor="t" anchorCtr="0">
              <a:spAutoFit/>
            </a:bodyPr>
            <a:lstStyle/>
            <a:p>
              <a:pPr algn="ctr"/>
              <a:r>
                <a:rPr lang="zh-CN" sz="1500" b="1" dirty="0">
                  <a:solidFill>
                    <a:srgbClr val="262626"/>
                  </a:solidFill>
                  <a:latin typeface="Arial" panose="020B0604020202020204"/>
                  <a:ea typeface="微软雅黑" panose="020B0503020204020204" charset="-122"/>
                  <a:cs typeface="Arial" panose="020B0604020202020204"/>
                </a:rPr>
                <a:t>3. 沿切向移动</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21" name="Freeform 21"/>
            <p:cNvSpPr/>
            <p:nvPr/>
          </p:nvSpPr>
          <p:spPr>
            <a:xfrm>
              <a:off x="6934200" y="2409825"/>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22" name="Freeform 22"/>
            <p:cNvSpPr/>
            <p:nvPr/>
          </p:nvSpPr>
          <p:spPr>
            <a:xfrm>
              <a:off x="7172325" y="2352675"/>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23" name="Rectangle 23"/>
            <p:cNvSpPr/>
            <p:nvPr/>
          </p:nvSpPr>
          <p:spPr>
            <a:xfrm>
              <a:off x="7334250" y="2076450"/>
              <a:ext cx="1809750" cy="666750"/>
            </a:xfrm>
            <a:prstGeom prst="roundRect">
              <a:avLst>
                <a:gd name="adj" fmla="val 14286"/>
              </a:avLst>
            </a:prstGeom>
            <a:solidFill>
              <a:srgbClr val="FFFFFF"/>
            </a:solidFill>
            <a:ln w="19050">
              <a:solidFill>
                <a:srgbClr val="8FBAA1"/>
              </a:solidFill>
            </a:ln>
          </p:spPr>
        </p:sp>
        <p:sp>
          <p:nvSpPr>
            <p:cNvPr id="24" name="TextBox 24"/>
            <p:cNvSpPr txBox="1"/>
            <p:nvPr/>
          </p:nvSpPr>
          <p:spPr>
            <a:xfrm>
              <a:off x="7679226" y="2317750"/>
              <a:ext cx="1119797" cy="293370"/>
            </a:xfrm>
            <a:prstGeom prst="rect">
              <a:avLst/>
            </a:prstGeom>
            <a:noFill/>
            <a:ln>
              <a:noFill/>
            </a:ln>
          </p:spPr>
          <p:txBody>
            <a:bodyPr wrap="none" lIns="0" tIns="0" rIns="0" bIns="0" anchor="t" anchorCtr="0">
              <a:spAutoFit/>
            </a:bodyPr>
            <a:lstStyle/>
            <a:p>
              <a:pPr algn="ctr"/>
              <a:r>
                <a:rPr lang="zh-CN" sz="1500" b="1" dirty="0">
                  <a:solidFill>
                    <a:srgbClr val="262626"/>
                  </a:solidFill>
                  <a:latin typeface="Arial" panose="020B0604020202020204"/>
                  <a:ea typeface="微软雅黑" panose="020B0503020204020204" charset="-122"/>
                  <a:cs typeface="Arial" panose="020B0604020202020204"/>
                </a:rPr>
                <a:t>4. 重新投影</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25" name="Freeform 25"/>
            <p:cNvSpPr/>
            <p:nvPr/>
          </p:nvSpPr>
          <p:spPr>
            <a:xfrm>
              <a:off x="9182100" y="2409825"/>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26" name="Freeform 26"/>
            <p:cNvSpPr/>
            <p:nvPr/>
          </p:nvSpPr>
          <p:spPr>
            <a:xfrm>
              <a:off x="9420225" y="2352675"/>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27" name="Rectangle 27"/>
            <p:cNvSpPr/>
            <p:nvPr/>
          </p:nvSpPr>
          <p:spPr>
            <a:xfrm>
              <a:off x="9582150" y="2076450"/>
              <a:ext cx="1809750" cy="666750"/>
            </a:xfrm>
            <a:prstGeom prst="roundRect">
              <a:avLst>
                <a:gd name="adj" fmla="val 14286"/>
              </a:avLst>
            </a:prstGeom>
            <a:solidFill>
              <a:srgbClr val="EAF4EE"/>
            </a:solidFill>
            <a:ln w="19050">
              <a:solidFill>
                <a:srgbClr val="8FBAA1"/>
              </a:solidFill>
            </a:ln>
          </p:spPr>
        </p:sp>
        <p:sp>
          <p:nvSpPr>
            <p:cNvPr id="28" name="TextBox 28"/>
            <p:cNvSpPr txBox="1"/>
            <p:nvPr/>
          </p:nvSpPr>
          <p:spPr>
            <a:xfrm>
              <a:off x="9725196" y="2317750"/>
              <a:ext cx="1523657" cy="293370"/>
            </a:xfrm>
            <a:prstGeom prst="rect">
              <a:avLst/>
            </a:prstGeom>
            <a:noFill/>
            <a:ln>
              <a:noFill/>
            </a:ln>
          </p:spPr>
          <p:txBody>
            <a:bodyPr wrap="none" lIns="0" tIns="0" rIns="0" bIns="0" anchor="t" anchorCtr="0">
              <a:spAutoFit/>
            </a:bodyPr>
            <a:lstStyle/>
            <a:p>
              <a:pPr algn="ctr"/>
              <a:r>
                <a:rPr lang="zh-CN" sz="1500" b="1" dirty="0">
                  <a:solidFill>
                    <a:srgbClr val="005725"/>
                  </a:solidFill>
                  <a:latin typeface="Arial" panose="020B0604020202020204"/>
                  <a:ea typeface="微软雅黑" panose="020B0503020204020204" charset="-122"/>
                  <a:cs typeface="Arial" panose="020B0604020202020204"/>
                </a:rPr>
                <a:t>5. 检测法向突变</a:t>
              </a:r>
              <a:endParaRPr lang="zh-CN" sz="1500" b="1" dirty="0">
                <a:solidFill>
                  <a:srgbClr val="005725"/>
                </a:solidFill>
                <a:latin typeface="Arial" panose="020B0604020202020204"/>
                <a:ea typeface="微软雅黑" panose="020B0503020204020204" charset="-122"/>
                <a:cs typeface="Arial" panose="020B0604020202020204"/>
              </a:endParaRPr>
            </a:p>
          </p:txBody>
        </p:sp>
        <p:sp>
          <p:nvSpPr>
            <p:cNvPr id="29" name="Rectangle 29"/>
            <p:cNvSpPr/>
            <p:nvPr/>
          </p:nvSpPr>
          <p:spPr>
            <a:xfrm>
              <a:off x="685800" y="3028950"/>
              <a:ext cx="10820400" cy="2781300"/>
            </a:xfrm>
            <a:prstGeom prst="roundRect">
              <a:avLst>
                <a:gd name="adj" fmla="val 4110"/>
              </a:avLst>
            </a:prstGeom>
            <a:solidFill>
              <a:srgbClr val="FFFFFF"/>
            </a:solidFill>
            <a:ln w="19050">
              <a:solidFill>
                <a:srgbClr val="A6C9B4"/>
              </a:solidFill>
            </a:ln>
          </p:spPr>
        </p:sp>
        <p:pic>
          <p:nvPicPr>
            <p:cNvPr id="30" name="Image 30"/>
            <p:cNvPicPr>
              <a:picLocks noChangeAspect="1"/>
            </p:cNvPicPr>
            <p:nvPr/>
          </p:nvPicPr>
          <p:blipFill>
            <a:blip r:embed="rId4"/>
            <a:stretch>
              <a:fillRect/>
            </a:stretch>
          </p:blipFill>
          <p:spPr>
            <a:xfrm>
              <a:off x="3243172" y="3219450"/>
              <a:ext cx="5705657" cy="2286000"/>
            </a:xfrm>
            <a:prstGeom prst="rect">
              <a:avLst/>
            </a:prstGeom>
          </p:spPr>
        </p:pic>
        <p:sp>
          <p:nvSpPr>
            <p:cNvPr id="31" name="TextBox 31"/>
            <p:cNvSpPr/>
            <p:nvPr/>
          </p:nvSpPr>
          <p:spPr>
            <a:xfrm>
              <a:off x="3544824" y="5549932"/>
              <a:ext cx="5102352" cy="264033"/>
            </a:xfrm>
            <a:prstGeom prst="rect">
              <a:avLst/>
            </a:prstGeom>
            <a:noFill/>
            <a:ln>
              <a:noFill/>
            </a:ln>
          </p:spPr>
          <p:txBody>
            <a:bodyPr wrap="none" lIns="0" tIns="-32" rIns="0" bIns="0" anchor="t" anchorCtr="0">
              <a:noAutofit/>
            </a:bodyPr>
            <a:lstStyle/>
            <a:p>
              <a:pPr algn="ctr"/>
              <a:r>
                <a:rPr lang="zh-CN" sz="1350" dirty="0">
                  <a:solidFill>
                    <a:srgbClr val="667085"/>
                  </a:solidFill>
                  <a:latin typeface="Arial" panose="020B0604020202020204"/>
                  <a:ea typeface="微软雅黑" panose="020B0503020204020204" charset="-122"/>
                  <a:cs typeface="Arial" panose="020B0604020202020204"/>
                </a:rPr>
                <a:t>图5：</a:t>
              </a:r>
              <a:r>
                <a:rPr lang="zh-CN" sz="1350" dirty="0">
                  <a:solidFill>
                    <a:srgbClr val="667085"/>
                  </a:solidFill>
                  <a:latin typeface="Arial" panose="020B0604020202020204"/>
                  <a:ea typeface="微软雅黑" panose="020B0503020204020204" charset="-122"/>
                  <a:cs typeface="Arial" panose="020B0604020202020204"/>
                </a:rPr>
                <a:t>对偶点寻找算法示意图</a:t>
              </a:r>
              <a:endParaRPr lang="zh-CN" sz="1350" dirty="0">
                <a:solidFill>
                  <a:srgbClr val="667085"/>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34" name="TextBox 34"/>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12</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9" name="page-body"/>
          <p:cNvGrpSpPr/>
          <p:nvPr/>
        </p:nvGrpSpPr>
        <p:grpSpPr>
          <a:xfrm>
            <a:off x="674370" y="1477645"/>
            <a:ext cx="10839450" cy="4932045"/>
            <a:chOff x="666750" y="1492250"/>
            <a:chExt cx="10839450" cy="4932045"/>
          </a:xfrm>
        </p:grpSpPr>
        <p:sp>
          <p:nvSpPr>
            <p:cNvPr id="10" name="TextBox 10"/>
            <p:cNvSpPr txBox="1"/>
            <p:nvPr/>
          </p:nvSpPr>
          <p:spPr>
            <a:xfrm>
              <a:off x="672846" y="1492250"/>
              <a:ext cx="6477000" cy="391795"/>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签名恢复：多个</a:t>
              </a:r>
              <a:r>
                <a:rPr lang="zh-CN" sz="2550" b="1" dirty="0">
                  <a:solidFill>
                    <a:srgbClr val="005725"/>
                  </a:solidFill>
                  <a:latin typeface="Arial" panose="020B0604020202020204"/>
                  <a:ea typeface="微软雅黑" panose="020B0503020204020204" charset="-122"/>
                  <a:cs typeface="Arial" panose="020B0604020202020204"/>
                </a:rPr>
                <a:t>对偶空间共同确定一个神经元</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52650"/>
              <a:ext cx="6477000" cy="3619500"/>
            </a:xfrm>
            <a:prstGeom prst="roundRect">
              <a:avLst>
                <a:gd name="adj" fmla="val 3158"/>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76300" y="2677643"/>
              <a:ext cx="6057900" cy="2350439"/>
            </a:xfrm>
            <a:prstGeom prst="rect">
              <a:avLst/>
            </a:prstGeom>
          </p:spPr>
        </p:pic>
        <p:sp>
          <p:nvSpPr>
            <p:cNvPr id="13" name="TextBox 13"/>
            <p:cNvSpPr/>
            <p:nvPr/>
          </p:nvSpPr>
          <p:spPr>
            <a:xfrm>
              <a:off x="2364486" y="5486400"/>
              <a:ext cx="3081528" cy="234696"/>
            </a:xfrm>
            <a:prstGeom prst="rect">
              <a:avLst/>
            </a:prstGeom>
            <a:noFill/>
            <a:ln>
              <a:noFill/>
            </a:ln>
          </p:spPr>
          <p:txBody>
            <a:bodyPr wrap="none" lIns="0" tIns="0" rIns="0" bIns="0" anchor="t" anchorCtr="0">
              <a:noAutofit/>
            </a:bodyPr>
            <a:lstStyle/>
            <a:p>
              <a:pPr algn="ctr"/>
              <a:r>
                <a:rPr lang="zh-CN" sz="1200" dirty="0">
                  <a:solidFill>
                    <a:srgbClr val="667085"/>
                  </a:solidFill>
                  <a:latin typeface="Arial" panose="020B0604020202020204"/>
                  <a:ea typeface="微软雅黑" panose="020B0503020204020204" charset="-122"/>
                  <a:cs typeface="Arial" panose="020B0604020202020204"/>
                </a:rPr>
                <a:t>图8：</a:t>
              </a:r>
              <a:r>
                <a:rPr lang="zh-CN" sz="1200" dirty="0">
                  <a:solidFill>
                    <a:srgbClr val="667085"/>
                  </a:solidFill>
                  <a:latin typeface="Arial" panose="020B0604020202020204"/>
                  <a:ea typeface="微软雅黑" panose="020B0503020204020204" charset="-122"/>
                  <a:cs typeface="Arial" panose="020B0604020202020204"/>
                </a:rPr>
                <a:t>对偶点一致性检验结果</a:t>
              </a:r>
              <a:endParaRPr lang="zh-CN" sz="1200" dirty="0">
                <a:solidFill>
                  <a:srgbClr val="667085"/>
                </a:solidFill>
                <a:latin typeface="Arial" panose="020B0604020202020204"/>
                <a:ea typeface="微软雅黑" panose="020B0503020204020204" charset="-122"/>
                <a:cs typeface="Arial" panose="020B0604020202020204"/>
              </a:endParaRPr>
            </a:p>
          </p:txBody>
        </p:sp>
        <p:sp>
          <p:nvSpPr>
            <p:cNvPr id="14" name="Rectangle 14"/>
            <p:cNvSpPr/>
            <p:nvPr/>
          </p:nvSpPr>
          <p:spPr>
            <a:xfrm>
              <a:off x="7429500" y="2152650"/>
              <a:ext cx="4076700" cy="3619500"/>
            </a:xfrm>
            <a:prstGeom prst="roundRect">
              <a:avLst>
                <a:gd name="adj" fmla="val 3158"/>
              </a:avLst>
            </a:prstGeom>
            <a:solidFill>
              <a:srgbClr val="F3F8F5"/>
            </a:solidFill>
            <a:ln w="19050">
              <a:solidFill>
                <a:srgbClr val="A6C9B4"/>
              </a:solidFill>
            </a:ln>
          </p:spPr>
        </p:sp>
        <p:sp>
          <p:nvSpPr>
            <p:cNvPr id="15" name="TextBox 15"/>
            <p:cNvSpPr txBox="1"/>
            <p:nvPr/>
          </p:nvSpPr>
          <p:spPr>
            <a:xfrm>
              <a:off x="7742682" y="2403475"/>
              <a:ext cx="1152144" cy="410718"/>
            </a:xfrm>
            <a:prstGeom prst="rect">
              <a:avLst/>
            </a:prstGeom>
            <a:noFill/>
            <a:ln>
              <a:noFill/>
            </a:ln>
          </p:spPr>
          <p:txBody>
            <a:bodyPr wrap="none" lIns="0" tIns="0" rIns="0" bIns="0" anchor="t" anchorCtr="0">
              <a:spAutoFit/>
            </a:bodyPr>
            <a:lstStyle/>
            <a:p>
              <a:pPr algn="l"/>
              <a:r>
                <a:rPr lang="zh-CN" sz="2100" b="1" dirty="0">
                  <a:solidFill>
                    <a:srgbClr val="005725"/>
                  </a:solidFill>
                  <a:latin typeface="Arial" panose="020B0604020202020204"/>
                  <a:ea typeface="微软雅黑" panose="020B0503020204020204" charset="-122"/>
                  <a:cs typeface="Arial" panose="020B0604020202020204"/>
                </a:rPr>
                <a:t>恢复步骤</a:t>
              </a:r>
              <a:endParaRPr lang="zh-CN" sz="2100" b="1" dirty="0">
                <a:solidFill>
                  <a:srgbClr val="005725"/>
                </a:solidFill>
                <a:latin typeface="Arial" panose="020B0604020202020204"/>
                <a:ea typeface="微软雅黑" panose="020B0503020204020204" charset="-122"/>
                <a:cs typeface="Arial" panose="020B0604020202020204"/>
              </a:endParaRPr>
            </a:p>
          </p:txBody>
        </p:sp>
        <p:sp>
          <p:nvSpPr>
            <p:cNvPr id="16" name="TextBox 16"/>
            <p:cNvSpPr/>
            <p:nvPr/>
          </p:nvSpPr>
          <p:spPr>
            <a:xfrm>
              <a:off x="7745730" y="2841593"/>
              <a:ext cx="3429000" cy="2171700"/>
            </a:xfrm>
            <a:prstGeom prst="rect">
              <a:avLst/>
            </a:prstGeom>
            <a:noFill/>
            <a:ln>
              <a:noFill/>
            </a:ln>
          </p:spPr>
          <p:txBody>
            <a:bodyPr wrap="none" lIns="0" tIns="9557" rIns="0" bIns="0" anchor="t" anchorCtr="0">
              <a:noAutofit/>
            </a:bodyPr>
            <a:lstStyle/>
            <a:p>
              <a:pPr algn="l">
                <a:lnSpc>
                  <a:spcPct val="150000"/>
                </a:lnSpc>
              </a:pPr>
              <a:r>
                <a:rPr lang="zh-CN" sz="1350" dirty="0">
                  <a:solidFill>
                    <a:srgbClr val="262626"/>
                  </a:solidFill>
                  <a:latin typeface="Arial" panose="020B0604020202020204"/>
                  <a:ea typeface="微软雅黑" panose="020B0503020204020204" charset="-122"/>
                  <a:cs typeface="Arial" panose="020B0604020202020204"/>
                </a:rPr>
                <a:t>1 ：每个对偶点 → 局部对偶空间</a:t>
              </a:r>
              <a:r>
                <a:rPr lang="en-US" altLang="zh-CN" sz="1350" dirty="0">
                  <a:solidFill>
                    <a:srgbClr val="262626"/>
                  </a:solidFill>
                  <a:latin typeface="Arial" panose="020B0604020202020204"/>
                  <a:ea typeface="微软雅黑" panose="020B0503020204020204" charset="-122"/>
                  <a:cs typeface="Arial" panose="020B0604020202020204"/>
                </a:rPr>
                <a:t>D</a:t>
              </a:r>
              <a:r>
                <a:rPr lang="en-US" altLang="zh-CN" sz="1350" baseline="-25000" dirty="0">
                  <a:solidFill>
                    <a:srgbClr val="262626"/>
                  </a:solidFill>
                  <a:latin typeface="Arial" panose="020B0604020202020204"/>
                  <a:ea typeface="微软雅黑" panose="020B0503020204020204" charset="-122"/>
                  <a:cs typeface="Arial" panose="020B0604020202020204"/>
                </a:rPr>
                <a:t>i</a:t>
              </a:r>
              <a:br>
                <a:rPr lang="zh-CN" sz="1350" dirty="0">
                  <a:solidFill>
                    <a:srgbClr val="262626"/>
                  </a:solidFill>
                  <a:latin typeface="Arial" panose="020B0604020202020204"/>
                  <a:ea typeface="微软雅黑" panose="020B0503020204020204" charset="-122"/>
                  <a:cs typeface="Arial" panose="020B0604020202020204"/>
                </a:rPr>
              </a:br>
              <a:r>
                <a:rPr lang="zh-CN" sz="1350" dirty="0">
                  <a:solidFill>
                    <a:srgbClr val="262626"/>
                  </a:solidFill>
                  <a:latin typeface="Arial" panose="020B0604020202020204"/>
                  <a:ea typeface="微软雅黑" panose="020B0503020204020204" charset="-122"/>
                  <a:cs typeface="Arial" panose="020B0604020202020204"/>
                </a:rPr>
                <a:t>2 ：</a:t>
              </a:r>
              <a:r>
                <a:rPr lang="zh-CN" altLang="en-US" sz="1350" dirty="0">
                  <a:solidFill>
                    <a:srgbClr val="262626"/>
                  </a:solidFill>
                  <a:latin typeface="Arial" panose="020B0604020202020204"/>
                  <a:ea typeface="微软雅黑" panose="020B0503020204020204" charset="-122"/>
                  <a:cs typeface="Arial" panose="020B0604020202020204"/>
                </a:rPr>
                <a:t>任取两个对偶点对应的对偶空间，计</a:t>
              </a:r>
              <a:endParaRPr lang="zh-CN" altLang="en-US" sz="1350" dirty="0">
                <a:solidFill>
                  <a:srgbClr val="262626"/>
                </a:solidFill>
                <a:latin typeface="Arial" panose="020B0604020202020204"/>
                <a:ea typeface="微软雅黑" panose="020B0503020204020204" charset="-122"/>
                <a:cs typeface="Arial" panose="020B0604020202020204"/>
              </a:endParaRPr>
            </a:p>
            <a:p>
              <a:pPr algn="l">
                <a:lnSpc>
                  <a:spcPct val="150000"/>
                </a:lnSpc>
              </a:pPr>
              <a:r>
                <a:rPr lang="en-US" altLang="zh-CN" sz="1350" dirty="0">
                  <a:solidFill>
                    <a:srgbClr val="262626"/>
                  </a:solidFill>
                  <a:latin typeface="Arial" panose="020B0604020202020204"/>
                  <a:ea typeface="微软雅黑" panose="020B0503020204020204" charset="-122"/>
                  <a:cs typeface="Arial" panose="020B0604020202020204"/>
                </a:rPr>
                <a:t>       </a:t>
              </a:r>
              <a:r>
                <a:rPr lang="zh-CN" altLang="en-US" sz="1350" dirty="0">
                  <a:solidFill>
                    <a:srgbClr val="262626"/>
                  </a:solidFill>
                  <a:latin typeface="Arial" panose="020B0604020202020204"/>
                  <a:ea typeface="微软雅黑" panose="020B0503020204020204" charset="-122"/>
                  <a:cs typeface="Arial" panose="020B0604020202020204"/>
                </a:rPr>
                <a:t>算它们的并空间</a:t>
              </a:r>
              <a:r>
                <a:rPr lang="en-US" sz="1350" dirty="0">
                  <a:solidFill>
                    <a:srgbClr val="262626"/>
                  </a:solidFill>
                  <a:latin typeface="Arial" panose="020B0604020202020204"/>
                  <a:ea typeface="Arial" panose="020B0604020202020204"/>
                  <a:cs typeface="Arial" panose="020B0604020202020204"/>
                </a:rPr>
                <a:t>E = </a:t>
              </a:r>
              <a:r>
                <a:rPr lang="en-US" altLang="zh-CN" sz="1350" dirty="0">
                  <a:solidFill>
                    <a:srgbClr val="262626"/>
                  </a:solidFill>
                  <a:latin typeface="Arial" panose="020B0604020202020204"/>
                  <a:ea typeface="微软雅黑" panose="020B0503020204020204" charset="-122"/>
                  <a:cs typeface="Arial" panose="020B0604020202020204"/>
                  <a:sym typeface="+mn-ea"/>
                </a:rPr>
                <a:t>D</a:t>
              </a:r>
              <a:r>
                <a:rPr lang="en-US" altLang="zh-CN" sz="1350" baseline="-25000" dirty="0">
                  <a:solidFill>
                    <a:srgbClr val="262626"/>
                  </a:solidFill>
                  <a:latin typeface="Arial" panose="020B0604020202020204"/>
                  <a:ea typeface="微软雅黑" panose="020B0503020204020204" charset="-122"/>
                  <a:cs typeface="Arial" panose="020B0604020202020204"/>
                  <a:sym typeface="+mn-ea"/>
                </a:rPr>
                <a:t>i</a:t>
              </a:r>
              <a:r>
                <a:rPr lang="en-US" sz="1350" dirty="0">
                  <a:solidFill>
                    <a:srgbClr val="262626"/>
                  </a:solidFill>
                  <a:latin typeface="Arial" panose="020B0604020202020204"/>
                  <a:ea typeface="Arial" panose="020B0604020202020204"/>
                  <a:cs typeface="Arial" panose="020B0604020202020204"/>
                </a:rPr>
                <a:t>∪</a:t>
              </a:r>
              <a:r>
                <a:rPr lang="en-US" altLang="zh-CN" sz="1350" dirty="0">
                  <a:solidFill>
                    <a:srgbClr val="262626"/>
                  </a:solidFill>
                  <a:latin typeface="Arial" panose="020B0604020202020204"/>
                  <a:ea typeface="微软雅黑" panose="020B0503020204020204" charset="-122"/>
                  <a:cs typeface="Arial" panose="020B0604020202020204"/>
                  <a:sym typeface="+mn-ea"/>
                </a:rPr>
                <a:t>D</a:t>
              </a:r>
              <a:r>
                <a:rPr lang="en-US" altLang="zh-CN" sz="1350" baseline="-25000" dirty="0">
                  <a:solidFill>
                    <a:srgbClr val="262626"/>
                  </a:solidFill>
                  <a:latin typeface="Arial" panose="020B0604020202020204"/>
                  <a:ea typeface="微软雅黑" panose="020B0503020204020204" charset="-122"/>
                  <a:cs typeface="Arial" panose="020B0604020202020204"/>
                  <a:sym typeface="+mn-ea"/>
                </a:rPr>
                <a:t>j</a:t>
              </a:r>
              <a:br>
                <a:rPr lang="en-US" sz="1350" dirty="0">
                  <a:solidFill>
                    <a:srgbClr val="262626"/>
                  </a:solidFill>
                  <a:latin typeface="Arial" panose="020B0604020202020204"/>
                  <a:ea typeface="Arial" panose="020B0604020202020204"/>
                  <a:cs typeface="Arial" panose="020B0604020202020204"/>
                </a:rPr>
              </a:br>
              <a:r>
                <a:rPr lang="zh-CN" sz="1350" dirty="0">
                  <a:solidFill>
                    <a:srgbClr val="262626"/>
                  </a:solidFill>
                  <a:latin typeface="Arial" panose="020B0604020202020204"/>
                  <a:ea typeface="微软雅黑" panose="020B0503020204020204" charset="-122"/>
                  <a:cs typeface="Arial" panose="020B0604020202020204"/>
                </a:rPr>
                <a:t>3 ：</a:t>
              </a:r>
              <a:r>
                <a:rPr lang="zh-CN" altLang="en-US" sz="1350" dirty="0">
                  <a:solidFill>
                    <a:srgbClr val="262626"/>
                  </a:solidFill>
                  <a:latin typeface="Arial" panose="020B0604020202020204"/>
                  <a:ea typeface="微软雅黑" panose="020B0503020204020204" charset="-122"/>
                  <a:cs typeface="Arial" panose="020B0604020202020204"/>
                </a:rPr>
                <a:t>根据并空间的秩判断是否来自同一神经元</a:t>
              </a:r>
              <a:endParaRPr lang="zh-CN" altLang="en-US" sz="1350" dirty="0">
                <a:solidFill>
                  <a:srgbClr val="262626"/>
                </a:solidFill>
                <a:latin typeface="Arial" panose="020B0604020202020204"/>
                <a:ea typeface="微软雅黑" panose="020B0503020204020204" charset="-122"/>
                <a:cs typeface="Arial" panose="020B0604020202020204"/>
              </a:endParaRPr>
            </a:p>
            <a:p>
              <a:pPr algn="l">
                <a:lnSpc>
                  <a:spcPct val="150000"/>
                </a:lnSpc>
              </a:pPr>
              <a:r>
                <a:rPr lang="zh-CN" altLang="en-US" sz="1350" dirty="0">
                  <a:solidFill>
                    <a:srgbClr val="262626"/>
                  </a:solidFill>
                  <a:latin typeface="Arial" panose="020B0604020202020204"/>
                  <a:ea typeface="微软雅黑" panose="020B0503020204020204" charset="-122"/>
                  <a:cs typeface="Arial" panose="020B0604020202020204"/>
                </a:rPr>
                <a:t>　</a:t>
              </a:r>
              <a:r>
                <a:rPr lang="en-US" altLang="zh-CN" sz="1350" dirty="0">
                  <a:solidFill>
                    <a:srgbClr val="262626"/>
                  </a:solidFill>
                  <a:latin typeface="Arial" panose="020B0604020202020204"/>
                  <a:ea typeface="微软雅黑" panose="020B0503020204020204" charset="-122"/>
                  <a:cs typeface="Arial" panose="020B0604020202020204"/>
                </a:rPr>
                <a:t> </a:t>
              </a:r>
              <a:r>
                <a:rPr lang="zh-CN" altLang="en-US" sz="1350" dirty="0">
                  <a:solidFill>
                    <a:srgbClr val="262626"/>
                  </a:solidFill>
                  <a:latin typeface="Arial" panose="020B0604020202020204"/>
                  <a:ea typeface="微软雅黑" panose="020B0503020204020204" charset="-122"/>
                  <a:cs typeface="Arial" panose="020B0604020202020204"/>
                </a:rPr>
                <a:t>• 并空间满秩 → 来自不同神经元</a:t>
              </a:r>
              <a:endParaRPr lang="zh-CN" altLang="en-US" sz="1350" dirty="0">
                <a:solidFill>
                  <a:srgbClr val="262626"/>
                </a:solidFill>
                <a:latin typeface="Arial" panose="020B0604020202020204"/>
                <a:ea typeface="微软雅黑" panose="020B0503020204020204" charset="-122"/>
                <a:cs typeface="Arial" panose="020B0604020202020204"/>
              </a:endParaRPr>
            </a:p>
            <a:p>
              <a:pPr algn="l">
                <a:lnSpc>
                  <a:spcPct val="150000"/>
                </a:lnSpc>
              </a:pPr>
              <a:r>
                <a:rPr lang="zh-CN" altLang="en-US" sz="1350" dirty="0">
                  <a:solidFill>
                    <a:srgbClr val="262626"/>
                  </a:solidFill>
                  <a:latin typeface="Arial" panose="020B0604020202020204"/>
                  <a:ea typeface="微软雅黑" panose="020B0503020204020204" charset="-122"/>
                  <a:cs typeface="Arial" panose="020B0604020202020204"/>
                </a:rPr>
                <a:t>　</a:t>
              </a:r>
              <a:r>
                <a:rPr lang="en-US" altLang="zh-CN" sz="1350" dirty="0">
                  <a:solidFill>
                    <a:srgbClr val="262626"/>
                  </a:solidFill>
                  <a:latin typeface="Arial" panose="020B0604020202020204"/>
                  <a:ea typeface="微软雅黑" panose="020B0503020204020204" charset="-122"/>
                  <a:cs typeface="Arial" panose="020B0604020202020204"/>
                </a:rPr>
                <a:t> </a:t>
              </a:r>
              <a:r>
                <a:rPr lang="zh-CN" altLang="en-US" sz="1350" dirty="0">
                  <a:solidFill>
                    <a:srgbClr val="262626"/>
                  </a:solidFill>
                  <a:latin typeface="Arial" panose="020B0604020202020204"/>
                  <a:ea typeface="微软雅黑" panose="020B0503020204020204" charset="-122"/>
                  <a:cs typeface="Arial" panose="020B0604020202020204"/>
                </a:rPr>
                <a:t>• 并空间不满秩 → 来自同一神经元</a:t>
              </a:r>
              <a:endParaRPr lang="zh-CN" altLang="en-US" sz="1350" dirty="0">
                <a:solidFill>
                  <a:srgbClr val="262626"/>
                </a:solidFill>
                <a:latin typeface="Arial" panose="020B0604020202020204"/>
                <a:ea typeface="微软雅黑" panose="020B0503020204020204" charset="-122"/>
                <a:cs typeface="Arial" panose="020B0604020202020204"/>
              </a:endParaRPr>
            </a:p>
            <a:p>
              <a:pPr algn="l">
                <a:lnSpc>
                  <a:spcPct val="150000"/>
                </a:lnSpc>
              </a:pPr>
              <a:r>
                <a:rPr lang="zh-CN" sz="1350" dirty="0">
                  <a:solidFill>
                    <a:srgbClr val="262626"/>
                  </a:solidFill>
                  <a:latin typeface="Arial" panose="020B0604020202020204"/>
                  <a:ea typeface="微软雅黑" panose="020B0503020204020204" charset="-122"/>
                  <a:cs typeface="Arial" panose="020B0604020202020204"/>
                </a:rPr>
                <a:t>4 ：</a:t>
              </a:r>
              <a:r>
                <a:rPr lang="zh-CN" altLang="en-US" sz="1350" dirty="0">
                  <a:solidFill>
                    <a:srgbClr val="262626"/>
                  </a:solidFill>
                  <a:latin typeface="Arial" panose="020B0604020202020204"/>
                  <a:ea typeface="微软雅黑" panose="020B0503020204020204" charset="-122"/>
                  <a:cs typeface="Arial" panose="020B0604020202020204"/>
                </a:rPr>
                <a:t>聚合同一神经元的对偶空间，恢复其</a:t>
              </a:r>
              <a:endParaRPr lang="zh-CN" altLang="en-US" sz="1350" dirty="0">
                <a:solidFill>
                  <a:srgbClr val="262626"/>
                </a:solidFill>
                <a:latin typeface="Arial" panose="020B0604020202020204"/>
                <a:ea typeface="微软雅黑" panose="020B0503020204020204" charset="-122"/>
                <a:cs typeface="Arial" panose="020B0604020202020204"/>
              </a:endParaRPr>
            </a:p>
            <a:p>
              <a:pPr algn="l">
                <a:lnSpc>
                  <a:spcPct val="150000"/>
                </a:lnSpc>
              </a:pPr>
              <a:r>
                <a:rPr lang="zh-CN" altLang="en-US" sz="1350" dirty="0">
                  <a:solidFill>
                    <a:srgbClr val="262626"/>
                  </a:solidFill>
                  <a:latin typeface="Arial" panose="020B0604020202020204"/>
                  <a:ea typeface="微软雅黑" panose="020B0503020204020204" charset="-122"/>
                  <a:cs typeface="Arial" panose="020B0604020202020204"/>
                </a:rPr>
                <a:t> </a:t>
              </a:r>
              <a:r>
                <a:rPr lang="en-US" altLang="zh-CN" sz="1350" dirty="0">
                  <a:solidFill>
                    <a:srgbClr val="262626"/>
                  </a:solidFill>
                  <a:latin typeface="Arial" panose="020B0604020202020204"/>
                  <a:ea typeface="微软雅黑" panose="020B0503020204020204" charset="-122"/>
                  <a:cs typeface="Arial" panose="020B0604020202020204"/>
                </a:rPr>
                <a:t>     </a:t>
              </a:r>
              <a:r>
                <a:rPr lang="zh-CN" altLang="en-US" sz="1350" dirty="0">
                  <a:solidFill>
                    <a:srgbClr val="262626"/>
                  </a:solidFill>
                  <a:latin typeface="Arial" panose="020B0604020202020204"/>
                  <a:ea typeface="微软雅黑" panose="020B0503020204020204" charset="-122"/>
                  <a:cs typeface="Arial" panose="020B0604020202020204"/>
                </a:rPr>
                <a:t>权重方向，即“签名”</a:t>
              </a:r>
              <a:endParaRPr lang="zh-CN" altLang="en-US" sz="1350" dirty="0">
                <a:solidFill>
                  <a:srgbClr val="262626"/>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9404350" y="5427980"/>
              <a:ext cx="127000" cy="230505"/>
            </a:xfrm>
            <a:prstGeom prst="rect">
              <a:avLst/>
            </a:prstGeom>
            <a:noFill/>
            <a:ln>
              <a:noFill/>
            </a:ln>
          </p:spPr>
          <p:txBody>
            <a:bodyPr wrap="none" lIns="0" tIns="0" rIns="0" bIns="0" anchor="t" anchorCtr="0">
              <a:spAutoFit/>
            </a:bodyPr>
            <a:lstStyle/>
            <a:p>
              <a:pPr algn="ctr"/>
              <a:endParaRPr lang="zh-CN" sz="1500" b="1" dirty="0">
                <a:solidFill>
                  <a:srgbClr val="C0000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0" name="TextBox 20"/>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13</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3" name="demo-title"/>
          <p:cNvGrpSpPr/>
          <p:nvPr/>
        </p:nvGrpSpPr>
        <p:grpSpPr>
          <a:xfrm>
            <a:off x="653796" y="1425575"/>
            <a:ext cx="10852404" cy="631825"/>
            <a:chOff x="653796" y="1425575"/>
            <a:chExt cx="10852404" cy="631825"/>
          </a:xfrm>
        </p:grpSpPr>
        <p:sp>
          <p:nvSpPr>
            <p:cNvPr id="10" name="Rectangle 10"/>
            <p:cNvSpPr/>
            <p:nvPr/>
          </p:nvSpPr>
          <p:spPr>
            <a:xfrm>
              <a:off x="666750" y="1466850"/>
              <a:ext cx="10839450" cy="590550"/>
            </a:xfrm>
            <a:prstGeom prst="rect">
              <a:avLst/>
            </a:prstGeom>
            <a:noFill/>
            <a:ln>
              <a:noFill/>
            </a:ln>
          </p:spPr>
        </p:sp>
        <p:sp>
          <p:nvSpPr>
            <p:cNvPr id="11" name="TextBox 11"/>
            <p:cNvSpPr txBox="1"/>
            <p:nvPr/>
          </p:nvSpPr>
          <p:spPr>
            <a:xfrm>
              <a:off x="653796" y="1425575"/>
              <a:ext cx="4488561"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在线演示：对偶点三维可视化</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660654" y="1828800"/>
              <a:ext cx="127000" cy="184150"/>
            </a:xfrm>
            <a:prstGeom prst="rect">
              <a:avLst/>
            </a:prstGeom>
            <a:noFill/>
            <a:ln>
              <a:noFill/>
            </a:ln>
          </p:spPr>
          <p:txBody>
            <a:bodyPr wrap="none" lIns="0" tIns="0" rIns="0" bIns="0" anchor="t" anchorCtr="0">
              <a:spAutoFit/>
            </a:bodyPr>
            <a:lstStyle/>
            <a:p>
              <a:pPr algn="l"/>
              <a:endParaRPr lang="zh-CN" sz="1200" dirty="0">
                <a:solidFill>
                  <a:srgbClr val="667085"/>
                </a:solidFill>
                <a:latin typeface="Arial" panose="020B0604020202020204"/>
                <a:ea typeface="微软雅黑" panose="020B0503020204020204" charset="-122"/>
                <a:cs typeface="Arial" panose="020B0604020202020204"/>
              </a:endParaRPr>
            </a:p>
          </p:txBody>
        </p:sp>
      </p:grpSp>
      <p:grpSp>
        <p:nvGrpSpPr>
          <p:cNvPr id="17" name="demo-preview"/>
          <p:cNvGrpSpPr/>
          <p:nvPr/>
        </p:nvGrpSpPr>
        <p:grpSpPr>
          <a:xfrm>
            <a:off x="666750" y="2152650"/>
            <a:ext cx="7524750" cy="3905250"/>
            <a:chOff x="666750" y="2152650"/>
            <a:chExt cx="7524750" cy="3905250"/>
          </a:xfrm>
        </p:grpSpPr>
        <p:sp>
          <p:nvSpPr>
            <p:cNvPr id="14" name="Rectangle 14">
              <a:hlinkClick r:id="rId4"/>
            </p:cNvPr>
            <p:cNvSpPr/>
            <p:nvPr/>
          </p:nvSpPr>
          <p:spPr>
            <a:xfrm>
              <a:off x="666750" y="2152650"/>
              <a:ext cx="7524750" cy="3905250"/>
            </a:xfrm>
            <a:prstGeom prst="roundRect">
              <a:avLst>
                <a:gd name="adj" fmla="val 2927"/>
              </a:avLst>
            </a:prstGeom>
            <a:solidFill>
              <a:srgbClr val="FFFFFF"/>
            </a:solidFill>
            <a:ln w="19050">
              <a:solidFill>
                <a:srgbClr val="A6C9B4"/>
              </a:solidFill>
            </a:ln>
          </p:spPr>
        </p:sp>
        <p:pic>
          <p:nvPicPr>
            <p:cNvPr id="15" name="Image 15">
              <a:hlinkClick r:id="rId4"/>
            </p:cNvPr>
            <p:cNvPicPr>
              <a:picLocks noChangeAspect="1"/>
            </p:cNvPicPr>
            <p:nvPr/>
          </p:nvPicPr>
          <p:blipFill>
            <a:blip r:embed="rId5"/>
            <a:stretch>
              <a:fillRect/>
            </a:stretch>
          </p:blipFill>
          <p:spPr>
            <a:xfrm>
              <a:off x="922558" y="2257425"/>
              <a:ext cx="7013134" cy="3695700"/>
            </a:xfrm>
            <a:prstGeom prst="rect">
              <a:avLst/>
            </a:prstGeom>
          </p:spPr>
        </p:pic>
        <p:sp>
          <p:nvSpPr>
            <p:cNvPr id="16" name="Rectangle 16">
              <a:hlinkClick r:id="rId4"/>
            </p:cNvPr>
            <p:cNvSpPr/>
            <p:nvPr/>
          </p:nvSpPr>
          <p:spPr>
            <a:xfrm>
              <a:off x="771525" y="2257425"/>
              <a:ext cx="7315200" cy="3695700"/>
            </a:xfrm>
            <a:prstGeom prst="roundRect">
              <a:avLst>
                <a:gd name="adj" fmla="val 1804"/>
              </a:avLst>
            </a:prstGeom>
            <a:noFill/>
            <a:ln w="9525">
              <a:solidFill>
                <a:srgbClr val="E6ECE8"/>
              </a:solidFill>
            </a:ln>
          </p:spPr>
        </p:sp>
      </p:grpSp>
      <p:grpSp>
        <p:nvGrpSpPr>
          <p:cNvPr id="34" name="demo-guide"/>
          <p:cNvGrpSpPr/>
          <p:nvPr/>
        </p:nvGrpSpPr>
        <p:grpSpPr>
          <a:xfrm>
            <a:off x="8420100" y="2152650"/>
            <a:ext cx="3086100" cy="3905250"/>
            <a:chOff x="8420100" y="2152650"/>
            <a:chExt cx="3086100" cy="3905250"/>
          </a:xfrm>
        </p:grpSpPr>
        <p:sp>
          <p:nvSpPr>
            <p:cNvPr id="18" name="Rectangle 18"/>
            <p:cNvSpPr/>
            <p:nvPr/>
          </p:nvSpPr>
          <p:spPr>
            <a:xfrm>
              <a:off x="8420100" y="2152650"/>
              <a:ext cx="3086100" cy="3905250"/>
            </a:xfrm>
            <a:prstGeom prst="roundRect">
              <a:avLst>
                <a:gd name="adj" fmla="val 3704"/>
              </a:avLst>
            </a:prstGeom>
            <a:solidFill>
              <a:srgbClr val="F3F8F5"/>
            </a:solidFill>
            <a:ln w="19050">
              <a:solidFill>
                <a:srgbClr val="A6C9B4"/>
              </a:solidFill>
            </a:ln>
          </p:spPr>
        </p:sp>
        <p:sp>
          <p:nvSpPr>
            <p:cNvPr id="19" name="TextBox 19"/>
            <p:cNvSpPr txBox="1"/>
            <p:nvPr/>
          </p:nvSpPr>
          <p:spPr>
            <a:xfrm>
              <a:off x="8676894" y="2292350"/>
              <a:ext cx="1069848" cy="381381"/>
            </a:xfrm>
            <a:prstGeom prst="rect">
              <a:avLst/>
            </a:prstGeom>
            <a:noFill/>
            <a:ln>
              <a:noFill/>
            </a:ln>
          </p:spPr>
          <p:txBody>
            <a:bodyPr wrap="none" lIns="0" tIns="0" rIns="0" bIns="0" anchor="t" anchorCtr="0">
              <a:spAutoFit/>
            </a:bodyPr>
            <a:lstStyle/>
            <a:p>
              <a:pPr algn="l"/>
              <a:r>
                <a:rPr lang="zh-CN" sz="1950" b="1" dirty="0">
                  <a:solidFill>
                    <a:srgbClr val="005725"/>
                  </a:solidFill>
                  <a:latin typeface="Arial" panose="020B0604020202020204"/>
                  <a:ea typeface="微软雅黑" panose="020B0503020204020204" charset="-122"/>
                  <a:cs typeface="Arial" panose="020B0604020202020204"/>
                </a:rPr>
                <a:t>演示重点</a:t>
              </a:r>
              <a:endParaRPr lang="zh-CN" sz="1950" b="1" dirty="0">
                <a:solidFill>
                  <a:srgbClr val="005725"/>
                </a:solidFill>
                <a:latin typeface="Arial" panose="020B0604020202020204"/>
                <a:ea typeface="微软雅黑" panose="020B0503020204020204" charset="-122"/>
                <a:cs typeface="Arial" panose="020B0604020202020204"/>
              </a:endParaRPr>
            </a:p>
          </p:txBody>
        </p:sp>
        <p:sp>
          <p:nvSpPr>
            <p:cNvPr id="20" name="Line 20"/>
            <p:cNvSpPr/>
            <p:nvPr/>
          </p:nvSpPr>
          <p:spPr>
            <a:xfrm>
              <a:off x="8686800" y="2667000"/>
              <a:ext cx="2552700" cy="9525"/>
            </a:xfrm>
            <a:custGeom>
              <a:avLst/>
              <a:gdLst/>
              <a:ahLst/>
              <a:cxnLst/>
              <a:rect l="l" t="t" r="r" b="b"/>
              <a:pathLst>
                <a:path w="2552700" h="9525">
                  <a:moveTo>
                    <a:pt x="0" y="0"/>
                  </a:moveTo>
                  <a:lnTo>
                    <a:pt x="2552700" y="0"/>
                  </a:lnTo>
                </a:path>
              </a:pathLst>
            </a:custGeom>
            <a:noFill/>
            <a:ln w="14288">
              <a:solidFill>
                <a:srgbClr val="A6C9B4"/>
              </a:solidFill>
            </a:ln>
          </p:spPr>
        </p:sp>
        <p:sp>
          <p:nvSpPr>
            <p:cNvPr id="21" name="Ellipse 21"/>
            <p:cNvSpPr/>
            <p:nvPr/>
          </p:nvSpPr>
          <p:spPr>
            <a:xfrm>
              <a:off x="8705850" y="2857500"/>
              <a:ext cx="304800" cy="304800"/>
            </a:xfrm>
            <a:prstGeom prst="ellipse">
              <a:avLst/>
            </a:prstGeom>
            <a:solidFill>
              <a:srgbClr val="005725"/>
            </a:solidFill>
            <a:ln>
              <a:noFill/>
            </a:ln>
          </p:spPr>
        </p:sp>
        <p:sp>
          <p:nvSpPr>
            <p:cNvPr id="22" name="TextBox 22"/>
            <p:cNvSpPr txBox="1"/>
            <p:nvPr/>
          </p:nvSpPr>
          <p:spPr>
            <a:xfrm>
              <a:off x="8803853" y="2924175"/>
              <a:ext cx="108795" cy="250317"/>
            </a:xfrm>
            <a:prstGeom prst="rect">
              <a:avLst/>
            </a:prstGeom>
            <a:noFill/>
            <a:ln>
              <a:noFill/>
            </a:ln>
          </p:spPr>
          <p:txBody>
            <a:bodyPr wrap="none" lIns="0" tIns="0" rIns="0" bIns="0" anchor="t" anchorCtr="0">
              <a:spAutoFit/>
            </a:bodyPr>
            <a:lstStyle/>
            <a:p>
              <a:pPr algn="ctr"/>
              <a:r>
                <a:rPr lang="zh-CN" sz="1280" b="1" dirty="0">
                  <a:solidFill>
                    <a:srgbClr val="FFFFFF"/>
                  </a:solidFill>
                  <a:latin typeface="Arial" panose="020B0604020202020204"/>
                  <a:ea typeface="Arial" panose="020B0604020202020204"/>
                  <a:cs typeface="Arial" panose="020B0604020202020204"/>
                </a:rPr>
                <a:t>1</a:t>
              </a:r>
              <a:endParaRPr lang="zh-CN" sz="1280" b="1" dirty="0">
                <a:solidFill>
                  <a:srgbClr val="FFFFFF"/>
                </a:solidFill>
                <a:latin typeface="Arial" panose="020B0604020202020204"/>
                <a:ea typeface="Arial" panose="020B0604020202020204"/>
                <a:cs typeface="Arial" panose="020B0604020202020204"/>
              </a:endParaRPr>
            </a:p>
          </p:txBody>
        </p:sp>
        <p:sp>
          <p:nvSpPr>
            <p:cNvPr id="23" name="TextBox 23"/>
            <p:cNvSpPr txBox="1"/>
            <p:nvPr/>
          </p:nvSpPr>
          <p:spPr>
            <a:xfrm>
              <a:off x="9118092" y="2816225"/>
              <a:ext cx="1104138" cy="264033"/>
            </a:xfrm>
            <a:prstGeom prst="rect">
              <a:avLst/>
            </a:prstGeom>
            <a:noFill/>
            <a:ln>
              <a:noFill/>
            </a:ln>
          </p:spPr>
          <p:txBody>
            <a:bodyPr wrap="none" lIns="0" tIns="0" rIns="0" bIns="0" anchor="t" anchorCtr="0">
              <a:spAutoFit/>
            </a:bodyPr>
            <a:lstStyle/>
            <a:p>
              <a:pPr algn="l"/>
              <a:r>
                <a:rPr lang="zh-CN" sz="1350" b="1" dirty="0">
                  <a:solidFill>
                    <a:srgbClr val="262626"/>
                  </a:solidFill>
                  <a:latin typeface="Arial" panose="020B0604020202020204"/>
                  <a:ea typeface="微软雅黑" panose="020B0503020204020204" charset="-122"/>
                  <a:cs typeface="Arial" panose="020B0604020202020204"/>
                </a:rPr>
                <a:t>观察几何结构</a:t>
              </a:r>
              <a:endParaRPr lang="zh-CN" sz="1350" b="1" dirty="0">
                <a:solidFill>
                  <a:srgbClr val="262626"/>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9119235" y="3070225"/>
              <a:ext cx="1820723"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决策曲面、临界平面与交线</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25" name="Ellipse 25"/>
            <p:cNvSpPr/>
            <p:nvPr/>
          </p:nvSpPr>
          <p:spPr>
            <a:xfrm>
              <a:off x="8705850" y="3409950"/>
              <a:ext cx="304800" cy="304800"/>
            </a:xfrm>
            <a:prstGeom prst="ellipse">
              <a:avLst/>
            </a:prstGeom>
            <a:solidFill>
              <a:srgbClr val="005725"/>
            </a:solidFill>
            <a:ln>
              <a:noFill/>
            </a:ln>
          </p:spPr>
        </p:sp>
        <p:sp>
          <p:nvSpPr>
            <p:cNvPr id="26" name="TextBox 26"/>
            <p:cNvSpPr txBox="1"/>
            <p:nvPr/>
          </p:nvSpPr>
          <p:spPr>
            <a:xfrm>
              <a:off x="8803853" y="3476625"/>
              <a:ext cx="108795" cy="250317"/>
            </a:xfrm>
            <a:prstGeom prst="rect">
              <a:avLst/>
            </a:prstGeom>
            <a:noFill/>
            <a:ln>
              <a:noFill/>
            </a:ln>
          </p:spPr>
          <p:txBody>
            <a:bodyPr wrap="none" lIns="0" tIns="0" rIns="0" bIns="0" anchor="t" anchorCtr="0">
              <a:spAutoFit/>
            </a:bodyPr>
            <a:lstStyle/>
            <a:p>
              <a:pPr algn="ctr"/>
              <a:r>
                <a:rPr lang="zh-CN" sz="1280" b="1" dirty="0">
                  <a:solidFill>
                    <a:srgbClr val="FFFFFF"/>
                  </a:solidFill>
                  <a:latin typeface="Arial" panose="020B0604020202020204"/>
                  <a:ea typeface="Arial" panose="020B0604020202020204"/>
                  <a:cs typeface="Arial" panose="020B0604020202020204"/>
                </a:rPr>
                <a:t>2</a:t>
              </a:r>
              <a:endParaRPr lang="zh-CN" sz="1280" b="1" dirty="0">
                <a:solidFill>
                  <a:srgbClr val="FFFFFF"/>
                </a:solidFill>
                <a:latin typeface="Arial" panose="020B0604020202020204"/>
                <a:ea typeface="Arial" panose="020B0604020202020204"/>
                <a:cs typeface="Arial" panose="020B0604020202020204"/>
              </a:endParaRPr>
            </a:p>
          </p:txBody>
        </p:sp>
        <p:sp>
          <p:nvSpPr>
            <p:cNvPr id="27" name="TextBox 27"/>
            <p:cNvSpPr txBox="1"/>
            <p:nvPr/>
          </p:nvSpPr>
          <p:spPr>
            <a:xfrm>
              <a:off x="9118092" y="3368675"/>
              <a:ext cx="922401" cy="264033"/>
            </a:xfrm>
            <a:prstGeom prst="rect">
              <a:avLst/>
            </a:prstGeom>
            <a:noFill/>
            <a:ln>
              <a:noFill/>
            </a:ln>
          </p:spPr>
          <p:txBody>
            <a:bodyPr wrap="none" lIns="0" tIns="0" rIns="0" bIns="0" anchor="t" anchorCtr="0">
              <a:spAutoFit/>
            </a:bodyPr>
            <a:lstStyle/>
            <a:p>
              <a:pPr algn="l"/>
              <a:r>
                <a:rPr lang="zh-CN" sz="1350" b="1" dirty="0">
                  <a:solidFill>
                    <a:srgbClr val="262626"/>
                  </a:solidFill>
                  <a:latin typeface="Arial" panose="020B0604020202020204"/>
                  <a:ea typeface="微软雅黑" panose="020B0503020204020204" charset="-122"/>
                  <a:cs typeface="Arial" panose="020B0604020202020204"/>
                </a:rPr>
                <a:t>定位对偶点</a:t>
              </a:r>
              <a:endParaRPr lang="zh-CN" sz="1350" b="1" dirty="0">
                <a:solidFill>
                  <a:srgbClr val="262626"/>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9119235" y="3622675"/>
              <a:ext cx="1971497"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沿边界行走，寻找曲面拐弯处</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29" name="Ellipse 29"/>
            <p:cNvSpPr/>
            <p:nvPr/>
          </p:nvSpPr>
          <p:spPr>
            <a:xfrm>
              <a:off x="8705850" y="3962400"/>
              <a:ext cx="304800" cy="304800"/>
            </a:xfrm>
            <a:prstGeom prst="ellipse">
              <a:avLst/>
            </a:prstGeom>
            <a:solidFill>
              <a:srgbClr val="005725"/>
            </a:solidFill>
            <a:ln>
              <a:noFill/>
            </a:ln>
          </p:spPr>
        </p:sp>
        <p:sp>
          <p:nvSpPr>
            <p:cNvPr id="30" name="TextBox 30"/>
            <p:cNvSpPr txBox="1"/>
            <p:nvPr/>
          </p:nvSpPr>
          <p:spPr>
            <a:xfrm>
              <a:off x="8803853" y="4029075"/>
              <a:ext cx="108795" cy="250317"/>
            </a:xfrm>
            <a:prstGeom prst="rect">
              <a:avLst/>
            </a:prstGeom>
            <a:noFill/>
            <a:ln>
              <a:noFill/>
            </a:ln>
          </p:spPr>
          <p:txBody>
            <a:bodyPr wrap="none" lIns="0" tIns="0" rIns="0" bIns="0" anchor="t" anchorCtr="0">
              <a:spAutoFit/>
            </a:bodyPr>
            <a:lstStyle/>
            <a:p>
              <a:pPr algn="ctr"/>
              <a:r>
                <a:rPr lang="zh-CN" sz="1280" b="1" dirty="0">
                  <a:solidFill>
                    <a:srgbClr val="FFFFFF"/>
                  </a:solidFill>
                  <a:latin typeface="Arial" panose="020B0604020202020204"/>
                  <a:ea typeface="Arial" panose="020B0604020202020204"/>
                  <a:cs typeface="Arial" panose="020B0604020202020204"/>
                </a:rPr>
                <a:t>3</a:t>
              </a:r>
              <a:endParaRPr lang="zh-CN" sz="1280" b="1" dirty="0">
                <a:solidFill>
                  <a:srgbClr val="FFFFFF"/>
                </a:solidFill>
                <a:latin typeface="Arial" panose="020B0604020202020204"/>
                <a:ea typeface="Arial" panose="020B0604020202020204"/>
                <a:cs typeface="Arial" panose="020B0604020202020204"/>
              </a:endParaRPr>
            </a:p>
          </p:txBody>
        </p:sp>
        <p:sp>
          <p:nvSpPr>
            <p:cNvPr id="31" name="TextBox 31"/>
            <p:cNvSpPr txBox="1"/>
            <p:nvPr/>
          </p:nvSpPr>
          <p:spPr>
            <a:xfrm>
              <a:off x="9118092" y="3921125"/>
              <a:ext cx="1104138" cy="264033"/>
            </a:xfrm>
            <a:prstGeom prst="rect">
              <a:avLst/>
            </a:prstGeom>
            <a:noFill/>
            <a:ln>
              <a:noFill/>
            </a:ln>
          </p:spPr>
          <p:txBody>
            <a:bodyPr wrap="none" lIns="0" tIns="0" rIns="0" bIns="0" anchor="t" anchorCtr="0">
              <a:spAutoFit/>
            </a:bodyPr>
            <a:lstStyle/>
            <a:p>
              <a:pPr algn="l"/>
              <a:r>
                <a:rPr lang="zh-CN" sz="1350" b="1" dirty="0">
                  <a:solidFill>
                    <a:srgbClr val="262626"/>
                  </a:solidFill>
                  <a:latin typeface="Arial" panose="020B0604020202020204"/>
                  <a:ea typeface="微软雅黑" panose="020B0503020204020204" charset="-122"/>
                  <a:cs typeface="Arial" panose="020B0604020202020204"/>
                </a:rPr>
                <a:t>恢复临界平面</a:t>
              </a:r>
              <a:endParaRPr lang="zh-CN" sz="1350" b="1" dirty="0">
                <a:solidFill>
                  <a:srgbClr val="262626"/>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9119235" y="4175125"/>
              <a:ext cx="1820723"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两条对偶线确定神经元方向</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8681466" y="4549775"/>
              <a:ext cx="127000" cy="161290"/>
            </a:xfrm>
            <a:prstGeom prst="rect">
              <a:avLst/>
            </a:prstGeom>
            <a:noFill/>
            <a:ln>
              <a:noFill/>
            </a:ln>
          </p:spPr>
          <p:txBody>
            <a:bodyPr wrap="none" lIns="0" tIns="0" rIns="0" bIns="0" anchor="t" anchorCtr="0">
              <a:spAutoFit/>
            </a:bodyPr>
            <a:lstStyle/>
            <a:p>
              <a:pPr algn="l"/>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38" name="live-demo-button"/>
          <p:cNvGrpSpPr/>
          <p:nvPr/>
        </p:nvGrpSpPr>
        <p:grpSpPr>
          <a:xfrm>
            <a:off x="8686800" y="4905375"/>
            <a:ext cx="2552700" cy="788543"/>
            <a:chOff x="8686800" y="4905375"/>
            <a:chExt cx="2552700" cy="788543"/>
          </a:xfrm>
        </p:grpSpPr>
        <p:sp>
          <p:nvSpPr>
            <p:cNvPr id="35" name="Rectangle 35">
              <a:hlinkClick r:id="rId4"/>
            </p:cNvPr>
            <p:cNvSpPr/>
            <p:nvPr/>
          </p:nvSpPr>
          <p:spPr>
            <a:xfrm>
              <a:off x="8686800" y="4905375"/>
              <a:ext cx="2552700" cy="476250"/>
            </a:xfrm>
            <a:prstGeom prst="roundRect">
              <a:avLst>
                <a:gd name="adj" fmla="val 18000"/>
              </a:avLst>
            </a:prstGeom>
            <a:solidFill>
              <a:srgbClr val="005725"/>
            </a:solidFill>
            <a:ln>
              <a:noFill/>
            </a:ln>
          </p:spPr>
        </p:sp>
        <p:sp>
          <p:nvSpPr>
            <p:cNvPr id="36" name="TextBox 36">
              <a:hlinkClick r:id="rId4"/>
            </p:cNvPr>
            <p:cNvSpPr txBox="1"/>
            <p:nvPr/>
          </p:nvSpPr>
          <p:spPr>
            <a:xfrm>
              <a:off x="9263385" y="5032375"/>
              <a:ext cx="1399531"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panose="020B0604020202020204"/>
                  <a:ea typeface="微软雅黑" panose="020B0503020204020204" charset="-122"/>
                  <a:cs typeface="Arial" panose="020B0604020202020204"/>
                </a:rPr>
                <a:t>打开实时演示 ↗</a:t>
              </a:r>
              <a:endParaRPr lang="zh-CN" sz="1500" b="1" dirty="0">
                <a:solidFill>
                  <a:srgbClr val="FFFFFF"/>
                </a:solidFill>
                <a:latin typeface="Arial" panose="020B0604020202020204"/>
                <a:ea typeface="微软雅黑" panose="020B0503020204020204" charset="-122"/>
                <a:cs typeface="Arial" panose="020B0604020202020204"/>
              </a:endParaRPr>
            </a:p>
          </p:txBody>
        </p:sp>
        <p:sp>
          <p:nvSpPr>
            <p:cNvPr id="37" name="TextBox 37">
              <a:hlinkClick r:id="rId4"/>
            </p:cNvPr>
            <p:cNvSpPr txBox="1"/>
            <p:nvPr/>
          </p:nvSpPr>
          <p:spPr>
            <a:xfrm>
              <a:off x="8993767" y="5502275"/>
              <a:ext cx="1938767" cy="191643"/>
            </a:xfrm>
            <a:prstGeom prst="rect">
              <a:avLst/>
            </a:prstGeom>
            <a:noFill/>
            <a:ln>
              <a:noFill/>
            </a:ln>
          </p:spPr>
          <p:txBody>
            <a:bodyPr wrap="none" lIns="0" tIns="0" rIns="0" bIns="0" anchor="t" anchorCtr="0">
              <a:spAutoFit/>
            </a:bodyPr>
            <a:lstStyle/>
            <a:p>
              <a:pPr algn="ctr"/>
              <a:r>
                <a:rPr lang="en-US" sz="980" dirty="0">
                  <a:solidFill>
                    <a:srgbClr val="005725"/>
                  </a:solidFill>
                  <a:latin typeface="Arial" panose="020B0604020202020204"/>
                  <a:ea typeface="Arial" panose="020B0604020202020204"/>
                  <a:cs typeface="Arial" panose="020B0604020202020204"/>
                </a:rPr>
                <a:t>https://dualpoints-sec.pages.dev/</a:t>
              </a:r>
              <a:endParaRPr lang="en-US" sz="980" dirty="0">
                <a:solidFill>
                  <a:srgbClr val="005725"/>
                </a:solidFill>
                <a:latin typeface="Arial" panose="020B0604020202020204"/>
                <a:ea typeface="Arial" panose="020B0604020202020204"/>
                <a:cs typeface="Arial" panose="020B0604020202020204"/>
              </a:endParaRPr>
            </a:p>
          </p:txBody>
        </p:sp>
      </p:grpSp>
      <p:sp>
        <p:nvSpPr>
          <p:cNvPr id="39" name="Rectangle 39"/>
          <p:cNvSpPr/>
          <p:nvPr/>
        </p:nvSpPr>
        <p:spPr>
          <a:xfrm>
            <a:off x="11201400" y="6315075"/>
            <a:ext cx="295275" cy="247650"/>
          </a:xfrm>
          <a:prstGeom prst="rect">
            <a:avLst/>
          </a:prstGeom>
          <a:no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20" name="page-body"/>
          <p:cNvGrpSpPr/>
          <p:nvPr/>
        </p:nvGrpSpPr>
        <p:grpSpPr>
          <a:xfrm>
            <a:off x="666750" y="1492250"/>
            <a:ext cx="10839450" cy="4932045"/>
            <a:chOff x="666750" y="1492250"/>
            <a:chExt cx="10839450" cy="4932045"/>
          </a:xfrm>
        </p:grpSpPr>
        <p:sp>
          <p:nvSpPr>
            <p:cNvPr id="10" name="TextBox 10"/>
            <p:cNvSpPr txBox="1"/>
            <p:nvPr/>
          </p:nvSpPr>
          <p:spPr>
            <a:xfrm>
              <a:off x="672846" y="1492250"/>
              <a:ext cx="6601456"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符号恢复：哪一侧更快触发“未来层”变化？</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71700"/>
              <a:ext cx="4238625" cy="3476625"/>
            </a:xfrm>
            <a:prstGeom prst="roundRect">
              <a:avLst>
                <a:gd name="adj" fmla="val 3288"/>
              </a:avLst>
            </a:prstGeom>
            <a:solidFill>
              <a:srgbClr val="F3F8F5"/>
            </a:solidFill>
            <a:ln w="19050">
              <a:solidFill>
                <a:srgbClr val="A6C9B4"/>
              </a:solidFill>
            </a:ln>
          </p:spPr>
        </p:sp>
        <p:sp>
          <p:nvSpPr>
            <p:cNvPr id="12" name="TextBox 12"/>
            <p:cNvSpPr txBox="1"/>
            <p:nvPr/>
          </p:nvSpPr>
          <p:spPr>
            <a:xfrm>
              <a:off x="980313" y="2425700"/>
              <a:ext cx="3011830"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统计判别，而非枚举符号</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982980" y="2895600"/>
              <a:ext cx="2844165" cy="1807845"/>
            </a:xfrm>
            <a:prstGeom prst="rect">
              <a:avLst/>
            </a:prstGeom>
            <a:noFill/>
            <a:ln>
              <a:noFill/>
            </a:ln>
          </p:spPr>
          <p:txBody>
            <a:bodyPr wrap="none" lIns="0" tIns="0" rIns="0" bIns="0" anchor="t" anchorCtr="0">
              <a:spAutoFit/>
            </a:bodyPr>
            <a:lstStyle/>
            <a:p>
              <a:pPr marL="161925" indent="-161925" algn="l">
                <a:lnSpc>
                  <a:spcPts val="3975"/>
                </a:lnSpc>
                <a:buClr>
                  <a:srgbClr val="262626"/>
                </a:buClr>
                <a:buSzTx/>
                <a:buFontTx/>
                <a:buChar char="•"/>
              </a:pPr>
              <a:r>
                <a:rPr lang="zh-CN" sz="1500" dirty="0">
                  <a:solidFill>
                    <a:srgbClr val="262626"/>
                  </a:solidFill>
                  <a:latin typeface="Arial" panose="020B0604020202020204"/>
                  <a:ea typeface="微软雅黑" panose="020B0503020204020204" charset="-122"/>
                  <a:cs typeface="Arial" panose="020B0604020202020204"/>
                </a:rPr>
                <a:t>分别沿候选法向正、负两侧采样</a:t>
              </a:r>
              <a:endParaRPr lang="zh-CN" sz="1500" dirty="0">
                <a:solidFill>
                  <a:srgbClr val="262626"/>
                </a:solidFill>
                <a:latin typeface="Arial" panose="020B0604020202020204"/>
                <a:ea typeface="微软雅黑" panose="020B0503020204020204" charset="-122"/>
                <a:cs typeface="Arial" panose="020B0604020202020204"/>
              </a:endParaRPr>
            </a:p>
            <a:p>
              <a:pPr marL="161925" indent="-161925" algn="l">
                <a:lnSpc>
                  <a:spcPts val="3975"/>
                </a:lnSpc>
                <a:buClr>
                  <a:srgbClr val="262626"/>
                </a:buClr>
                <a:buSzTx/>
                <a:buFontTx/>
                <a:buChar char="•"/>
              </a:pPr>
              <a:r>
                <a:rPr lang="zh-CN" sz="1500" dirty="0">
                  <a:solidFill>
                    <a:srgbClr val="262626"/>
                  </a:solidFill>
                  <a:latin typeface="Arial" panose="020B0604020202020204"/>
                  <a:ea typeface="微软雅黑" panose="020B0503020204020204" charset="-122"/>
                  <a:cs typeface="Arial" panose="020B0604020202020204"/>
                </a:rPr>
                <a:t>比较到未来层切换事件的距离</a:t>
              </a:r>
              <a:endParaRPr lang="zh-CN" sz="1500" dirty="0">
                <a:solidFill>
                  <a:srgbClr val="262626"/>
                </a:solidFill>
                <a:latin typeface="Arial" panose="020B0604020202020204"/>
                <a:ea typeface="微软雅黑" panose="020B0503020204020204" charset="-122"/>
                <a:cs typeface="Arial" panose="020B0604020202020204"/>
              </a:endParaRPr>
            </a:p>
            <a:p>
              <a:pPr marL="161925" indent="-161925" algn="l">
                <a:lnSpc>
                  <a:spcPts val="3975"/>
                </a:lnSpc>
                <a:buClr>
                  <a:srgbClr val="262626"/>
                </a:buClr>
                <a:buSzTx/>
                <a:buFontTx/>
                <a:buChar char="•"/>
              </a:pPr>
              <a:r>
                <a:rPr lang="zh-CN" sz="1500" dirty="0">
                  <a:solidFill>
                    <a:srgbClr val="262626"/>
                  </a:solidFill>
                  <a:latin typeface="Arial" panose="020B0604020202020204"/>
                  <a:ea typeface="微软雅黑" panose="020B0503020204020204" charset="-122"/>
                  <a:cs typeface="Arial" panose="020B0604020202020204"/>
                </a:rPr>
                <a:t>正确开启侧更易改变后续映射</a:t>
              </a:r>
              <a:endParaRPr lang="zh-CN" sz="1500" dirty="0">
                <a:solidFill>
                  <a:srgbClr val="262626"/>
                </a:solidFill>
                <a:latin typeface="Arial" panose="020B0604020202020204"/>
                <a:ea typeface="微软雅黑" panose="020B0503020204020204" charset="-122"/>
                <a:cs typeface="Arial" panose="020B0604020202020204"/>
              </a:endParaRPr>
            </a:p>
            <a:p>
              <a:pPr marL="161925" indent="-161925" algn="l">
                <a:lnSpc>
                  <a:spcPts val="3975"/>
                </a:lnSpc>
                <a:buClr>
                  <a:srgbClr val="262626"/>
                </a:buClr>
                <a:buSzTx/>
                <a:buFontTx/>
                <a:buChar char="•"/>
              </a:pPr>
              <a:r>
                <a:rPr lang="zh-CN" sz="1500" dirty="0">
                  <a:solidFill>
                    <a:srgbClr val="262626"/>
                  </a:solidFill>
                  <a:latin typeface="Arial" panose="020B0604020202020204"/>
                  <a:ea typeface="微软雅黑" panose="020B0503020204020204" charset="-122"/>
                  <a:cs typeface="Arial" panose="020B0604020202020204"/>
                </a:rPr>
                <a:t>重复实验并投票降低误判率</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4" name="Rectangle 14"/>
            <p:cNvSpPr/>
            <p:nvPr/>
          </p:nvSpPr>
          <p:spPr>
            <a:xfrm>
              <a:off x="5191125" y="2171700"/>
              <a:ext cx="6315075" cy="3476625"/>
            </a:xfrm>
            <a:prstGeom prst="roundRect">
              <a:avLst>
                <a:gd name="adj" fmla="val 3288"/>
              </a:avLst>
            </a:prstGeom>
            <a:solidFill>
              <a:srgbClr val="FFFFFF"/>
            </a:solidFill>
            <a:ln w="19050">
              <a:solidFill>
                <a:srgbClr val="A6C9B4"/>
              </a:solidFill>
            </a:ln>
          </p:spPr>
        </p:sp>
        <p:pic>
          <p:nvPicPr>
            <p:cNvPr id="15" name="Image 15"/>
            <p:cNvPicPr>
              <a:picLocks noChangeAspect="1"/>
            </p:cNvPicPr>
            <p:nvPr/>
          </p:nvPicPr>
          <p:blipFill>
            <a:blip r:embed="rId4"/>
            <a:stretch>
              <a:fillRect/>
            </a:stretch>
          </p:blipFill>
          <p:spPr>
            <a:xfrm>
              <a:off x="5381625" y="2634583"/>
              <a:ext cx="5934075" cy="2312734"/>
            </a:xfrm>
            <a:prstGeom prst="rect">
              <a:avLst/>
            </a:prstGeom>
          </p:spPr>
        </p:pic>
        <p:sp>
          <p:nvSpPr>
            <p:cNvPr id="16" name="TextBox 16"/>
            <p:cNvSpPr/>
            <p:nvPr/>
          </p:nvSpPr>
          <p:spPr>
            <a:xfrm>
              <a:off x="6821900" y="5375243"/>
              <a:ext cx="3063050" cy="220028"/>
            </a:xfrm>
            <a:prstGeom prst="rect">
              <a:avLst/>
            </a:prstGeom>
            <a:noFill/>
            <a:ln>
              <a:noFill/>
            </a:ln>
          </p:spPr>
          <p:txBody>
            <a:bodyPr wrap="none" lIns="0" tIns="32" rIns="0" bIns="0" anchor="t" anchorCtr="0">
              <a:noAutofit/>
            </a:bodyPr>
            <a:lstStyle/>
            <a:p>
              <a:pPr algn="ctr"/>
              <a:r>
                <a:rPr lang="zh-CN" sz="1120" dirty="0">
                  <a:solidFill>
                    <a:srgbClr val="667085"/>
                  </a:solidFill>
                  <a:latin typeface="Arial" panose="020B0604020202020204"/>
                  <a:ea typeface="微软雅黑" panose="020B0503020204020204" charset="-122"/>
                  <a:cs typeface="Arial" panose="020B0604020202020204"/>
                </a:rPr>
                <a:t>图6：开启侧与关闭侧的速度差及距离差</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17" name="Rectangle 17"/>
            <p:cNvSpPr/>
            <p:nvPr/>
          </p:nvSpPr>
          <p:spPr>
            <a:xfrm>
              <a:off x="666750" y="5819775"/>
              <a:ext cx="10839450" cy="400050"/>
            </a:xfrm>
            <a:prstGeom prst="roundRect">
              <a:avLst>
                <a:gd name="adj" fmla="val 19048"/>
              </a:avLst>
            </a:prstGeom>
            <a:solidFill>
              <a:srgbClr val="FFF4F0"/>
            </a:solidFill>
            <a:ln w="14288">
              <a:solidFill>
                <a:srgbClr val="E3B2A7"/>
              </a:solidFill>
            </a:ln>
          </p:spPr>
        </p:sp>
        <p:sp>
          <p:nvSpPr>
            <p:cNvPr id="18" name="TextBox 18"/>
            <p:cNvSpPr txBox="1"/>
            <p:nvPr/>
          </p:nvSpPr>
          <p:spPr>
            <a:xfrm>
              <a:off x="2611298" y="5908675"/>
              <a:ext cx="6950354" cy="278702"/>
            </a:xfrm>
            <a:prstGeom prst="rect">
              <a:avLst/>
            </a:prstGeom>
            <a:noFill/>
            <a:ln>
              <a:noFill/>
            </a:ln>
          </p:spPr>
          <p:txBody>
            <a:bodyPr wrap="none" lIns="0" tIns="0" rIns="0" bIns="0" anchor="t" anchorCtr="0">
              <a:spAutoFit/>
            </a:bodyPr>
            <a:lstStyle/>
            <a:p>
              <a:pPr algn="ctr"/>
              <a:r>
                <a:rPr lang="zh-CN" sz="1420" b="1" dirty="0">
                  <a:solidFill>
                    <a:srgbClr val="C00000"/>
                  </a:solidFill>
                  <a:latin typeface="Arial" panose="020B0604020202020204"/>
                  <a:ea typeface="微软雅黑" panose="020B0503020204020204" charset="-122"/>
                  <a:cs typeface="Arial" panose="020B0604020202020204"/>
                </a:rPr>
                <a:t>Hoeffding 界保证：增加重复次数即可把误判概率压低，同时保持多项式复杂度。</a:t>
              </a:r>
              <a:endParaRPr lang="zh-CN" sz="1420" b="1" dirty="0">
                <a:solidFill>
                  <a:srgbClr val="C00000"/>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81673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1" name="TextBox 21"/>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14</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658493"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3. 攻击方法</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9" name="page-body"/>
          <p:cNvGrpSpPr/>
          <p:nvPr/>
        </p:nvGrpSpPr>
        <p:grpSpPr>
          <a:xfrm>
            <a:off x="666750" y="1492250"/>
            <a:ext cx="10839450" cy="4932045"/>
            <a:chOff x="666750" y="1492250"/>
            <a:chExt cx="10839450" cy="4932045"/>
          </a:xfrm>
        </p:grpSpPr>
        <p:sp>
          <p:nvSpPr>
            <p:cNvPr id="10" name="TextBox 10"/>
            <p:cNvSpPr txBox="1"/>
            <p:nvPr/>
          </p:nvSpPr>
          <p:spPr>
            <a:xfrm>
              <a:off x="672846" y="1492250"/>
              <a:ext cx="6891528"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理论保证与原型实现之间，仍隔着工程化鸿沟</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52650"/>
              <a:ext cx="6858000" cy="3476625"/>
            </a:xfrm>
            <a:prstGeom prst="roundRect">
              <a:avLst>
                <a:gd name="adj" fmla="val 3288"/>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76300" y="2474420"/>
              <a:ext cx="6438900" cy="2671159"/>
            </a:xfrm>
            <a:prstGeom prst="rect">
              <a:avLst/>
            </a:prstGeom>
          </p:spPr>
        </p:pic>
        <p:sp>
          <p:nvSpPr>
            <p:cNvPr id="13" name="TextBox 13"/>
            <p:cNvSpPr/>
            <p:nvPr/>
          </p:nvSpPr>
          <p:spPr>
            <a:xfrm>
              <a:off x="2639568" y="5365718"/>
              <a:ext cx="2912269" cy="220028"/>
            </a:xfrm>
            <a:prstGeom prst="rect">
              <a:avLst/>
            </a:prstGeom>
            <a:noFill/>
            <a:ln>
              <a:noFill/>
            </a:ln>
          </p:spPr>
          <p:txBody>
            <a:bodyPr wrap="none" lIns="95" tIns="32" rIns="0" bIns="0" anchor="t" anchorCtr="0">
              <a:noAutofit/>
            </a:bodyPr>
            <a:lstStyle/>
            <a:p>
              <a:pPr algn="ctr"/>
              <a:r>
                <a:rPr lang="zh-CN" sz="1120" dirty="0">
                  <a:solidFill>
                    <a:srgbClr val="667085"/>
                  </a:solidFill>
                  <a:latin typeface="Arial" panose="020B0604020202020204"/>
                  <a:ea typeface="微软雅黑" panose="020B0503020204020204" charset="-122"/>
                  <a:cs typeface="Arial" panose="020B0604020202020204"/>
                </a:rPr>
                <a:t>图7：DistanceToToggle 算法的距离测量方式</a:t>
              </a:r>
              <a:endParaRPr lang="zh-CN" sz="1120" dirty="0">
                <a:solidFill>
                  <a:srgbClr val="667085"/>
                </a:solidFill>
                <a:latin typeface="Arial" panose="020B0604020202020204"/>
                <a:ea typeface="微软雅黑" panose="020B0503020204020204" charset="-122"/>
                <a:cs typeface="Arial" panose="020B0604020202020204"/>
              </a:endParaRPr>
            </a:p>
          </p:txBody>
        </p:sp>
        <p:sp>
          <p:nvSpPr>
            <p:cNvPr id="14" name="Rectangle 14"/>
            <p:cNvSpPr/>
            <p:nvPr/>
          </p:nvSpPr>
          <p:spPr>
            <a:xfrm>
              <a:off x="7810500" y="2152650"/>
              <a:ext cx="3695700" cy="3476625"/>
            </a:xfrm>
            <a:prstGeom prst="roundRect">
              <a:avLst>
                <a:gd name="adj" fmla="val 3288"/>
              </a:avLst>
            </a:prstGeom>
            <a:solidFill>
              <a:srgbClr val="F3F8F5"/>
            </a:solidFill>
            <a:ln w="19050">
              <a:solidFill>
                <a:srgbClr val="A6C9B4"/>
              </a:solidFill>
            </a:ln>
          </p:spPr>
        </p:sp>
        <p:sp>
          <p:nvSpPr>
            <p:cNvPr id="15" name="TextBox 15"/>
            <p:cNvSpPr txBox="1"/>
            <p:nvPr/>
          </p:nvSpPr>
          <p:spPr>
            <a:xfrm>
              <a:off x="8124063" y="2406650"/>
              <a:ext cx="1652168"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必须准确表述</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8127111" y="2943225"/>
              <a:ext cx="2899918" cy="1335976"/>
            </a:xfrm>
            <a:prstGeom prst="rect">
              <a:avLst/>
            </a:prstGeom>
            <a:noFill/>
            <a:ln>
              <a:noFill/>
            </a:ln>
          </p:spPr>
          <p:txBody>
            <a:bodyPr wrap="none" lIns="0" tIns="0" rIns="0" bIns="0" anchor="t" anchorCtr="0">
              <a:spAutoFit/>
            </a:bodyPr>
            <a:lstStyle/>
            <a:p>
              <a:pPr algn="l">
                <a:lnSpc>
                  <a:spcPts val="2775"/>
                </a:lnSpc>
              </a:pPr>
              <a:r>
                <a:rPr lang="zh-CN" sz="1420" dirty="0">
                  <a:solidFill>
                    <a:srgbClr val="262626"/>
                  </a:solidFill>
                  <a:latin typeface="Arial" panose="020B0604020202020204"/>
                  <a:ea typeface="微软雅黑" panose="020B0503020204020204" charset="-122"/>
                  <a:cs typeface="Arial" panose="020B0604020202020204"/>
                </a:rPr>
                <a:t>理论：查询与计算均为多项式。</a:t>
              </a:r>
              <a:br>
                <a:rPr lang="zh-CN" sz="1420" dirty="0">
                  <a:solidFill>
                    <a:srgbClr val="262626"/>
                  </a:solidFill>
                  <a:latin typeface="Arial" panose="020B0604020202020204"/>
                  <a:ea typeface="微软雅黑" panose="020B0503020204020204" charset="-122"/>
                  <a:cs typeface="Arial" panose="020B0604020202020204"/>
                </a:rPr>
              </a:br>
              <a:r>
                <a:rPr lang="zh-CN" sz="1420" dirty="0">
                  <a:solidFill>
                    <a:srgbClr val="262626"/>
                  </a:solidFill>
                  <a:latin typeface="Arial" panose="020B0604020202020204"/>
                  <a:ea typeface="微软雅黑" panose="020B0503020204020204" charset="-122"/>
                  <a:cs typeface="Arial" panose="020B0604020202020204"/>
                </a:rPr>
                <a:t>原型：部分步骤使用白盒信息加速；</a:t>
              </a:r>
              <a:br>
                <a:rPr lang="zh-CN" sz="1420" dirty="0">
                  <a:solidFill>
                    <a:srgbClr val="262626"/>
                  </a:solidFill>
                  <a:latin typeface="Arial" panose="020B0604020202020204"/>
                  <a:ea typeface="微软雅黑" panose="020B0503020204020204" charset="-122"/>
                  <a:cs typeface="Arial" panose="020B0604020202020204"/>
                </a:rPr>
              </a:br>
              <a:r>
                <a:rPr lang="zh-CN" sz="1420" dirty="0">
                  <a:solidFill>
                    <a:srgbClr val="262626"/>
                  </a:solidFill>
                  <a:latin typeface="Arial" panose="020B0604020202020204"/>
                  <a:ea typeface="微软雅黑" panose="020B0503020204020204" charset="-122"/>
                  <a:cs typeface="Arial" panose="020B0604020202020204"/>
                </a:rPr>
                <a:t>朴素聚类成本未完全计时；</a:t>
              </a:r>
              <a:br>
                <a:rPr lang="zh-CN" sz="1420" dirty="0">
                  <a:solidFill>
                    <a:srgbClr val="262626"/>
                  </a:solidFill>
                  <a:latin typeface="Arial" panose="020B0604020202020204"/>
                  <a:ea typeface="微软雅黑" panose="020B0503020204020204" charset="-122"/>
                  <a:cs typeface="Arial" panose="020B0604020202020204"/>
                </a:rPr>
              </a:br>
              <a:r>
                <a:rPr lang="zh-CN" sz="1420" dirty="0">
                  <a:solidFill>
                    <a:srgbClr val="262626"/>
                  </a:solidFill>
                  <a:latin typeface="Arial" panose="020B0604020202020204"/>
                  <a:ea typeface="微软雅黑" panose="020B0503020204020204" charset="-122"/>
                  <a:cs typeface="Arial" panose="020B0604020202020204"/>
                </a:rPr>
                <a:t>攻击当前层时假设前层完美恢复。</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8540115" y="5127625"/>
              <a:ext cx="2236470" cy="29337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panose="020B0604020202020204"/>
                  <a:ea typeface="微软雅黑" panose="020B0503020204020204" charset="-122"/>
                  <a:cs typeface="Arial" panose="020B0604020202020204"/>
                </a:rPr>
                <a:t>不是成熟的一键攻击工具</a:t>
              </a:r>
              <a:endParaRPr lang="zh-CN" sz="1500" b="1" dirty="0">
                <a:solidFill>
                  <a:srgbClr val="C0000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0" name="TextBox 20"/>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15</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269179" rIns="0" bIns="0" anchor="t" anchorCtr="0">
            <a:noAutofit/>
          </a:bodyPr>
          <a:lstStyle/>
          <a:p>
            <a:pPr algn="l"/>
            <a:r>
              <a:rPr lang="zh-CN" sz="4950" b="1" dirty="0">
                <a:solidFill>
                  <a:srgbClr val="FFFFFF"/>
                </a:solidFill>
                <a:latin typeface="Arial" panose="020B0604020202020204"/>
                <a:ea typeface="微软雅黑" panose="020B0503020204020204" charset="-122"/>
                <a:cs typeface="Arial" panose="020B0604020202020204"/>
              </a:rPr>
              <a:t> 论文实验与评估</a:t>
            </a:r>
            <a:endParaRPr lang="zh-CN" sz="495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04</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p:nvPr>
            <p:ph type="sldNum" sz="quarter" idx="12"/>
          </p:nvPr>
        </p:nvSpPr>
        <p:spPr>
          <a:xfrm>
            <a:off x="8877586" y="6314408"/>
            <a:ext cx="2699956" cy="316802"/>
          </a:xfrm>
          <a:prstGeom prst="rect">
            <a:avLst/>
          </a:prstGeom>
          <a:noFill/>
          <a:ln>
            <a:noFill/>
          </a:ln>
        </p:spPr>
        <p:txBody>
          <a:bodyPr wrap="none" lIns="0" tIns="45712" rIns="91345" bIns="0" anchor="t" anchorCtr="0">
            <a:noAutofit/>
          </a:bodyPr>
          <a:lstStyle/>
          <a:p>
            <a:pPr algn="r"/>
            <a:r>
              <a:rPr lang="zh-CN" sz="1000" dirty="0">
                <a:solidFill>
                  <a:srgbClr val="404040"/>
                </a:solidFill>
                <a:latin typeface="Arial" panose="020B0604020202020204"/>
                <a:ea typeface="Arial" panose="020B0604020202020204"/>
                <a:cs typeface="Arial" panose="020B0604020202020204"/>
              </a:rPr>
              <a:t>16</a:t>
            </a:r>
            <a:endParaRPr lang="zh-CN" sz="100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4. 论文实验与评估</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51" name="page-body"/>
          <p:cNvGrpSpPr/>
          <p:nvPr/>
        </p:nvGrpSpPr>
        <p:grpSpPr>
          <a:xfrm>
            <a:off x="609600" y="1492250"/>
            <a:ext cx="10896600" cy="4337050"/>
            <a:chOff x="609600" y="1492250"/>
            <a:chExt cx="10896600" cy="4337050"/>
          </a:xfrm>
        </p:grpSpPr>
        <p:sp>
          <p:nvSpPr>
            <p:cNvPr id="10" name="TextBox 10"/>
            <p:cNvSpPr txBox="1"/>
            <p:nvPr/>
          </p:nvSpPr>
          <p:spPr>
            <a:xfrm>
              <a:off x="672846" y="1492250"/>
              <a:ext cx="9023238"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实验对象：一个拥有 93.5 万参数的 CIFAR-10 全连接网络</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85800" y="2171700"/>
              <a:ext cx="3238500" cy="1143000"/>
            </a:xfrm>
            <a:prstGeom prst="roundRect">
              <a:avLst>
                <a:gd name="adj" fmla="val 10000"/>
              </a:avLst>
            </a:prstGeom>
            <a:solidFill>
              <a:srgbClr val="FFFFFF"/>
            </a:solidFill>
            <a:ln w="19050">
              <a:solidFill>
                <a:srgbClr val="A6C9B4"/>
              </a:solidFill>
            </a:ln>
          </p:spPr>
        </p:sp>
        <p:sp>
          <p:nvSpPr>
            <p:cNvPr id="12" name="TextBox 12"/>
            <p:cNvSpPr txBox="1"/>
            <p:nvPr/>
          </p:nvSpPr>
          <p:spPr>
            <a:xfrm>
              <a:off x="1668754" y="2355850"/>
              <a:ext cx="1272592" cy="396050"/>
            </a:xfrm>
            <a:prstGeom prst="rect">
              <a:avLst/>
            </a:prstGeom>
            <a:noFill/>
            <a:ln>
              <a:noFill/>
            </a:ln>
          </p:spPr>
          <p:txBody>
            <a:bodyPr wrap="none" lIns="0" tIns="0" rIns="0" bIns="0" anchor="t" anchorCtr="0">
              <a:spAutoFit/>
            </a:bodyPr>
            <a:lstStyle/>
            <a:p>
              <a:pPr algn="ctr"/>
              <a:r>
                <a:rPr lang="en-US" sz="2020" b="1" dirty="0">
                  <a:solidFill>
                    <a:srgbClr val="005725"/>
                  </a:solidFill>
                  <a:latin typeface="Arial" panose="020B0604020202020204"/>
                  <a:ea typeface="Arial" panose="020B0604020202020204"/>
                  <a:cs typeface="Arial" panose="020B0604020202020204"/>
                </a:rPr>
                <a:t>CIFAR-10</a:t>
              </a:r>
              <a:endParaRPr lang="en-US" sz="2020" b="1" dirty="0">
                <a:solidFill>
                  <a:srgbClr val="005725"/>
                </a:solidFill>
                <a:latin typeface="Arial" panose="020B0604020202020204"/>
                <a:ea typeface="Arial" panose="020B0604020202020204"/>
                <a:cs typeface="Arial" panose="020B0604020202020204"/>
              </a:endParaRPr>
            </a:p>
          </p:txBody>
        </p:sp>
        <p:sp>
          <p:nvSpPr>
            <p:cNvPr id="13" name="TextBox 13"/>
            <p:cNvSpPr txBox="1"/>
            <p:nvPr/>
          </p:nvSpPr>
          <p:spPr>
            <a:xfrm>
              <a:off x="1712125" y="2828925"/>
              <a:ext cx="1185850" cy="308991"/>
            </a:xfrm>
            <a:prstGeom prst="rect">
              <a:avLst/>
            </a:prstGeom>
            <a:noFill/>
            <a:ln>
              <a:noFill/>
            </a:ln>
          </p:spPr>
          <p:txBody>
            <a:bodyPr wrap="none" lIns="0" tIns="0" rIns="0" bIns="0" anchor="t" anchorCtr="0">
              <a:spAutoFit/>
            </a:bodyPr>
            <a:lstStyle/>
            <a:p>
              <a:pPr algn="ctr"/>
              <a:r>
                <a:rPr lang="zh-CN" sz="1580" dirty="0">
                  <a:solidFill>
                    <a:srgbClr val="262626"/>
                  </a:solidFill>
                  <a:latin typeface="Arial" panose="020B0604020202020204"/>
                  <a:ea typeface="微软雅黑" panose="020B0503020204020204" charset="-122"/>
                  <a:cs typeface="Arial" panose="020B0604020202020204"/>
                </a:rPr>
                <a:t>3072 维输入</a:t>
              </a:r>
              <a:endParaRPr lang="zh-CN" sz="1580" dirty="0">
                <a:solidFill>
                  <a:srgbClr val="262626"/>
                </a:solidFill>
                <a:latin typeface="Arial" panose="020B0604020202020204"/>
                <a:ea typeface="微软雅黑" panose="020B0503020204020204" charset="-122"/>
                <a:cs typeface="Arial" panose="020B0604020202020204"/>
              </a:endParaRPr>
            </a:p>
          </p:txBody>
        </p:sp>
        <p:sp>
          <p:nvSpPr>
            <p:cNvPr id="14" name="Rectangle 14"/>
            <p:cNvSpPr/>
            <p:nvPr/>
          </p:nvSpPr>
          <p:spPr>
            <a:xfrm>
              <a:off x="4476750" y="2171700"/>
              <a:ext cx="3238500" cy="1143000"/>
            </a:xfrm>
            <a:prstGeom prst="roundRect">
              <a:avLst>
                <a:gd name="adj" fmla="val 10000"/>
              </a:avLst>
            </a:prstGeom>
            <a:solidFill>
              <a:srgbClr val="FFFFFF"/>
            </a:solidFill>
            <a:ln w="19050">
              <a:solidFill>
                <a:srgbClr val="A6C9B4"/>
              </a:solidFill>
            </a:ln>
          </p:spPr>
        </p:sp>
        <p:sp>
          <p:nvSpPr>
            <p:cNvPr id="15" name="TextBox 15"/>
            <p:cNvSpPr txBox="1"/>
            <p:nvPr/>
          </p:nvSpPr>
          <p:spPr>
            <a:xfrm>
              <a:off x="5452915" y="2317750"/>
              <a:ext cx="1286169" cy="454724"/>
            </a:xfrm>
            <a:prstGeom prst="rect">
              <a:avLst/>
            </a:prstGeom>
            <a:noFill/>
            <a:ln>
              <a:noFill/>
            </a:ln>
          </p:spPr>
          <p:txBody>
            <a:bodyPr wrap="none" lIns="0" tIns="0" rIns="0" bIns="0" anchor="t" anchorCtr="0">
              <a:spAutoFit/>
            </a:bodyPr>
            <a:lstStyle/>
            <a:p>
              <a:pPr algn="ctr"/>
              <a:r>
                <a:rPr lang="zh-CN" sz="2320" b="1" dirty="0">
                  <a:solidFill>
                    <a:srgbClr val="005725"/>
                  </a:solidFill>
                  <a:latin typeface="Arial" panose="020B0604020202020204"/>
                  <a:ea typeface="Arial" panose="020B0604020202020204"/>
                  <a:cs typeface="Arial" panose="020B0604020202020204"/>
                </a:rPr>
                <a:t>935,370</a:t>
              </a:r>
              <a:endParaRPr lang="zh-CN" sz="2320" b="1" dirty="0">
                <a:solidFill>
                  <a:srgbClr val="005725"/>
                </a:solidFill>
                <a:latin typeface="Arial" panose="020B0604020202020204"/>
                <a:ea typeface="Arial" panose="020B0604020202020204"/>
                <a:cs typeface="Arial" panose="020B0604020202020204"/>
              </a:endParaRPr>
            </a:p>
          </p:txBody>
        </p:sp>
        <p:sp>
          <p:nvSpPr>
            <p:cNvPr id="16" name="TextBox 16"/>
            <p:cNvSpPr txBox="1"/>
            <p:nvPr/>
          </p:nvSpPr>
          <p:spPr>
            <a:xfrm>
              <a:off x="5662600" y="2828925"/>
              <a:ext cx="866800" cy="308991"/>
            </a:xfrm>
            <a:prstGeom prst="rect">
              <a:avLst/>
            </a:prstGeom>
            <a:noFill/>
            <a:ln>
              <a:noFill/>
            </a:ln>
          </p:spPr>
          <p:txBody>
            <a:bodyPr wrap="none" lIns="0" tIns="0" rIns="0" bIns="0" anchor="t" anchorCtr="0">
              <a:spAutoFit/>
            </a:bodyPr>
            <a:lstStyle/>
            <a:p>
              <a:pPr algn="ctr"/>
              <a:r>
                <a:rPr lang="zh-CN" sz="1580" dirty="0">
                  <a:solidFill>
                    <a:srgbClr val="262626"/>
                  </a:solidFill>
                  <a:latin typeface="Arial" panose="020B0604020202020204"/>
                  <a:ea typeface="微软雅黑" panose="020B0503020204020204" charset="-122"/>
                  <a:cs typeface="Arial" panose="020B0604020202020204"/>
                </a:rPr>
                <a:t>网络参数</a:t>
              </a:r>
              <a:endParaRPr lang="zh-CN" sz="1580" dirty="0">
                <a:solidFill>
                  <a:srgbClr val="262626"/>
                </a:solidFill>
                <a:latin typeface="Arial" panose="020B0604020202020204"/>
                <a:ea typeface="微软雅黑" panose="020B0503020204020204" charset="-122"/>
                <a:cs typeface="Arial" panose="020B0604020202020204"/>
              </a:endParaRPr>
            </a:p>
          </p:txBody>
        </p:sp>
        <p:sp>
          <p:nvSpPr>
            <p:cNvPr id="17" name="Rectangle 17"/>
            <p:cNvSpPr/>
            <p:nvPr/>
          </p:nvSpPr>
          <p:spPr>
            <a:xfrm>
              <a:off x="8267700" y="2171700"/>
              <a:ext cx="3238500" cy="1143000"/>
            </a:xfrm>
            <a:prstGeom prst="roundRect">
              <a:avLst>
                <a:gd name="adj" fmla="val 10000"/>
              </a:avLst>
            </a:prstGeom>
            <a:solidFill>
              <a:srgbClr val="FFFFFF"/>
            </a:solidFill>
            <a:ln w="19050">
              <a:solidFill>
                <a:srgbClr val="A6C9B4"/>
              </a:solidFill>
            </a:ln>
          </p:spPr>
        </p:sp>
        <p:sp>
          <p:nvSpPr>
            <p:cNvPr id="18" name="TextBox 18"/>
            <p:cNvSpPr txBox="1"/>
            <p:nvPr/>
          </p:nvSpPr>
          <p:spPr>
            <a:xfrm>
              <a:off x="9604593" y="2317750"/>
              <a:ext cx="564714" cy="454724"/>
            </a:xfrm>
            <a:prstGeom prst="rect">
              <a:avLst/>
            </a:prstGeom>
            <a:noFill/>
            <a:ln>
              <a:noFill/>
            </a:ln>
          </p:spPr>
          <p:txBody>
            <a:bodyPr wrap="none" lIns="0" tIns="0" rIns="0" bIns="0" anchor="t" anchorCtr="0">
              <a:spAutoFit/>
            </a:bodyPr>
            <a:lstStyle/>
            <a:p>
              <a:pPr algn="ctr"/>
              <a:r>
                <a:rPr lang="zh-CN" sz="2320" b="1" dirty="0">
                  <a:solidFill>
                    <a:srgbClr val="005725"/>
                  </a:solidFill>
                  <a:latin typeface="Arial" panose="020B0604020202020204"/>
                  <a:ea typeface="Arial" panose="020B0604020202020204"/>
                  <a:cs typeface="Arial" panose="020B0604020202020204"/>
                </a:rPr>
                <a:t>832</a:t>
              </a:r>
              <a:endParaRPr lang="zh-CN" sz="2320" b="1" dirty="0">
                <a:solidFill>
                  <a:srgbClr val="005725"/>
                </a:solidFill>
                <a:latin typeface="Arial" panose="020B0604020202020204"/>
                <a:ea typeface="Arial" panose="020B0604020202020204"/>
                <a:cs typeface="Arial" panose="020B0604020202020204"/>
              </a:endParaRPr>
            </a:p>
          </p:txBody>
        </p:sp>
        <p:sp>
          <p:nvSpPr>
            <p:cNvPr id="19" name="TextBox 19"/>
            <p:cNvSpPr txBox="1"/>
            <p:nvPr/>
          </p:nvSpPr>
          <p:spPr>
            <a:xfrm>
              <a:off x="9347200" y="2828925"/>
              <a:ext cx="1079500" cy="308991"/>
            </a:xfrm>
            <a:prstGeom prst="rect">
              <a:avLst/>
            </a:prstGeom>
            <a:noFill/>
            <a:ln>
              <a:noFill/>
            </a:ln>
          </p:spPr>
          <p:txBody>
            <a:bodyPr wrap="none" lIns="0" tIns="0" rIns="0" bIns="0" anchor="t" anchorCtr="0">
              <a:spAutoFit/>
            </a:bodyPr>
            <a:lstStyle/>
            <a:p>
              <a:pPr algn="ctr"/>
              <a:r>
                <a:rPr lang="zh-CN" sz="1580" dirty="0">
                  <a:solidFill>
                    <a:srgbClr val="262626"/>
                  </a:solidFill>
                  <a:latin typeface="Arial" panose="020B0604020202020204"/>
                  <a:ea typeface="微软雅黑" panose="020B0503020204020204" charset="-122"/>
                  <a:cs typeface="Arial" panose="020B0604020202020204"/>
                </a:rPr>
                <a:t>隐藏神经元</a:t>
              </a:r>
              <a:endParaRPr lang="zh-CN" sz="1580" dirty="0">
                <a:solidFill>
                  <a:srgbClr val="262626"/>
                </a:solidFill>
                <a:latin typeface="Arial" panose="020B0604020202020204"/>
                <a:ea typeface="微软雅黑" panose="020B0503020204020204" charset="-122"/>
                <a:cs typeface="Arial" panose="020B0604020202020204"/>
              </a:endParaRPr>
            </a:p>
          </p:txBody>
        </p:sp>
        <p:sp>
          <p:nvSpPr>
            <p:cNvPr id="20" name="Rectangle 20"/>
            <p:cNvSpPr/>
            <p:nvPr/>
          </p:nvSpPr>
          <p:spPr>
            <a:xfrm>
              <a:off x="609600" y="3714750"/>
              <a:ext cx="1428750" cy="990600"/>
            </a:xfrm>
            <a:prstGeom prst="roundRect">
              <a:avLst>
                <a:gd name="adj" fmla="val 11538"/>
              </a:avLst>
            </a:prstGeom>
            <a:solidFill>
              <a:srgbClr val="EAF4EE"/>
            </a:solidFill>
            <a:ln w="19050">
              <a:solidFill>
                <a:srgbClr val="8FBAA1"/>
              </a:solidFill>
            </a:ln>
          </p:spPr>
        </p:sp>
        <p:sp>
          <p:nvSpPr>
            <p:cNvPr id="21" name="TextBox 21"/>
            <p:cNvSpPr txBox="1"/>
            <p:nvPr/>
          </p:nvSpPr>
          <p:spPr>
            <a:xfrm>
              <a:off x="1135380" y="3911600"/>
              <a:ext cx="377190"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输入</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986786" y="4203700"/>
              <a:ext cx="674378"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3072</a:t>
              </a:r>
              <a:endParaRPr lang="zh-CN" sz="2100" b="1" dirty="0">
                <a:solidFill>
                  <a:srgbClr val="262626"/>
                </a:solidFill>
                <a:latin typeface="Arial" panose="020B0604020202020204"/>
                <a:ea typeface="Arial" panose="020B0604020202020204"/>
                <a:cs typeface="Arial" panose="020B0604020202020204"/>
              </a:endParaRPr>
            </a:p>
          </p:txBody>
        </p:sp>
        <p:sp>
          <p:nvSpPr>
            <p:cNvPr id="23" name="Freeform 23"/>
            <p:cNvSpPr/>
            <p:nvPr/>
          </p:nvSpPr>
          <p:spPr>
            <a:xfrm>
              <a:off x="2076450" y="4210050"/>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24" name="Freeform 24"/>
            <p:cNvSpPr/>
            <p:nvPr/>
          </p:nvSpPr>
          <p:spPr>
            <a:xfrm>
              <a:off x="2314575" y="4152900"/>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25" name="Rectangle 25"/>
            <p:cNvSpPr/>
            <p:nvPr/>
          </p:nvSpPr>
          <p:spPr>
            <a:xfrm>
              <a:off x="2476500" y="3714750"/>
              <a:ext cx="1428750" cy="990600"/>
            </a:xfrm>
            <a:prstGeom prst="roundRect">
              <a:avLst>
                <a:gd name="adj" fmla="val 11538"/>
              </a:avLst>
            </a:prstGeom>
            <a:solidFill>
              <a:srgbClr val="FFFFFF"/>
            </a:solidFill>
            <a:ln w="19050">
              <a:solidFill>
                <a:srgbClr val="8FBAA1"/>
              </a:solidFill>
            </a:ln>
          </p:spPr>
        </p:sp>
        <p:sp>
          <p:nvSpPr>
            <p:cNvPr id="26" name="TextBox 26"/>
            <p:cNvSpPr txBox="1"/>
            <p:nvPr/>
          </p:nvSpPr>
          <p:spPr>
            <a:xfrm>
              <a:off x="2830311" y="3911600"/>
              <a:ext cx="721127"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隐藏层 1</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2935316" y="4203700"/>
              <a:ext cx="511117"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256</a:t>
              </a:r>
              <a:endParaRPr lang="zh-CN" sz="2100" b="1" dirty="0">
                <a:solidFill>
                  <a:srgbClr val="262626"/>
                </a:solidFill>
                <a:latin typeface="Arial" panose="020B0604020202020204"/>
                <a:ea typeface="Arial" panose="020B0604020202020204"/>
                <a:cs typeface="Arial" panose="020B0604020202020204"/>
              </a:endParaRPr>
            </a:p>
          </p:txBody>
        </p:sp>
        <p:sp>
          <p:nvSpPr>
            <p:cNvPr id="28" name="Freeform 28"/>
            <p:cNvSpPr/>
            <p:nvPr/>
          </p:nvSpPr>
          <p:spPr>
            <a:xfrm>
              <a:off x="3943350" y="4210050"/>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29" name="Freeform 29"/>
            <p:cNvSpPr/>
            <p:nvPr/>
          </p:nvSpPr>
          <p:spPr>
            <a:xfrm>
              <a:off x="4181475" y="4152900"/>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30" name="Rectangle 30"/>
            <p:cNvSpPr/>
            <p:nvPr/>
          </p:nvSpPr>
          <p:spPr>
            <a:xfrm>
              <a:off x="4343400" y="3714750"/>
              <a:ext cx="1428750" cy="990600"/>
            </a:xfrm>
            <a:prstGeom prst="roundRect">
              <a:avLst>
                <a:gd name="adj" fmla="val 11538"/>
              </a:avLst>
            </a:prstGeom>
            <a:solidFill>
              <a:srgbClr val="FFFFFF"/>
            </a:solidFill>
            <a:ln w="19050">
              <a:solidFill>
                <a:srgbClr val="8FBAA1"/>
              </a:solidFill>
            </a:ln>
          </p:spPr>
        </p:sp>
        <p:sp>
          <p:nvSpPr>
            <p:cNvPr id="31" name="TextBox 31"/>
            <p:cNvSpPr txBox="1"/>
            <p:nvPr/>
          </p:nvSpPr>
          <p:spPr>
            <a:xfrm>
              <a:off x="4697211" y="3911600"/>
              <a:ext cx="721127"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隐藏层 2</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4802216" y="4203700"/>
              <a:ext cx="511117"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256</a:t>
              </a:r>
              <a:endParaRPr lang="zh-CN" sz="2100" b="1" dirty="0">
                <a:solidFill>
                  <a:srgbClr val="262626"/>
                </a:solidFill>
                <a:latin typeface="Arial" panose="020B0604020202020204"/>
                <a:ea typeface="Arial" panose="020B0604020202020204"/>
                <a:cs typeface="Arial" panose="020B0604020202020204"/>
              </a:endParaRPr>
            </a:p>
          </p:txBody>
        </p:sp>
        <p:sp>
          <p:nvSpPr>
            <p:cNvPr id="33" name="Freeform 33"/>
            <p:cNvSpPr/>
            <p:nvPr/>
          </p:nvSpPr>
          <p:spPr>
            <a:xfrm>
              <a:off x="5810250" y="4210050"/>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34" name="Freeform 34"/>
            <p:cNvSpPr/>
            <p:nvPr/>
          </p:nvSpPr>
          <p:spPr>
            <a:xfrm>
              <a:off x="6048375" y="4152900"/>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35" name="Rectangle 35"/>
            <p:cNvSpPr/>
            <p:nvPr/>
          </p:nvSpPr>
          <p:spPr>
            <a:xfrm>
              <a:off x="6210300" y="3714750"/>
              <a:ext cx="1428750" cy="990600"/>
            </a:xfrm>
            <a:prstGeom prst="roundRect">
              <a:avLst>
                <a:gd name="adj" fmla="val 11538"/>
              </a:avLst>
            </a:prstGeom>
            <a:solidFill>
              <a:srgbClr val="FFFFFF"/>
            </a:solidFill>
            <a:ln w="19050">
              <a:solidFill>
                <a:srgbClr val="8FBAA1"/>
              </a:solidFill>
            </a:ln>
          </p:spPr>
        </p:sp>
        <p:sp>
          <p:nvSpPr>
            <p:cNvPr id="36" name="TextBox 36"/>
            <p:cNvSpPr txBox="1"/>
            <p:nvPr/>
          </p:nvSpPr>
          <p:spPr>
            <a:xfrm>
              <a:off x="6564111" y="3911600"/>
              <a:ext cx="721127"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隐藏层 3</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6669116" y="4203700"/>
              <a:ext cx="511117"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256</a:t>
              </a:r>
              <a:endParaRPr lang="zh-CN" sz="2100" b="1" dirty="0">
                <a:solidFill>
                  <a:srgbClr val="262626"/>
                </a:solidFill>
                <a:latin typeface="Arial" panose="020B0604020202020204"/>
                <a:ea typeface="Arial" panose="020B0604020202020204"/>
                <a:cs typeface="Arial" panose="020B0604020202020204"/>
              </a:endParaRPr>
            </a:p>
          </p:txBody>
        </p:sp>
        <p:sp>
          <p:nvSpPr>
            <p:cNvPr id="38" name="Freeform 38"/>
            <p:cNvSpPr/>
            <p:nvPr/>
          </p:nvSpPr>
          <p:spPr>
            <a:xfrm>
              <a:off x="7677150" y="4210050"/>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39" name="Freeform 39"/>
            <p:cNvSpPr/>
            <p:nvPr/>
          </p:nvSpPr>
          <p:spPr>
            <a:xfrm>
              <a:off x="7915275" y="4152900"/>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40" name="Rectangle 40"/>
            <p:cNvSpPr/>
            <p:nvPr/>
          </p:nvSpPr>
          <p:spPr>
            <a:xfrm>
              <a:off x="8077200" y="3714750"/>
              <a:ext cx="1428750" cy="990600"/>
            </a:xfrm>
            <a:prstGeom prst="roundRect">
              <a:avLst>
                <a:gd name="adj" fmla="val 11538"/>
              </a:avLst>
            </a:prstGeom>
            <a:solidFill>
              <a:srgbClr val="FFFFFF"/>
            </a:solidFill>
            <a:ln w="19050">
              <a:solidFill>
                <a:srgbClr val="8FBAA1"/>
              </a:solidFill>
            </a:ln>
          </p:spPr>
        </p:sp>
        <p:sp>
          <p:nvSpPr>
            <p:cNvPr id="41" name="TextBox 41"/>
            <p:cNvSpPr txBox="1"/>
            <p:nvPr/>
          </p:nvSpPr>
          <p:spPr>
            <a:xfrm>
              <a:off x="8431011" y="3911600"/>
              <a:ext cx="721127"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隐藏层 4</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8617647" y="4203700"/>
              <a:ext cx="347857"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64</a:t>
              </a:r>
              <a:endParaRPr lang="zh-CN" sz="2100" b="1" dirty="0">
                <a:solidFill>
                  <a:srgbClr val="262626"/>
                </a:solidFill>
                <a:latin typeface="Arial" panose="020B0604020202020204"/>
                <a:ea typeface="Arial" panose="020B0604020202020204"/>
                <a:cs typeface="Arial" panose="020B0604020202020204"/>
              </a:endParaRPr>
            </a:p>
          </p:txBody>
        </p:sp>
        <p:sp>
          <p:nvSpPr>
            <p:cNvPr id="43" name="Freeform 43"/>
            <p:cNvSpPr/>
            <p:nvPr/>
          </p:nvSpPr>
          <p:spPr>
            <a:xfrm>
              <a:off x="9544050" y="4210050"/>
              <a:ext cx="304800" cy="9525"/>
            </a:xfrm>
            <a:custGeom>
              <a:avLst/>
              <a:gdLst/>
              <a:ahLst/>
              <a:cxnLst/>
              <a:rect l="l" t="t" r="r" b="b"/>
              <a:pathLst>
                <a:path w="304800" h="9525">
                  <a:moveTo>
                    <a:pt x="0" y="0"/>
                  </a:moveTo>
                  <a:lnTo>
                    <a:pt x="304800" y="0"/>
                  </a:lnTo>
                </a:path>
              </a:pathLst>
            </a:custGeom>
            <a:noFill/>
            <a:ln w="28575">
              <a:solidFill>
                <a:srgbClr val="005725"/>
              </a:solidFill>
            </a:ln>
          </p:spPr>
        </p:sp>
        <p:sp>
          <p:nvSpPr>
            <p:cNvPr id="44" name="Freeform 44"/>
            <p:cNvSpPr/>
            <p:nvPr/>
          </p:nvSpPr>
          <p:spPr>
            <a:xfrm>
              <a:off x="9782175" y="4152900"/>
              <a:ext cx="85725" cy="114300"/>
            </a:xfrm>
            <a:custGeom>
              <a:avLst/>
              <a:gdLst/>
              <a:ahLst/>
              <a:cxnLst/>
              <a:rect l="l" t="t" r="r" b="b"/>
              <a:pathLst>
                <a:path w="85725" h="114300">
                  <a:moveTo>
                    <a:pt x="0" y="0"/>
                  </a:moveTo>
                  <a:lnTo>
                    <a:pt x="85725" y="57150"/>
                  </a:lnTo>
                  <a:lnTo>
                    <a:pt x="0" y="114300"/>
                  </a:lnTo>
                  <a:close/>
                </a:path>
              </a:pathLst>
            </a:custGeom>
            <a:solidFill>
              <a:srgbClr val="005725"/>
            </a:solidFill>
            <a:ln>
              <a:noFill/>
            </a:ln>
          </p:spPr>
        </p:sp>
        <p:sp>
          <p:nvSpPr>
            <p:cNvPr id="45" name="Rectangle 45"/>
            <p:cNvSpPr/>
            <p:nvPr/>
          </p:nvSpPr>
          <p:spPr>
            <a:xfrm>
              <a:off x="9944100" y="3714750"/>
              <a:ext cx="1428750" cy="990600"/>
            </a:xfrm>
            <a:prstGeom prst="roundRect">
              <a:avLst>
                <a:gd name="adj" fmla="val 11538"/>
              </a:avLst>
            </a:prstGeom>
            <a:solidFill>
              <a:srgbClr val="EAF4EE"/>
            </a:solidFill>
            <a:ln w="19050">
              <a:solidFill>
                <a:srgbClr val="8FBAA1"/>
              </a:solidFill>
            </a:ln>
          </p:spPr>
        </p:sp>
        <p:sp>
          <p:nvSpPr>
            <p:cNvPr id="46" name="TextBox 46"/>
            <p:cNvSpPr txBox="1"/>
            <p:nvPr/>
          </p:nvSpPr>
          <p:spPr>
            <a:xfrm>
              <a:off x="10469880" y="3911600"/>
              <a:ext cx="377190" cy="264033"/>
            </a:xfrm>
            <a:prstGeom prst="rect">
              <a:avLst/>
            </a:prstGeom>
            <a:noFill/>
            <a:ln>
              <a:noFill/>
            </a:ln>
          </p:spPr>
          <p:txBody>
            <a:bodyPr wrap="none" lIns="0" tIns="0" rIns="0" bIns="0" anchor="t" anchorCtr="0">
              <a:spAutoFit/>
            </a:bodyPr>
            <a:lstStyle/>
            <a:p>
              <a:pPr algn="ctr"/>
              <a:r>
                <a:rPr lang="zh-CN" sz="1350" b="1" dirty="0">
                  <a:solidFill>
                    <a:srgbClr val="005725"/>
                  </a:solidFill>
                  <a:latin typeface="Arial" panose="020B0604020202020204"/>
                  <a:ea typeface="微软雅黑" panose="020B0503020204020204" charset="-122"/>
                  <a:cs typeface="Arial" panose="020B0604020202020204"/>
                </a:rPr>
                <a:t>输出</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10484547" y="4203700"/>
              <a:ext cx="347857" cy="410718"/>
            </a:xfrm>
            <a:prstGeom prst="rect">
              <a:avLst/>
            </a:prstGeom>
            <a:noFill/>
            <a:ln>
              <a:noFill/>
            </a:ln>
          </p:spPr>
          <p:txBody>
            <a:bodyPr wrap="none" lIns="0" tIns="0" rIns="0" bIns="0" anchor="t" anchorCtr="0">
              <a:spAutoFit/>
            </a:bodyPr>
            <a:lstStyle/>
            <a:p>
              <a:pPr algn="ctr"/>
              <a:r>
                <a:rPr lang="zh-CN" sz="2100" b="1" dirty="0">
                  <a:solidFill>
                    <a:srgbClr val="262626"/>
                  </a:solidFill>
                  <a:latin typeface="Arial" panose="020B0604020202020204"/>
                  <a:ea typeface="Arial" panose="020B0604020202020204"/>
                  <a:cs typeface="Arial" panose="020B0604020202020204"/>
                </a:rPr>
                <a:t>10</a:t>
              </a:r>
              <a:endParaRPr lang="zh-CN" sz="2100" b="1" dirty="0">
                <a:solidFill>
                  <a:srgbClr val="262626"/>
                </a:solidFill>
                <a:latin typeface="Arial" panose="020B0604020202020204"/>
                <a:ea typeface="Arial" panose="020B0604020202020204"/>
                <a:cs typeface="Arial" panose="020B0604020202020204"/>
              </a:endParaRPr>
            </a:p>
          </p:txBody>
        </p:sp>
        <p:sp>
          <p:nvSpPr>
            <p:cNvPr id="48" name="Rectangle 48"/>
            <p:cNvSpPr/>
            <p:nvPr/>
          </p:nvSpPr>
          <p:spPr>
            <a:xfrm>
              <a:off x="685800" y="5124450"/>
              <a:ext cx="10820400" cy="704850"/>
            </a:xfrm>
            <a:prstGeom prst="roundRect">
              <a:avLst>
                <a:gd name="adj" fmla="val 13514"/>
              </a:avLst>
            </a:prstGeom>
            <a:solidFill>
              <a:srgbClr val="F3F8F5"/>
            </a:solidFill>
            <a:ln w="14288">
              <a:solidFill>
                <a:srgbClr val="A6C9B4"/>
              </a:solidFill>
            </a:ln>
          </p:spPr>
        </p:sp>
        <p:sp>
          <p:nvSpPr>
            <p:cNvPr id="49" name="TextBox 49"/>
            <p:cNvSpPr txBox="1"/>
            <p:nvPr/>
          </p:nvSpPr>
          <p:spPr>
            <a:xfrm>
              <a:off x="3189965" y="5251450"/>
              <a:ext cx="5812069" cy="293370"/>
            </a:xfrm>
            <a:prstGeom prst="rect">
              <a:avLst/>
            </a:prstGeom>
            <a:noFill/>
            <a:ln>
              <a:noFill/>
            </a:ln>
          </p:spPr>
          <p:txBody>
            <a:bodyPr wrap="none" lIns="0" tIns="0" rIns="0" bIns="0" anchor="t" anchorCtr="0">
              <a:spAutoFit/>
            </a:bodyPr>
            <a:lstStyle/>
            <a:p>
              <a:pPr algn="ctr"/>
              <a:r>
                <a:rPr lang="zh-CN" sz="1500" b="1" dirty="0">
                  <a:solidFill>
                    <a:srgbClr val="262626"/>
                  </a:solidFill>
                  <a:latin typeface="Arial" panose="020B0604020202020204"/>
                  <a:ea typeface="微软雅黑" panose="020B0503020204020204" charset="-122"/>
                  <a:cs typeface="Arial" panose="020B0604020202020204"/>
                </a:rPr>
                <a:t>实验环境：256 个 CPU 核心与 GPU；查询接口只返回预测类别。</a:t>
              </a:r>
              <a:endParaRPr lang="zh-CN" sz="1500" b="1" dirty="0">
                <a:solidFill>
                  <a:srgbClr val="262626"/>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3272218" y="5521325"/>
              <a:ext cx="5647563" cy="264033"/>
            </a:xfrm>
            <a:prstGeom prst="rect">
              <a:avLst/>
            </a:prstGeom>
            <a:noFill/>
            <a:ln>
              <a:noFill/>
            </a:ln>
          </p:spPr>
          <p:txBody>
            <a:bodyPr wrap="none" lIns="0" tIns="0" rIns="0" bIns="0" anchor="t" anchorCtr="0">
              <a:spAutoFit/>
            </a:bodyPr>
            <a:lstStyle/>
            <a:p>
              <a:pPr algn="ctr"/>
              <a:r>
                <a:rPr lang="zh-CN" sz="1350" dirty="0">
                  <a:solidFill>
                    <a:srgbClr val="005725"/>
                  </a:solidFill>
                  <a:latin typeface="Arial" panose="020B0604020202020204"/>
                  <a:ea typeface="微软雅黑" panose="020B0503020204020204" charset="-122"/>
                  <a:cs typeface="Arial" panose="020B0604020202020204"/>
                </a:rPr>
                <a:t>目标：验证近百万参数规模下，所有隐藏层的签名与符号能否被恢复。</a:t>
              </a:r>
              <a:endParaRPr lang="zh-CN" sz="1350" dirty="0">
                <a:solidFill>
                  <a:srgbClr val="005725"/>
                </a:solidFill>
                <a:latin typeface="Arial" panose="020B0604020202020204"/>
                <a:ea typeface="微软雅黑" panose="020B0503020204020204" charset="-122"/>
                <a:cs typeface="Arial" panose="020B0604020202020204"/>
              </a:endParaRPr>
            </a:p>
          </p:txBody>
        </p:sp>
      </p:grpSp>
      <p:sp>
        <p:nvSpPr>
          <p:cNvPr id="52" name="TextBox 52"/>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17</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4. 论文实验与评估</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24" name="page-body"/>
          <p:cNvGrpSpPr/>
          <p:nvPr/>
        </p:nvGrpSpPr>
        <p:grpSpPr>
          <a:xfrm>
            <a:off x="666750" y="1492250"/>
            <a:ext cx="10839450" cy="4932045"/>
            <a:chOff x="666750" y="1492250"/>
            <a:chExt cx="10839450" cy="4932045"/>
          </a:xfrm>
        </p:grpSpPr>
        <p:sp>
          <p:nvSpPr>
            <p:cNvPr id="10" name="TextBox 10"/>
            <p:cNvSpPr txBox="1"/>
            <p:nvPr/>
          </p:nvSpPr>
          <p:spPr>
            <a:xfrm>
              <a:off x="672846" y="1492250"/>
              <a:ext cx="7578090"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结果：所有隐藏层符号恢复正确，签名达到高精度</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nvSpPr>
          <p:spPr>
            <a:xfrm>
              <a:off x="666750" y="2143125"/>
              <a:ext cx="6858000" cy="3667125"/>
            </a:xfrm>
            <a:prstGeom prst="roundRect">
              <a:avLst>
                <a:gd name="adj" fmla="val 3117"/>
              </a:avLst>
            </a:prstGeom>
            <a:solidFill>
              <a:srgbClr val="FFFFFF"/>
            </a:solidFill>
            <a:ln w="19050">
              <a:solidFill>
                <a:srgbClr val="A6C9B4"/>
              </a:solidFill>
            </a:ln>
          </p:spPr>
        </p:sp>
        <p:pic>
          <p:nvPicPr>
            <p:cNvPr id="12" name="Image 12"/>
            <p:cNvPicPr>
              <a:picLocks noChangeAspect="1"/>
            </p:cNvPicPr>
            <p:nvPr/>
          </p:nvPicPr>
          <p:blipFill>
            <a:blip r:embed="rId4"/>
            <a:stretch>
              <a:fillRect/>
            </a:stretch>
          </p:blipFill>
          <p:spPr>
            <a:xfrm>
              <a:off x="876300" y="2400300"/>
              <a:ext cx="6438900" cy="2809875"/>
            </a:xfrm>
            <a:prstGeom prst="rect">
              <a:avLst/>
            </a:prstGeom>
          </p:spPr>
        </p:pic>
        <p:sp>
          <p:nvSpPr>
            <p:cNvPr id="13" name="TextBox 13"/>
            <p:cNvSpPr/>
            <p:nvPr/>
          </p:nvSpPr>
          <p:spPr>
            <a:xfrm>
              <a:off x="2878074" y="5419725"/>
              <a:ext cx="2435352" cy="234696"/>
            </a:xfrm>
            <a:prstGeom prst="rect">
              <a:avLst/>
            </a:prstGeom>
            <a:noFill/>
            <a:ln>
              <a:noFill/>
            </a:ln>
          </p:spPr>
          <p:txBody>
            <a:bodyPr wrap="none" lIns="0" tIns="25400" rIns="0" bIns="0" anchor="t" anchorCtr="0">
              <a:noAutofit/>
            </a:bodyPr>
            <a:lstStyle/>
            <a:p>
              <a:pPr algn="ctr"/>
              <a:r>
                <a:rPr lang="zh-CN" sz="1010" dirty="0">
                  <a:solidFill>
                    <a:srgbClr val="667085"/>
                  </a:solidFill>
                  <a:latin typeface="Arial" panose="020B0604020202020204"/>
                  <a:ea typeface="微软雅黑" panose="020B0503020204020204" charset="-122"/>
                  <a:cs typeface="Arial" panose="020B0604020202020204"/>
                </a:rPr>
                <a:t>图11：符号恢复置信度随双点数量的变化</a:t>
              </a:r>
              <a:endParaRPr lang="zh-CN" sz="1010" dirty="0">
                <a:solidFill>
                  <a:srgbClr val="667085"/>
                </a:solidFill>
                <a:latin typeface="Arial" panose="020B0604020202020204"/>
                <a:ea typeface="微软雅黑" panose="020B0503020204020204" charset="-122"/>
                <a:cs typeface="Arial" panose="020B0604020202020204"/>
              </a:endParaRPr>
            </a:p>
          </p:txBody>
        </p:sp>
        <p:sp>
          <p:nvSpPr>
            <p:cNvPr id="14" name="Rectangle 14"/>
            <p:cNvSpPr/>
            <p:nvPr/>
          </p:nvSpPr>
          <p:spPr>
            <a:xfrm>
              <a:off x="7810500" y="2143125"/>
              <a:ext cx="3695700" cy="1066800"/>
            </a:xfrm>
            <a:prstGeom prst="roundRect">
              <a:avLst>
                <a:gd name="adj" fmla="val 10714"/>
              </a:avLst>
            </a:prstGeom>
            <a:solidFill>
              <a:srgbClr val="EAF4EE"/>
            </a:solidFill>
            <a:ln w="19050">
              <a:solidFill>
                <a:srgbClr val="8FBAA1"/>
              </a:solidFill>
            </a:ln>
          </p:spPr>
        </p:sp>
        <p:sp>
          <p:nvSpPr>
            <p:cNvPr id="15" name="TextBox 15"/>
            <p:cNvSpPr txBox="1"/>
            <p:nvPr/>
          </p:nvSpPr>
          <p:spPr>
            <a:xfrm>
              <a:off x="9077927" y="2279650"/>
              <a:ext cx="1160846" cy="469392"/>
            </a:xfrm>
            <a:prstGeom prst="rect">
              <a:avLst/>
            </a:prstGeom>
            <a:noFill/>
            <a:ln>
              <a:noFill/>
            </a:ln>
          </p:spPr>
          <p:txBody>
            <a:bodyPr wrap="none" lIns="0" tIns="0" rIns="0" bIns="0" anchor="t" anchorCtr="0">
              <a:spAutoFit/>
            </a:bodyPr>
            <a:lstStyle/>
            <a:p>
              <a:pPr algn="ctr"/>
              <a:r>
                <a:rPr lang="en-US" sz="2400" b="1" dirty="0">
                  <a:solidFill>
                    <a:srgbClr val="005725"/>
                  </a:solidFill>
                  <a:latin typeface="Arial" panose="020B0604020202020204"/>
                  <a:ea typeface="Arial" panose="020B0604020202020204"/>
                  <a:cs typeface="Arial" panose="020B0604020202020204"/>
                </a:rPr>
                <a:t>≥18 bit</a:t>
              </a:r>
              <a:endParaRPr lang="en-US" sz="2400" b="1" dirty="0">
                <a:solidFill>
                  <a:srgbClr val="005725"/>
                </a:solidFill>
                <a:latin typeface="Arial" panose="020B0604020202020204"/>
                <a:ea typeface="Arial" panose="020B0604020202020204"/>
                <a:cs typeface="Arial" panose="020B0604020202020204"/>
              </a:endParaRPr>
            </a:p>
          </p:txBody>
        </p:sp>
        <p:sp>
          <p:nvSpPr>
            <p:cNvPr id="16" name="TextBox 16"/>
            <p:cNvSpPr txBox="1"/>
            <p:nvPr/>
          </p:nvSpPr>
          <p:spPr>
            <a:xfrm>
              <a:off x="8924544" y="2797175"/>
              <a:ext cx="1467612" cy="264033"/>
            </a:xfrm>
            <a:prstGeom prst="rect">
              <a:avLst/>
            </a:prstGeom>
            <a:noFill/>
            <a:ln>
              <a:noFill/>
            </a:ln>
          </p:spPr>
          <p:txBody>
            <a:bodyPr wrap="none" lIns="0" tIns="0" rIns="0" bIns="0" anchor="t" anchorCtr="0">
              <a:spAutoFit/>
            </a:bodyPr>
            <a:lstStyle/>
            <a:p>
              <a:pPr algn="ctr"/>
              <a:r>
                <a:rPr lang="zh-CN" sz="1350" dirty="0">
                  <a:solidFill>
                    <a:srgbClr val="262626"/>
                  </a:solidFill>
                  <a:latin typeface="Arial" panose="020B0604020202020204"/>
                  <a:ea typeface="微软雅黑" panose="020B0503020204020204" charset="-122"/>
                  <a:cs typeface="Arial" panose="020B0604020202020204"/>
                </a:rPr>
                <a:t>多数签名恢复精度</a:t>
              </a:r>
              <a:endParaRPr lang="zh-CN" sz="1350" dirty="0">
                <a:solidFill>
                  <a:srgbClr val="262626"/>
                </a:solidFill>
                <a:latin typeface="Arial" panose="020B0604020202020204"/>
                <a:ea typeface="微软雅黑" panose="020B0503020204020204" charset="-122"/>
                <a:cs typeface="Arial" panose="020B0604020202020204"/>
              </a:endParaRPr>
            </a:p>
          </p:txBody>
        </p:sp>
        <p:sp>
          <p:nvSpPr>
            <p:cNvPr id="17" name="Rectangle 17"/>
            <p:cNvSpPr/>
            <p:nvPr/>
          </p:nvSpPr>
          <p:spPr>
            <a:xfrm>
              <a:off x="7810500" y="3400425"/>
              <a:ext cx="3695700" cy="1066800"/>
            </a:xfrm>
            <a:prstGeom prst="roundRect">
              <a:avLst>
                <a:gd name="adj" fmla="val 10714"/>
              </a:avLst>
            </a:prstGeom>
            <a:solidFill>
              <a:srgbClr val="EAF4EE"/>
            </a:solidFill>
            <a:ln w="19050">
              <a:solidFill>
                <a:srgbClr val="8FBAA1"/>
              </a:solidFill>
            </a:ln>
          </p:spPr>
        </p:sp>
        <p:sp>
          <p:nvSpPr>
            <p:cNvPr id="18" name="TextBox 18"/>
            <p:cNvSpPr txBox="1"/>
            <p:nvPr/>
          </p:nvSpPr>
          <p:spPr>
            <a:xfrm>
              <a:off x="8891344" y="3536950"/>
              <a:ext cx="1534013" cy="469392"/>
            </a:xfrm>
            <a:prstGeom prst="rect">
              <a:avLst/>
            </a:prstGeom>
            <a:noFill/>
            <a:ln>
              <a:noFill/>
            </a:ln>
          </p:spPr>
          <p:txBody>
            <a:bodyPr wrap="none" lIns="0" tIns="0" rIns="0" bIns="0" anchor="t" anchorCtr="0">
              <a:spAutoFit/>
            </a:bodyPr>
            <a:lstStyle/>
            <a:p>
              <a:pPr algn="ctr"/>
              <a:r>
                <a:rPr lang="zh-CN" sz="2400" b="1" dirty="0">
                  <a:solidFill>
                    <a:srgbClr val="005725"/>
                  </a:solidFill>
                  <a:latin typeface="Arial" panose="020B0604020202020204"/>
                  <a:ea typeface="Arial" panose="020B0604020202020204"/>
                  <a:cs typeface="Arial" panose="020B0604020202020204"/>
                </a:rPr>
                <a:t>832 / 832</a:t>
              </a:r>
              <a:endParaRPr lang="zh-CN" sz="2400" b="1" dirty="0">
                <a:solidFill>
                  <a:srgbClr val="005725"/>
                </a:solidFill>
                <a:latin typeface="Arial" panose="020B0604020202020204"/>
                <a:ea typeface="Arial" panose="020B0604020202020204"/>
                <a:cs typeface="Arial" panose="020B0604020202020204"/>
              </a:endParaRPr>
            </a:p>
          </p:txBody>
        </p:sp>
        <p:sp>
          <p:nvSpPr>
            <p:cNvPr id="19" name="TextBox 19"/>
            <p:cNvSpPr txBox="1"/>
            <p:nvPr/>
          </p:nvSpPr>
          <p:spPr>
            <a:xfrm>
              <a:off x="8833676" y="4054475"/>
              <a:ext cx="1649349" cy="264033"/>
            </a:xfrm>
            <a:prstGeom prst="rect">
              <a:avLst/>
            </a:prstGeom>
            <a:noFill/>
            <a:ln>
              <a:noFill/>
            </a:ln>
          </p:spPr>
          <p:txBody>
            <a:bodyPr wrap="none" lIns="0" tIns="0" rIns="0" bIns="0" anchor="t" anchorCtr="0">
              <a:spAutoFit/>
            </a:bodyPr>
            <a:lstStyle/>
            <a:p>
              <a:pPr algn="ctr"/>
              <a:r>
                <a:rPr lang="zh-CN" sz="1350" dirty="0">
                  <a:solidFill>
                    <a:srgbClr val="262626"/>
                  </a:solidFill>
                  <a:latin typeface="Arial" panose="020B0604020202020204"/>
                  <a:ea typeface="微软雅黑" panose="020B0503020204020204" charset="-122"/>
                  <a:cs typeface="Arial" panose="020B0604020202020204"/>
                </a:rPr>
                <a:t>隐藏神经元符号正确</a:t>
              </a:r>
              <a:endParaRPr lang="zh-CN" sz="1350" dirty="0">
                <a:solidFill>
                  <a:srgbClr val="262626"/>
                </a:solidFill>
                <a:latin typeface="Arial" panose="020B0604020202020204"/>
                <a:ea typeface="微软雅黑" panose="020B0503020204020204" charset="-122"/>
                <a:cs typeface="Arial" panose="020B0604020202020204"/>
              </a:endParaRPr>
            </a:p>
          </p:txBody>
        </p:sp>
        <p:sp>
          <p:nvSpPr>
            <p:cNvPr id="20" name="Rectangle 20"/>
            <p:cNvSpPr/>
            <p:nvPr/>
          </p:nvSpPr>
          <p:spPr>
            <a:xfrm>
              <a:off x="7810500" y="4657725"/>
              <a:ext cx="3695700" cy="1152525"/>
            </a:xfrm>
            <a:prstGeom prst="roundRect">
              <a:avLst>
                <a:gd name="adj" fmla="val 9917"/>
              </a:avLst>
            </a:prstGeom>
            <a:solidFill>
              <a:srgbClr val="FFF4F0"/>
            </a:solidFill>
            <a:ln w="19050">
              <a:solidFill>
                <a:srgbClr val="E3B2A7"/>
              </a:solidFill>
            </a:ln>
          </p:spPr>
        </p:sp>
        <p:sp>
          <p:nvSpPr>
            <p:cNvPr id="21" name="TextBox 21"/>
            <p:cNvSpPr txBox="1"/>
            <p:nvPr/>
          </p:nvSpPr>
          <p:spPr>
            <a:xfrm>
              <a:off x="8784494" y="4838700"/>
              <a:ext cx="1747711" cy="426339"/>
            </a:xfrm>
            <a:prstGeom prst="rect">
              <a:avLst/>
            </a:prstGeom>
            <a:noFill/>
            <a:ln>
              <a:noFill/>
            </a:ln>
          </p:spPr>
          <p:txBody>
            <a:bodyPr wrap="none" lIns="0" tIns="0" rIns="0" bIns="0" anchor="t" anchorCtr="0">
              <a:spAutoFit/>
            </a:bodyPr>
            <a:lstStyle/>
            <a:p>
              <a:pPr algn="ctr"/>
              <a:r>
                <a:rPr lang="en-US" sz="2180" b="1" dirty="0">
                  <a:solidFill>
                    <a:srgbClr val="C00000"/>
                  </a:solidFill>
                  <a:latin typeface="Arial" panose="020B0604020202020204"/>
                  <a:ea typeface="Arial" panose="020B0604020202020204"/>
                  <a:cs typeface="Arial" panose="020B0604020202020204"/>
                </a:rPr>
                <a:t>16 h + 8.5 h</a:t>
              </a:r>
              <a:endParaRPr lang="en-US" sz="2180" b="1" dirty="0">
                <a:solidFill>
                  <a:srgbClr val="C00000"/>
                </a:solidFill>
                <a:latin typeface="Arial" panose="020B0604020202020204"/>
                <a:ea typeface="Arial" panose="020B0604020202020204"/>
                <a:cs typeface="Arial" panose="020B0604020202020204"/>
              </a:endParaRPr>
            </a:p>
          </p:txBody>
        </p:sp>
        <p:sp>
          <p:nvSpPr>
            <p:cNvPr id="22" name="TextBox 22"/>
            <p:cNvSpPr txBox="1"/>
            <p:nvPr/>
          </p:nvSpPr>
          <p:spPr>
            <a:xfrm>
              <a:off x="8820045" y="5349875"/>
              <a:ext cx="1676610" cy="264033"/>
            </a:xfrm>
            <a:prstGeom prst="rect">
              <a:avLst/>
            </a:prstGeom>
            <a:noFill/>
            <a:ln>
              <a:noFill/>
            </a:ln>
          </p:spPr>
          <p:txBody>
            <a:bodyPr wrap="none" lIns="0" tIns="0" rIns="0" bIns="0" anchor="t" anchorCtr="0">
              <a:spAutoFit/>
            </a:bodyPr>
            <a:lstStyle/>
            <a:p>
              <a:pPr algn="ctr"/>
              <a:r>
                <a:rPr lang="zh-CN" sz="1350" dirty="0">
                  <a:solidFill>
                    <a:srgbClr val="262626"/>
                  </a:solidFill>
                  <a:latin typeface="Arial" panose="020B0604020202020204"/>
                  <a:ea typeface="微软雅黑" panose="020B0503020204020204" charset="-122"/>
                  <a:cs typeface="Arial" panose="020B0604020202020204"/>
                </a:rPr>
                <a:t>签名恢复 + 符号恢复</a:t>
              </a:r>
              <a:endParaRPr lang="zh-CN" sz="1350" dirty="0">
                <a:solidFill>
                  <a:srgbClr val="262626"/>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757047" y="6273800"/>
              <a:ext cx="127000" cy="150495"/>
            </a:xfrm>
            <a:prstGeom prst="rect">
              <a:avLst/>
            </a:prstGeom>
            <a:noFill/>
            <a:ln>
              <a:noFill/>
            </a:ln>
          </p:spPr>
          <p:txBody>
            <a:bodyPr wrap="none" lIns="0" tIns="0" rIns="0" bIns="0" anchor="t" anchorCtr="0">
              <a:spAutoFit/>
            </a:bodyPr>
            <a:lstStyle/>
            <a:p>
              <a:pPr algn="l"/>
              <a:endParaRPr lang="en-US" sz="980" dirty="0">
                <a:solidFill>
                  <a:srgbClr val="667085"/>
                </a:solidFill>
                <a:latin typeface="Arial" panose="020B0604020202020204"/>
                <a:ea typeface="Arial" panose="020B0604020202020204"/>
                <a:cs typeface="Arial" panose="020B0604020202020204"/>
              </a:endParaRPr>
            </a:p>
          </p:txBody>
        </p:sp>
      </p:grpSp>
      <p:sp>
        <p:nvSpPr>
          <p:cNvPr id="25" name="TextBox 25"/>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18</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256717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4. 论文实验与评估</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9" name="page-body"/>
          <p:cNvGrpSpPr/>
          <p:nvPr>
            <p:custDataLst>
              <p:tags r:id="rId4"/>
            </p:custDataLst>
          </p:nvPr>
        </p:nvGrpSpPr>
        <p:grpSpPr>
          <a:xfrm>
            <a:off x="666750" y="1492250"/>
            <a:ext cx="10839450" cy="4746625"/>
            <a:chOff x="666750" y="1492250"/>
            <a:chExt cx="10839450" cy="4746625"/>
          </a:xfrm>
        </p:grpSpPr>
        <p:sp>
          <p:nvSpPr>
            <p:cNvPr id="10" name="TextBox 10"/>
            <p:cNvSpPr txBox="1"/>
            <p:nvPr/>
          </p:nvSpPr>
          <p:spPr>
            <a:xfrm>
              <a:off x="672846" y="1492250"/>
              <a:ext cx="7234809"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边界在哪里：这项攻击距离现实威胁还有多远？</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custDataLst>
                <p:tags r:id="rId5"/>
              </p:custDataLst>
            </p:nvPr>
          </p:nvSpPr>
          <p:spPr>
            <a:xfrm>
              <a:off x="666750" y="2171700"/>
              <a:ext cx="5191125" cy="3333750"/>
            </a:xfrm>
            <a:prstGeom prst="roundRect">
              <a:avLst>
                <a:gd name="adj" fmla="val 3429"/>
              </a:avLst>
            </a:prstGeom>
            <a:solidFill>
              <a:srgbClr val="FFFFFF"/>
            </a:solidFill>
            <a:ln w="19050">
              <a:solidFill>
                <a:srgbClr val="A6C9B4"/>
              </a:solidFill>
            </a:ln>
          </p:spPr>
        </p:sp>
        <p:sp>
          <p:nvSpPr>
            <p:cNvPr id="12" name="TextBox 12"/>
            <p:cNvSpPr txBox="1"/>
            <p:nvPr>
              <p:custDataLst>
                <p:tags r:id="rId6"/>
              </p:custDataLst>
            </p:nvPr>
          </p:nvSpPr>
          <p:spPr>
            <a:xfrm>
              <a:off x="980313" y="2444750"/>
              <a:ext cx="1652168"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威胁模型限制</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3" name="TextBox 13"/>
            <p:cNvSpPr txBox="1"/>
            <p:nvPr>
              <p:custDataLst>
                <p:tags r:id="rId7"/>
              </p:custDataLst>
            </p:nvPr>
          </p:nvSpPr>
          <p:spPr>
            <a:xfrm>
              <a:off x="983361" y="2927350"/>
              <a:ext cx="3218815" cy="2164080"/>
            </a:xfrm>
            <a:prstGeom prst="rect">
              <a:avLst/>
            </a:prstGeom>
            <a:noFill/>
            <a:ln>
              <a:noFill/>
            </a:ln>
          </p:spPr>
          <p:txBody>
            <a:bodyPr wrap="none" lIns="0" tIns="0" rIns="0" bIns="0" anchor="t" anchorCtr="0">
              <a:spAutoFit/>
            </a:bodyPr>
            <a:lstStyle/>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需要预先知道网络结构与激活函数</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允许任意方向与幅度的实数域查询</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接口需要稳定、确定且精度足够</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主要覆盖全连接ReLU网络</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退化或几乎不激活的神经元可能难恢复</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14" name="Rectangle 14"/>
            <p:cNvSpPr/>
            <p:nvPr>
              <p:custDataLst>
                <p:tags r:id="rId8"/>
              </p:custDataLst>
            </p:nvPr>
          </p:nvSpPr>
          <p:spPr>
            <a:xfrm>
              <a:off x="6334125" y="2171700"/>
              <a:ext cx="5172075" cy="3333750"/>
            </a:xfrm>
            <a:prstGeom prst="roundRect">
              <a:avLst>
                <a:gd name="adj" fmla="val 3429"/>
              </a:avLst>
            </a:prstGeom>
            <a:solidFill>
              <a:srgbClr val="F3F8F5"/>
            </a:solidFill>
            <a:ln w="19050">
              <a:solidFill>
                <a:srgbClr val="A6C9B4"/>
              </a:solidFill>
            </a:ln>
          </p:spPr>
        </p:sp>
        <p:sp>
          <p:nvSpPr>
            <p:cNvPr id="15" name="TextBox 15"/>
            <p:cNvSpPr txBox="1"/>
            <p:nvPr>
              <p:custDataLst>
                <p:tags r:id="rId9"/>
              </p:custDataLst>
            </p:nvPr>
          </p:nvSpPr>
          <p:spPr>
            <a:xfrm>
              <a:off x="6647688" y="2444750"/>
              <a:ext cx="1924101" cy="396050"/>
            </a:xfrm>
            <a:prstGeom prst="rect">
              <a:avLst/>
            </a:prstGeom>
            <a:noFill/>
            <a:ln>
              <a:noFill/>
            </a:ln>
          </p:spPr>
          <p:txBody>
            <a:bodyPr wrap="none" lIns="0" tIns="0" rIns="0" bIns="0" anchor="t" anchorCtr="0">
              <a:spAutoFit/>
            </a:bodyPr>
            <a:lstStyle/>
            <a:p>
              <a:pPr algn="l"/>
              <a:r>
                <a:rPr lang="zh-CN" sz="2020" b="1" dirty="0">
                  <a:solidFill>
                    <a:srgbClr val="005725"/>
                  </a:solidFill>
                  <a:latin typeface="Arial" panose="020B0604020202020204"/>
                  <a:ea typeface="微软雅黑" panose="020B0503020204020204" charset="-122"/>
                  <a:cs typeface="Arial" panose="020B0604020202020204"/>
                </a:rPr>
                <a:t>实现与计时限制</a:t>
              </a:r>
              <a:endParaRPr lang="zh-CN" sz="2020" b="1" dirty="0">
                <a:solidFill>
                  <a:srgbClr val="005725"/>
                </a:solidFill>
                <a:latin typeface="Arial" panose="020B0604020202020204"/>
                <a:ea typeface="微软雅黑" panose="020B0503020204020204" charset="-122"/>
                <a:cs typeface="Arial" panose="020B0604020202020204"/>
              </a:endParaRPr>
            </a:p>
          </p:txBody>
        </p:sp>
        <p:sp>
          <p:nvSpPr>
            <p:cNvPr id="16" name="TextBox 16"/>
            <p:cNvSpPr txBox="1"/>
            <p:nvPr>
              <p:custDataLst>
                <p:tags r:id="rId10"/>
              </p:custDataLst>
            </p:nvPr>
          </p:nvSpPr>
          <p:spPr>
            <a:xfrm>
              <a:off x="6650736" y="2927350"/>
              <a:ext cx="2677795" cy="2164080"/>
            </a:xfrm>
            <a:prstGeom prst="rect">
              <a:avLst/>
            </a:prstGeom>
            <a:noFill/>
            <a:ln>
              <a:noFill/>
            </a:ln>
          </p:spPr>
          <p:txBody>
            <a:bodyPr wrap="none" lIns="0" tIns="0" rIns="0" bIns="0" anchor="t" anchorCtr="0">
              <a:spAutoFit/>
            </a:bodyPr>
            <a:lstStyle/>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使用符号梯度等白盒信息加速</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未计入朴素二次聚类的全部成本</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假设前面层已经被完美恢复</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16h与8.5h不是端到端黑盒耗时</a:t>
              </a:r>
              <a:endParaRPr lang="zh-CN" sz="1420" dirty="0">
                <a:solidFill>
                  <a:srgbClr val="262626"/>
                </a:solidFill>
                <a:latin typeface="Arial" panose="020B0604020202020204"/>
                <a:ea typeface="微软雅黑" panose="020B0503020204020204" charset="-122"/>
                <a:cs typeface="Arial" panose="020B0604020202020204"/>
              </a:endParaRPr>
            </a:p>
            <a:p>
              <a:pPr marL="153035" indent="-153035" algn="l">
                <a:lnSpc>
                  <a:spcPts val="3375"/>
                </a:lnSpc>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尚未形成成熟的一键攻击工具</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17" name="Rectangle 17"/>
            <p:cNvSpPr/>
            <p:nvPr/>
          </p:nvSpPr>
          <p:spPr>
            <a:xfrm>
              <a:off x="666750" y="5743575"/>
              <a:ext cx="10839450" cy="495300"/>
            </a:xfrm>
            <a:prstGeom prst="roundRect">
              <a:avLst>
                <a:gd name="adj" fmla="val 15385"/>
              </a:avLst>
            </a:prstGeom>
            <a:solidFill>
              <a:srgbClr val="FFF4F0"/>
            </a:solidFill>
            <a:ln w="14288">
              <a:solidFill>
                <a:srgbClr val="E3B2A7"/>
              </a:solidFill>
            </a:ln>
          </p:spPr>
        </p:sp>
        <p:sp>
          <p:nvSpPr>
            <p:cNvPr id="18" name="TextBox 18"/>
            <p:cNvSpPr txBox="1"/>
            <p:nvPr/>
          </p:nvSpPr>
          <p:spPr>
            <a:xfrm>
              <a:off x="2064868" y="5889625"/>
              <a:ext cx="8043215" cy="278702"/>
            </a:xfrm>
            <a:prstGeom prst="rect">
              <a:avLst/>
            </a:prstGeom>
            <a:noFill/>
            <a:ln>
              <a:noFill/>
            </a:ln>
          </p:spPr>
          <p:txBody>
            <a:bodyPr wrap="none" lIns="0" tIns="0" rIns="0" bIns="0" anchor="t" anchorCtr="0">
              <a:spAutoFit/>
            </a:bodyPr>
            <a:lstStyle/>
            <a:p>
              <a:pPr algn="ctr"/>
              <a:r>
                <a:rPr lang="zh-CN" sz="1420" b="1" dirty="0">
                  <a:solidFill>
                    <a:srgbClr val="C00000"/>
                  </a:solidFill>
                  <a:latin typeface="Arial" panose="020B0604020202020204"/>
                  <a:ea typeface="微软雅黑" panose="020B0503020204020204" charset="-122"/>
                  <a:cs typeface="Arial" panose="020B0604020202020204"/>
                </a:rPr>
                <a:t>安全启示：只返回类别并不自动安全；输入约束、量化、随机化与查询检测可能显著提高成本。</a:t>
              </a:r>
              <a:endParaRPr lang="zh-CN" sz="1420" b="1" dirty="0">
                <a:solidFill>
                  <a:srgbClr val="C00000"/>
                </a:solidFill>
                <a:latin typeface="Arial" panose="020B0604020202020204"/>
                <a:ea typeface="微软雅黑" panose="020B0503020204020204" charset="-122"/>
                <a:cs typeface="Arial" panose="020B0604020202020204"/>
              </a:endParaRPr>
            </a:p>
          </p:txBody>
        </p:sp>
      </p:grpSp>
      <p:sp>
        <p:nvSpPr>
          <p:cNvPr id="20" name="TextBox 20"/>
          <p:cNvSpPr txBox="1"/>
          <p:nvPr/>
        </p:nvSpPr>
        <p:spPr>
          <a:xfrm>
            <a:off x="11337077" y="6359525"/>
            <a:ext cx="155026" cy="191643"/>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19</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218379" rIns="0" bIns="0" anchor="t" anchorCtr="0">
            <a:noAutofit/>
          </a:bodyPr>
          <a:lstStyle/>
          <a:p>
            <a:pPr algn="l"/>
            <a:r>
              <a:rPr lang="zh-CN" sz="5400" b="1" dirty="0">
                <a:solidFill>
                  <a:srgbClr val="FFFFFF"/>
                </a:solidFill>
                <a:latin typeface="Arial" panose="020B0604020202020204"/>
                <a:ea typeface="微软雅黑" panose="020B0503020204020204" charset="-122"/>
                <a:cs typeface="Arial" panose="020B0604020202020204"/>
              </a:rPr>
              <a:t> 复现结果</a:t>
            </a:r>
            <a:endParaRPr lang="zh-CN" sz="540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05</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p:nvPr>
            <p:ph type="sldNum" sz="quarter" idx="12"/>
          </p:nvPr>
        </p:nvSpPr>
        <p:spPr>
          <a:xfrm>
            <a:off x="8877586" y="6314408"/>
            <a:ext cx="2699956" cy="316802"/>
          </a:xfrm>
          <a:prstGeom prst="rect">
            <a:avLst/>
          </a:prstGeom>
          <a:noFill/>
          <a:ln>
            <a:noFill/>
          </a:ln>
        </p:spPr>
        <p:txBody>
          <a:bodyPr wrap="none" lIns="0" tIns="45712" rIns="91345" bIns="0" anchor="t" anchorCtr="0">
            <a:noAutofit/>
          </a:bodyPr>
          <a:lstStyle/>
          <a:p>
            <a:pPr algn="r"/>
            <a:r>
              <a:rPr lang="zh-CN" sz="1000" dirty="0">
                <a:solidFill>
                  <a:srgbClr val="404040"/>
                </a:solidFill>
                <a:latin typeface="Arial" panose="020B0604020202020204"/>
                <a:ea typeface="Arial" panose="020B0604020202020204"/>
                <a:cs typeface="Arial" panose="020B0604020202020204"/>
              </a:rPr>
              <a:t>20</a:t>
            </a:r>
            <a:endParaRPr lang="zh-CN" sz="100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p:nvPr/>
          </p:nvSpPr>
          <p:spPr>
            <a:xfrm>
              <a:off x="864870" y="482632"/>
              <a:ext cx="2567178" cy="440055"/>
            </a:xfrm>
            <a:prstGeom prst="rect">
              <a:avLst/>
            </a:prstGeom>
            <a:noFill/>
            <a:ln>
              <a:noFill/>
            </a:ln>
          </p:spPr>
          <p:txBody>
            <a:bodyPr wrap="none" lIns="0" tIns="-32" rIns="0" bIns="0" anchor="t" anchorCtr="0">
              <a:noAutofit/>
            </a:bodyPr>
            <a:lstStyle/>
            <a:p>
              <a:pPr algn="l"/>
              <a:r>
                <a:rPr lang="zh-CN" sz="2250" dirty="0">
                  <a:solidFill>
                    <a:srgbClr val="000000"/>
                  </a:solidFill>
                  <a:latin typeface="Arial" panose="020B0604020202020204"/>
                  <a:ea typeface="微软雅黑" panose="020B0503020204020204" charset="-122"/>
                  <a:cs typeface="Arial" panose="020B0604020202020204"/>
                </a:rPr>
                <a:t>5. 复现结果</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sp>
        <p:nvSpPr>
          <p:cNvPr id="20" name="TextBox 20"/>
          <p:cNvSpPr/>
          <p:nvPr/>
        </p:nvSpPr>
        <p:spPr>
          <a:xfrm>
            <a:off x="11337036" y="6359557"/>
            <a:ext cx="155067" cy="191643"/>
          </a:xfrm>
          <a:prstGeom prst="rect">
            <a:avLst/>
          </a:prstGeom>
          <a:noFill/>
          <a:ln>
            <a:noFill/>
          </a:ln>
        </p:spPr>
        <p:txBody>
          <a:bodyPr wrap="none" lIns="0" tIns="-32" rIns="0" bIns="0" anchor="t" anchorCtr="0">
            <a:noAutofit/>
          </a:bodyPr>
          <a:lstStyle/>
          <a:p>
            <a:pPr algn="r"/>
            <a:fld id="{B3FF6914-A81A-4FC7-8A2F-77F223AC10E2}" type="slidenum">
              <a:rPr lang="zh-CN" sz="980" dirty="0">
                <a:solidFill>
                  <a:srgbClr val="404040"/>
                </a:solidFill>
                <a:latin typeface="Arial" panose="020B0604020202020204"/>
                <a:ea typeface="Arial" panose="020B0604020202020204"/>
                <a:cs typeface="Arial" panose="020B0604020202020204"/>
              </a:rPr>
            </a:fld>
            <a:endParaRPr lang="zh-CN" sz="980" dirty="0">
              <a:solidFill>
                <a:srgbClr val="404040"/>
              </a:solidFill>
              <a:latin typeface="Arial" panose="020B0604020202020204"/>
              <a:ea typeface="Arial" panose="020B0604020202020204"/>
              <a:cs typeface="Arial" panose="020B0604020202020204"/>
            </a:endParaRPr>
          </a:p>
        </p:txBody>
      </p:sp>
      <p:grpSp>
        <p:nvGrpSpPr>
          <p:cNvPr id="18" name="page-title"/>
          <p:cNvGrpSpPr/>
          <p:nvPr/>
        </p:nvGrpSpPr>
        <p:grpSpPr>
          <a:xfrm>
            <a:off x="653796" y="1482725"/>
            <a:ext cx="5861685" cy="498729"/>
            <a:chOff x="653796" y="1482725"/>
            <a:chExt cx="5861685" cy="498729"/>
          </a:xfrm>
        </p:grpSpPr>
        <p:sp>
          <p:nvSpPr>
            <p:cNvPr id="17" name="TextBox 17"/>
            <p:cNvSpPr txBox="1"/>
            <p:nvPr/>
          </p:nvSpPr>
          <p:spPr>
            <a:xfrm>
              <a:off x="653796" y="1482725"/>
              <a:ext cx="5861685"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复现范围：从高精度输出到仅返回类别</a:t>
              </a:r>
              <a:endParaRPr lang="zh-CN" sz="2550" b="1" dirty="0">
                <a:solidFill>
                  <a:srgbClr val="005725"/>
                </a:solidFill>
                <a:latin typeface="Arial" panose="020B0604020202020204"/>
                <a:ea typeface="微软雅黑" panose="020B0503020204020204" charset="-122"/>
                <a:cs typeface="Arial" panose="020B0604020202020204"/>
              </a:endParaRPr>
            </a:p>
          </p:txBody>
        </p:sp>
      </p:grpSp>
      <p:grpSp>
        <p:nvGrpSpPr>
          <p:cNvPr id="29" name="soft-label-scope"/>
          <p:cNvGrpSpPr/>
          <p:nvPr/>
        </p:nvGrpSpPr>
        <p:grpSpPr>
          <a:xfrm>
            <a:off x="666750" y="2143125"/>
            <a:ext cx="5191125" cy="3429000"/>
            <a:chOff x="666750" y="2143125"/>
            <a:chExt cx="5191125" cy="3429000"/>
          </a:xfrm>
        </p:grpSpPr>
        <p:sp>
          <p:nvSpPr>
            <p:cNvPr id="19" name="Rectangle 19"/>
            <p:cNvSpPr/>
            <p:nvPr/>
          </p:nvSpPr>
          <p:spPr>
            <a:xfrm>
              <a:off x="666750" y="2143125"/>
              <a:ext cx="5191125" cy="3429000"/>
            </a:xfrm>
            <a:prstGeom prst="roundRect">
              <a:avLst>
                <a:gd name="adj" fmla="val 3333"/>
              </a:avLst>
            </a:prstGeom>
            <a:solidFill>
              <a:srgbClr val="FFFFFF"/>
            </a:solidFill>
            <a:ln w="19050">
              <a:solidFill>
                <a:srgbClr val="A6C9B4"/>
              </a:solidFill>
            </a:ln>
          </p:spPr>
        </p:sp>
        <p:sp>
          <p:nvSpPr>
            <p:cNvPr id="21" name="Rectangle 21"/>
            <p:cNvSpPr/>
            <p:nvPr/>
          </p:nvSpPr>
          <p:spPr>
            <a:xfrm>
              <a:off x="914400" y="2371725"/>
              <a:ext cx="1352550" cy="323850"/>
            </a:xfrm>
            <a:prstGeom prst="roundRect">
              <a:avLst>
                <a:gd name="adj" fmla="val 50000"/>
              </a:avLst>
            </a:prstGeom>
            <a:solidFill>
              <a:srgbClr val="EAF4EE"/>
            </a:solidFill>
            <a:ln>
              <a:noFill/>
            </a:ln>
          </p:spPr>
        </p:sp>
        <p:sp>
          <p:nvSpPr>
            <p:cNvPr id="22" name="TextBox 22"/>
            <p:cNvSpPr txBox="1"/>
            <p:nvPr/>
          </p:nvSpPr>
          <p:spPr>
            <a:xfrm>
              <a:off x="1153414" y="2438400"/>
              <a:ext cx="874522" cy="250317"/>
            </a:xfrm>
            <a:prstGeom prst="rect">
              <a:avLst/>
            </a:prstGeom>
            <a:noFill/>
            <a:ln>
              <a:noFill/>
            </a:ln>
          </p:spPr>
          <p:txBody>
            <a:bodyPr wrap="none" lIns="0" tIns="0" rIns="0" bIns="0" anchor="t" anchorCtr="0">
              <a:spAutoFit/>
            </a:bodyPr>
            <a:lstStyle/>
            <a:p>
              <a:pPr algn="ctr"/>
              <a:r>
                <a:rPr lang="zh-CN" sz="1280" b="1" dirty="0">
                  <a:solidFill>
                    <a:srgbClr val="005725"/>
                  </a:solidFill>
                  <a:latin typeface="Arial" panose="020B0604020202020204"/>
                  <a:ea typeface="微软雅黑" panose="020B0503020204020204" charset="-122"/>
                  <a:cs typeface="Arial" panose="020B0604020202020204"/>
                </a:rPr>
                <a:t>软标签前作</a:t>
              </a:r>
              <a:endParaRPr lang="zh-CN" sz="1280" b="1" dirty="0">
                <a:solidFill>
                  <a:srgbClr val="005725"/>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903732" y="2851150"/>
              <a:ext cx="1717548" cy="410718"/>
            </a:xfrm>
            <a:prstGeom prst="rect">
              <a:avLst/>
            </a:prstGeom>
            <a:noFill/>
            <a:ln>
              <a:noFill/>
            </a:ln>
          </p:spPr>
          <p:txBody>
            <a:bodyPr wrap="none" lIns="0" tIns="0" rIns="0" bIns="0" anchor="t" anchorCtr="0">
              <a:spAutoFit/>
            </a:bodyPr>
            <a:lstStyle/>
            <a:p>
              <a:pPr algn="l"/>
              <a:r>
                <a:rPr lang="zh-CN" sz="2100" b="1" dirty="0">
                  <a:solidFill>
                    <a:srgbClr val="005725"/>
                  </a:solidFill>
                  <a:latin typeface="Arial" panose="020B0604020202020204"/>
                  <a:ea typeface="微软雅黑" panose="020B0503020204020204" charset="-122"/>
                  <a:cs typeface="Arial" panose="020B0604020202020204"/>
                </a:rPr>
                <a:t>连续输出可见</a:t>
              </a:r>
              <a:endParaRPr lang="zh-CN" sz="2100" b="1" dirty="0">
                <a:solidFill>
                  <a:srgbClr val="005725"/>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907161" y="3327400"/>
              <a:ext cx="2357755"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查询返回高精度实数向量f(x)</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907161" y="3679825"/>
              <a:ext cx="2039317" cy="278702"/>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复现三种符号恢复技术</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907161" y="4032250"/>
              <a:ext cx="2594610"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Intel 6核CPU · TensorFlow2.15</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907161" y="4384675"/>
              <a:ext cx="1861820"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8项实验+1项模型评估</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908304" y="4972050"/>
              <a:ext cx="3404616" cy="234696"/>
            </a:xfrm>
            <a:prstGeom prst="rect">
              <a:avLst/>
            </a:prstGeom>
            <a:noFill/>
            <a:ln>
              <a:noFill/>
            </a:ln>
          </p:spPr>
          <p:txBody>
            <a:bodyPr wrap="none" lIns="0" tIns="0" rIns="0" bIns="0" anchor="t" anchorCtr="0">
              <a:spAutoFit/>
            </a:bodyPr>
            <a:lstStyle/>
            <a:p>
              <a:pPr algn="l"/>
              <a:r>
                <a:rPr lang="zh-CN" sz="1200" dirty="0">
                  <a:solidFill>
                    <a:srgbClr val="667085"/>
                  </a:solidFill>
                  <a:latin typeface="Arial" panose="020B0604020202020204"/>
                  <a:ea typeface="微软雅黑" panose="020B0503020204020204" charset="-122"/>
                  <a:cs typeface="Arial" panose="020B0604020202020204"/>
                </a:rPr>
                <a:t>目标：恢复各层参数符号，验证多项式时间方法</a:t>
              </a:r>
              <a:endParaRPr lang="zh-CN" sz="1200" dirty="0">
                <a:solidFill>
                  <a:srgbClr val="667085"/>
                </a:solidFill>
                <a:latin typeface="Arial" panose="020B0604020202020204"/>
                <a:ea typeface="微软雅黑" panose="020B0503020204020204" charset="-122"/>
                <a:cs typeface="Arial" panose="020B0604020202020204"/>
              </a:endParaRPr>
            </a:p>
          </p:txBody>
        </p:sp>
      </p:grpSp>
      <p:grpSp>
        <p:nvGrpSpPr>
          <p:cNvPr id="39" name="hard-label-scope"/>
          <p:cNvGrpSpPr/>
          <p:nvPr/>
        </p:nvGrpSpPr>
        <p:grpSpPr>
          <a:xfrm>
            <a:off x="6334125" y="2143125"/>
            <a:ext cx="5172075" cy="3429000"/>
            <a:chOff x="6334125" y="2143125"/>
            <a:chExt cx="5172075" cy="3429000"/>
          </a:xfrm>
        </p:grpSpPr>
        <p:sp>
          <p:nvSpPr>
            <p:cNvPr id="30" name="Rectangle 30"/>
            <p:cNvSpPr/>
            <p:nvPr/>
          </p:nvSpPr>
          <p:spPr>
            <a:xfrm>
              <a:off x="6334125" y="2143125"/>
              <a:ext cx="5172075" cy="3429000"/>
            </a:xfrm>
            <a:prstGeom prst="roundRect">
              <a:avLst>
                <a:gd name="adj" fmla="val 3333"/>
              </a:avLst>
            </a:prstGeom>
            <a:solidFill>
              <a:srgbClr val="F3F8F5"/>
            </a:solidFill>
            <a:ln w="19050">
              <a:solidFill>
                <a:srgbClr val="A6C9B4"/>
              </a:solidFill>
            </a:ln>
          </p:spPr>
        </p:sp>
        <p:sp>
          <p:nvSpPr>
            <p:cNvPr id="31" name="Rectangle 31"/>
            <p:cNvSpPr/>
            <p:nvPr/>
          </p:nvSpPr>
          <p:spPr>
            <a:xfrm>
              <a:off x="6581775" y="2371725"/>
              <a:ext cx="1352550" cy="323850"/>
            </a:xfrm>
            <a:prstGeom prst="roundRect">
              <a:avLst>
                <a:gd name="adj" fmla="val 50000"/>
              </a:avLst>
            </a:prstGeom>
            <a:solidFill>
              <a:srgbClr val="005725"/>
            </a:solidFill>
            <a:ln>
              <a:noFill/>
            </a:ln>
          </p:spPr>
        </p:sp>
        <p:sp>
          <p:nvSpPr>
            <p:cNvPr id="32" name="TextBox 32"/>
            <p:cNvSpPr txBox="1"/>
            <p:nvPr/>
          </p:nvSpPr>
          <p:spPr>
            <a:xfrm>
              <a:off x="6820789" y="2438400"/>
              <a:ext cx="874522" cy="250317"/>
            </a:xfrm>
            <a:prstGeom prst="rect">
              <a:avLst/>
            </a:prstGeom>
            <a:noFill/>
            <a:ln>
              <a:noFill/>
            </a:ln>
          </p:spPr>
          <p:txBody>
            <a:bodyPr wrap="none" lIns="0" tIns="0" rIns="0" bIns="0" anchor="t" anchorCtr="0">
              <a:spAutoFit/>
            </a:bodyPr>
            <a:lstStyle/>
            <a:p>
              <a:pPr algn="ctr"/>
              <a:r>
                <a:rPr lang="zh-CN" sz="1280" b="1" dirty="0">
                  <a:solidFill>
                    <a:srgbClr val="FFFFFF"/>
                  </a:solidFill>
                  <a:latin typeface="Arial" panose="020B0604020202020204"/>
                  <a:ea typeface="微软雅黑" panose="020B0503020204020204" charset="-122"/>
                  <a:cs typeface="Arial" panose="020B0604020202020204"/>
                </a:rPr>
                <a:t>硬标签本文</a:t>
              </a:r>
              <a:endParaRPr lang="zh-CN" sz="1280" b="1" dirty="0">
                <a:solidFill>
                  <a:srgbClr val="FFFFFF"/>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6571107" y="2851150"/>
              <a:ext cx="2000250" cy="410718"/>
            </a:xfrm>
            <a:prstGeom prst="rect">
              <a:avLst/>
            </a:prstGeom>
            <a:noFill/>
            <a:ln>
              <a:noFill/>
            </a:ln>
          </p:spPr>
          <p:txBody>
            <a:bodyPr wrap="none" lIns="0" tIns="0" rIns="0" bIns="0" anchor="t" anchorCtr="0">
              <a:spAutoFit/>
            </a:bodyPr>
            <a:lstStyle/>
            <a:p>
              <a:pPr algn="l"/>
              <a:r>
                <a:rPr lang="zh-CN" sz="2100" b="1" dirty="0">
                  <a:solidFill>
                    <a:srgbClr val="005725"/>
                  </a:solidFill>
                  <a:latin typeface="Arial" panose="020B0604020202020204"/>
                  <a:ea typeface="微软雅黑" panose="020B0503020204020204" charset="-122"/>
                  <a:cs typeface="Arial" panose="020B0604020202020204"/>
                </a:rPr>
                <a:t>只返回离散类别</a:t>
              </a:r>
              <a:endParaRPr lang="zh-CN" sz="2100" b="1" dirty="0">
                <a:solidFill>
                  <a:srgbClr val="005725"/>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6574536" y="3327400"/>
              <a:ext cx="2666438" cy="278702"/>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oracle.label(x)，无概率与梯度</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574536" y="3679825"/>
              <a:ext cx="3109595"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Windows CPU：20逻辑核，8workers</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6574536" y="4032250"/>
              <a:ext cx="3020060"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Linux 服务器：多核CPU + RTX4090</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6574536" y="4384675"/>
              <a:ext cx="2572385" cy="217805"/>
            </a:xfrm>
            <a:prstGeom prst="rect">
              <a:avLst/>
            </a:prstGeom>
            <a:noFill/>
            <a:ln>
              <a:noFill/>
            </a:ln>
          </p:spPr>
          <p:txBody>
            <a:bodyPr wrap="none" lIns="0" tIns="0" rIns="0" bIns="0" anchor="t" anchorCtr="0">
              <a:spAutoFit/>
            </a:bodyPr>
            <a:lstStyle/>
            <a:p>
              <a:pPr marL="113030" indent="-113030" algn="l">
                <a:buClr>
                  <a:srgbClr val="262626"/>
                </a:buClr>
                <a:buSzTx/>
                <a:buFontTx/>
                <a:buChar char="•"/>
              </a:pPr>
              <a:r>
                <a:rPr lang="zh-CN" sz="1420" dirty="0">
                  <a:solidFill>
                    <a:srgbClr val="262626"/>
                  </a:solidFill>
                  <a:latin typeface="Arial" panose="020B0604020202020204"/>
                  <a:ea typeface="微软雅黑" panose="020B0503020204020204" charset="-122"/>
                  <a:cs typeface="Arial" panose="020B0604020202020204"/>
                </a:rPr>
                <a:t>端到端提取32→32×3→10网络</a:t>
              </a:r>
              <a:endParaRPr lang="zh-CN" sz="1420" dirty="0">
                <a:solidFill>
                  <a:srgbClr val="262626"/>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6575679" y="4972050"/>
              <a:ext cx="2919984" cy="234696"/>
            </a:xfrm>
            <a:prstGeom prst="rect">
              <a:avLst/>
            </a:prstGeom>
            <a:noFill/>
            <a:ln>
              <a:noFill/>
            </a:ln>
          </p:spPr>
          <p:txBody>
            <a:bodyPr wrap="none" lIns="0" tIns="0" rIns="0" bIns="0" anchor="t" anchorCtr="0">
              <a:spAutoFit/>
            </a:bodyPr>
            <a:lstStyle/>
            <a:p>
              <a:pPr algn="l"/>
              <a:r>
                <a:rPr lang="zh-CN" sz="1200" dirty="0">
                  <a:solidFill>
                    <a:srgbClr val="667085"/>
                  </a:solidFill>
                  <a:latin typeface="Arial" panose="020B0604020202020204"/>
                  <a:ea typeface="微软雅黑" panose="020B0503020204020204" charset="-122"/>
                  <a:cs typeface="Arial" panose="020B0604020202020204"/>
                </a:rPr>
                <a:t>目标：在信息更少的接口下恢复完整网络</a:t>
              </a:r>
              <a:endParaRPr lang="zh-CN" sz="1200" dirty="0">
                <a:solidFill>
                  <a:srgbClr val="667085"/>
                </a:solidFill>
                <a:latin typeface="Arial" panose="020B0604020202020204"/>
                <a:ea typeface="微软雅黑" panose="020B0503020204020204" charset="-122"/>
                <a:cs typeface="Arial" panose="020B0604020202020204"/>
              </a:endParaRPr>
            </a:p>
          </p:txBody>
        </p:sp>
      </p:grpSp>
      <p:grpSp>
        <p:nvGrpSpPr>
          <p:cNvPr id="42" name="scope-takeaway"/>
          <p:cNvGrpSpPr/>
          <p:nvPr/>
        </p:nvGrpSpPr>
        <p:grpSpPr>
          <a:xfrm>
            <a:off x="666750" y="5753100"/>
            <a:ext cx="10839450" cy="457200"/>
            <a:chOff x="666750" y="5753100"/>
            <a:chExt cx="10839450" cy="457200"/>
          </a:xfrm>
        </p:grpSpPr>
        <p:sp>
          <p:nvSpPr>
            <p:cNvPr id="40" name="Rectangle 40"/>
            <p:cNvSpPr/>
            <p:nvPr/>
          </p:nvSpPr>
          <p:spPr>
            <a:xfrm>
              <a:off x="666750" y="5753100"/>
              <a:ext cx="10839450" cy="457200"/>
            </a:xfrm>
            <a:prstGeom prst="roundRect">
              <a:avLst>
                <a:gd name="adj" fmla="val 16667"/>
              </a:avLst>
            </a:prstGeom>
            <a:solidFill>
              <a:srgbClr val="FFF4F0"/>
            </a:solidFill>
            <a:ln w="14288">
              <a:solidFill>
                <a:srgbClr val="E3B2A7"/>
              </a:solidFill>
            </a:ln>
          </p:spPr>
        </p:sp>
        <p:sp>
          <p:nvSpPr>
            <p:cNvPr id="41" name="TextBox 41"/>
            <p:cNvSpPr txBox="1"/>
            <p:nvPr/>
          </p:nvSpPr>
          <p:spPr>
            <a:xfrm>
              <a:off x="3171825" y="5883275"/>
              <a:ext cx="5829300" cy="264033"/>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panose="020B0604020202020204"/>
                  <a:ea typeface="微软雅黑" panose="020B0503020204020204" charset="-122"/>
                  <a:cs typeface="Arial" panose="020B0604020202020204"/>
                </a:rPr>
                <a:t>可见信息从连续数值降为单一类别，但决策边界的几何结构仍然可被利用</a:t>
              </a:r>
              <a:endParaRPr lang="zh-CN" sz="1350" b="1" dirty="0">
                <a:solidFill>
                  <a:srgbClr val="C00000"/>
                </a:solidFill>
                <a:latin typeface="Arial" panose="020B0604020202020204"/>
                <a:ea typeface="微软雅黑" panose="020B0503020204020204" charset="-122"/>
                <a:cs typeface="Arial" panose="020B0604020202020204"/>
              </a:endParaRPr>
            </a:p>
          </p:txBody>
        </p:sp>
      </p:grpSp>
      <p:grpSp>
        <p:nvGrpSpPr>
          <p:cNvPr id="44" name="source-note"/>
          <p:cNvGrpSpPr/>
          <p:nvPr/>
        </p:nvGrpSpPr>
        <p:grpSpPr>
          <a:xfrm>
            <a:off x="757238" y="6318250"/>
            <a:ext cx="127000" cy="120650"/>
            <a:chOff x="757238" y="6318250"/>
            <a:chExt cx="127000" cy="120650"/>
          </a:xfrm>
        </p:grpSpPr>
        <p:sp>
          <p:nvSpPr>
            <p:cNvPr id="43" name="TextBox 43"/>
            <p:cNvSpPr txBox="1"/>
            <p:nvPr/>
          </p:nvSpPr>
          <p:spPr>
            <a:xfrm>
              <a:off x="757238" y="6318250"/>
              <a:ext cx="127000" cy="120650"/>
            </a:xfrm>
            <a:prstGeom prst="rect">
              <a:avLst/>
            </a:prstGeom>
            <a:noFill/>
            <a:ln>
              <a:noFill/>
            </a:ln>
          </p:spPr>
          <p:txBody>
            <a:bodyPr wrap="none" lIns="0" tIns="0" rIns="0" bIns="0" anchor="t" anchorCtr="0">
              <a:spAutoFit/>
            </a:bodyPr>
            <a:lstStyle/>
            <a:p>
              <a:pPr algn="l"/>
              <a:endParaRPr lang="zh-CN" sz="790" dirty="0">
                <a:solidFill>
                  <a:srgbClr val="667085"/>
                </a:solidFill>
                <a:latin typeface="Arial" panose="020B0604020202020204"/>
                <a:ea typeface="微软雅黑" panose="020B0503020204020204" charset="-122"/>
                <a:cs typeface="Arial" panose="020B0604020202020204"/>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p:nvPr/>
          </p:nvSpPr>
          <p:spPr>
            <a:xfrm>
              <a:off x="864870" y="482632"/>
              <a:ext cx="2567178" cy="440055"/>
            </a:xfrm>
            <a:prstGeom prst="rect">
              <a:avLst/>
            </a:prstGeom>
            <a:noFill/>
            <a:ln>
              <a:noFill/>
            </a:ln>
          </p:spPr>
          <p:txBody>
            <a:bodyPr wrap="none" lIns="0" tIns="-32" rIns="0" bIns="0" anchor="t" anchorCtr="0">
              <a:noAutofit/>
            </a:bodyPr>
            <a:lstStyle/>
            <a:p>
              <a:pPr algn="l"/>
              <a:r>
                <a:rPr lang="zh-CN" sz="2250" dirty="0">
                  <a:solidFill>
                    <a:srgbClr val="000000"/>
                  </a:solidFill>
                  <a:latin typeface="Arial" panose="020B0604020202020204"/>
                  <a:ea typeface="微软雅黑" panose="020B0503020204020204" charset="-122"/>
                  <a:cs typeface="Arial" panose="020B0604020202020204"/>
                </a:rPr>
                <a:t>5. 复现结果</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sp>
        <p:nvSpPr>
          <p:cNvPr id="20" name="TextBox 20"/>
          <p:cNvSpPr/>
          <p:nvPr/>
        </p:nvSpPr>
        <p:spPr>
          <a:xfrm>
            <a:off x="11337036" y="6359557"/>
            <a:ext cx="155067" cy="191643"/>
          </a:xfrm>
          <a:prstGeom prst="rect">
            <a:avLst/>
          </a:prstGeom>
          <a:noFill/>
          <a:ln>
            <a:noFill/>
          </a:ln>
        </p:spPr>
        <p:txBody>
          <a:bodyPr wrap="none" lIns="0" tIns="-32" rIns="0" bIns="0" anchor="t" anchorCtr="0">
            <a:noAutofit/>
          </a:bodyPr>
          <a:lstStyle/>
          <a:p>
            <a:pPr algn="r"/>
            <a:fld id="{B3FF6914-A81A-4FC7-8A2F-77F223AC10E2}" type="slidenum">
              <a:rPr lang="zh-CN" sz="980" dirty="0">
                <a:solidFill>
                  <a:srgbClr val="404040"/>
                </a:solidFill>
                <a:latin typeface="Arial" panose="020B0604020202020204"/>
                <a:ea typeface="Arial" panose="020B0604020202020204"/>
                <a:cs typeface="Arial" panose="020B0604020202020204"/>
              </a:rPr>
            </a:fld>
            <a:endParaRPr lang="zh-CN" sz="980" dirty="0">
              <a:solidFill>
                <a:srgbClr val="404040"/>
              </a:solidFill>
              <a:latin typeface="Arial" panose="020B0604020202020204"/>
              <a:ea typeface="Arial" panose="020B0604020202020204"/>
              <a:cs typeface="Arial" panose="020B0604020202020204"/>
            </a:endParaRPr>
          </a:p>
        </p:txBody>
      </p:sp>
      <p:grpSp>
        <p:nvGrpSpPr>
          <p:cNvPr id="18" name="page-title"/>
          <p:cNvGrpSpPr/>
          <p:nvPr/>
        </p:nvGrpSpPr>
        <p:grpSpPr>
          <a:xfrm>
            <a:off x="653796" y="1482725"/>
            <a:ext cx="6873128" cy="498729"/>
            <a:chOff x="653796" y="1482725"/>
            <a:chExt cx="6873128" cy="498729"/>
          </a:xfrm>
        </p:grpSpPr>
        <p:sp>
          <p:nvSpPr>
            <p:cNvPr id="17" name="TextBox 17"/>
            <p:cNvSpPr txBox="1"/>
            <p:nvPr/>
          </p:nvSpPr>
          <p:spPr>
            <a:xfrm>
              <a:off x="653796" y="1482725"/>
              <a:ext cx="6873128"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软标签前作：983 个神经元符号全部恢复正确</a:t>
              </a:r>
              <a:endParaRPr lang="zh-CN" sz="2550" b="1" dirty="0">
                <a:solidFill>
                  <a:srgbClr val="005725"/>
                </a:solidFill>
                <a:latin typeface="Arial" panose="020B0604020202020204"/>
                <a:ea typeface="微软雅黑" panose="020B0503020204020204" charset="-122"/>
                <a:cs typeface="Arial" panose="020B0604020202020204"/>
              </a:endParaRPr>
            </a:p>
          </p:txBody>
        </p:sp>
      </p:grpSp>
      <p:grpSp>
        <p:nvGrpSpPr>
          <p:cNvPr id="27" name="soft-summary"/>
          <p:cNvGrpSpPr/>
          <p:nvPr/>
        </p:nvGrpSpPr>
        <p:grpSpPr>
          <a:xfrm>
            <a:off x="666750" y="2095500"/>
            <a:ext cx="10839450" cy="1162050"/>
            <a:chOff x="666750" y="2095500"/>
            <a:chExt cx="10839450" cy="1162050"/>
          </a:xfrm>
        </p:grpSpPr>
        <p:sp>
          <p:nvSpPr>
            <p:cNvPr id="19" name="Rectangle 19"/>
            <p:cNvSpPr/>
            <p:nvPr/>
          </p:nvSpPr>
          <p:spPr>
            <a:xfrm>
              <a:off x="666750" y="2095500"/>
              <a:ext cx="10839450" cy="1162050"/>
            </a:xfrm>
            <a:prstGeom prst="roundRect">
              <a:avLst>
                <a:gd name="adj" fmla="val 9836"/>
              </a:avLst>
            </a:prstGeom>
            <a:solidFill>
              <a:srgbClr val="EAF4EE"/>
            </a:solidFill>
            <a:ln w="19050">
              <a:solidFill>
                <a:srgbClr val="8FBAA1"/>
              </a:solidFill>
            </a:ln>
          </p:spPr>
        </p:sp>
        <p:sp>
          <p:nvSpPr>
            <p:cNvPr id="21" name="TextBox 21"/>
            <p:cNvSpPr txBox="1"/>
            <p:nvPr/>
          </p:nvSpPr>
          <p:spPr>
            <a:xfrm>
              <a:off x="1519086" y="2273300"/>
              <a:ext cx="1629078" cy="557403"/>
            </a:xfrm>
            <a:prstGeom prst="rect">
              <a:avLst/>
            </a:prstGeom>
            <a:noFill/>
            <a:ln>
              <a:noFill/>
            </a:ln>
          </p:spPr>
          <p:txBody>
            <a:bodyPr wrap="none" lIns="0" tIns="0" rIns="0" bIns="0" anchor="t" anchorCtr="0">
              <a:spAutoFit/>
            </a:bodyPr>
            <a:lstStyle/>
            <a:p>
              <a:pPr algn="ctr"/>
              <a:r>
                <a:rPr lang="zh-CN" sz="2850" b="1" dirty="0">
                  <a:solidFill>
                    <a:srgbClr val="005725"/>
                  </a:solidFill>
                  <a:latin typeface="Arial" panose="020B0604020202020204"/>
                  <a:ea typeface="Arial" panose="020B0604020202020204"/>
                  <a:cs typeface="Arial" panose="020B0604020202020204"/>
                </a:rPr>
                <a:t>983 / 983</a:t>
              </a:r>
              <a:endParaRPr lang="zh-CN" sz="2850" b="1" dirty="0">
                <a:solidFill>
                  <a:srgbClr val="005725"/>
                </a:solidFill>
                <a:latin typeface="Arial" panose="020B0604020202020204"/>
                <a:ea typeface="Arial" panose="020B0604020202020204"/>
                <a:cs typeface="Arial" panose="020B0604020202020204"/>
              </a:endParaRPr>
            </a:p>
          </p:txBody>
        </p:sp>
        <p:sp>
          <p:nvSpPr>
            <p:cNvPr id="22" name="TextBox 22"/>
            <p:cNvSpPr txBox="1"/>
            <p:nvPr/>
          </p:nvSpPr>
          <p:spPr>
            <a:xfrm>
              <a:off x="1551737" y="2828925"/>
              <a:ext cx="1563776" cy="250317"/>
            </a:xfrm>
            <a:prstGeom prst="rect">
              <a:avLst/>
            </a:prstGeom>
            <a:noFill/>
            <a:ln>
              <a:noFill/>
            </a:ln>
          </p:spPr>
          <p:txBody>
            <a:bodyPr wrap="none" lIns="0" tIns="0" rIns="0" bIns="0" anchor="t" anchorCtr="0">
              <a:spAutoFit/>
            </a:bodyPr>
            <a:lstStyle/>
            <a:p>
              <a:pPr algn="ctr"/>
              <a:r>
                <a:rPr lang="zh-CN" sz="1280" dirty="0">
                  <a:solidFill>
                    <a:srgbClr val="262626"/>
                  </a:solidFill>
                  <a:latin typeface="Arial" panose="020B0604020202020204"/>
                  <a:ea typeface="微软雅黑" panose="020B0503020204020204" charset="-122"/>
                  <a:cs typeface="Arial" panose="020B0604020202020204"/>
                </a:rPr>
                <a:t>神经元符号恢复正确</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5590850" y="2273300"/>
              <a:ext cx="1010299" cy="557403"/>
            </a:xfrm>
            <a:prstGeom prst="rect">
              <a:avLst/>
            </a:prstGeom>
            <a:noFill/>
            <a:ln>
              <a:noFill/>
            </a:ln>
          </p:spPr>
          <p:txBody>
            <a:bodyPr wrap="none" lIns="0" tIns="0" rIns="0" bIns="0" anchor="t" anchorCtr="0">
              <a:spAutoFit/>
            </a:bodyPr>
            <a:lstStyle/>
            <a:p>
              <a:pPr algn="ctr"/>
              <a:r>
                <a:rPr lang="zh-CN" sz="2850" b="1" dirty="0">
                  <a:solidFill>
                    <a:srgbClr val="005725"/>
                  </a:solidFill>
                  <a:latin typeface="Arial" panose="020B0604020202020204"/>
                  <a:ea typeface="Arial" panose="020B0604020202020204"/>
                  <a:cs typeface="Arial" panose="020B0604020202020204"/>
                </a:rPr>
                <a:t>100%</a:t>
              </a:r>
              <a:endParaRPr lang="zh-CN" sz="2850" b="1" dirty="0">
                <a:solidFill>
                  <a:srgbClr val="005725"/>
                </a:solidFill>
                <a:latin typeface="Arial" panose="020B0604020202020204"/>
                <a:ea typeface="Arial" panose="020B0604020202020204"/>
                <a:cs typeface="Arial" panose="020B0604020202020204"/>
              </a:endParaRPr>
            </a:p>
          </p:txBody>
        </p:sp>
        <p:sp>
          <p:nvSpPr>
            <p:cNvPr id="24" name="TextBox 24"/>
            <p:cNvSpPr txBox="1"/>
            <p:nvPr/>
          </p:nvSpPr>
          <p:spPr>
            <a:xfrm>
              <a:off x="5242257" y="2828925"/>
              <a:ext cx="1707486" cy="250317"/>
            </a:xfrm>
            <a:prstGeom prst="rect">
              <a:avLst/>
            </a:prstGeom>
            <a:noFill/>
            <a:ln>
              <a:noFill/>
            </a:ln>
          </p:spPr>
          <p:txBody>
            <a:bodyPr wrap="none" lIns="0" tIns="0" rIns="0" bIns="0" anchor="t" anchorCtr="0">
              <a:spAutoFit/>
            </a:bodyPr>
            <a:lstStyle/>
            <a:p>
              <a:pPr algn="ctr"/>
              <a:r>
                <a:rPr lang="zh-CN" sz="1280" dirty="0">
                  <a:solidFill>
                    <a:srgbClr val="262626"/>
                  </a:solidFill>
                  <a:latin typeface="Arial" panose="020B0604020202020204"/>
                  <a:ea typeface="微软雅黑" panose="020B0503020204020204" charset="-122"/>
                  <a:cs typeface="Arial" panose="020B0604020202020204"/>
                </a:rPr>
                <a:t>8 项攻击实验全部成功</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9209492" y="2273300"/>
              <a:ext cx="1202517" cy="557403"/>
            </a:xfrm>
            <a:prstGeom prst="rect">
              <a:avLst/>
            </a:prstGeom>
            <a:noFill/>
            <a:ln>
              <a:noFill/>
            </a:ln>
          </p:spPr>
          <p:txBody>
            <a:bodyPr wrap="none" lIns="0" tIns="0" rIns="0" bIns="0" anchor="t" anchorCtr="0">
              <a:spAutoFit/>
            </a:bodyPr>
            <a:lstStyle/>
            <a:p>
              <a:pPr algn="ctr"/>
              <a:r>
                <a:rPr lang="zh-CN" sz="2850" b="1" dirty="0">
                  <a:solidFill>
                    <a:srgbClr val="005725"/>
                  </a:solidFill>
                  <a:latin typeface="Arial" panose="020B0604020202020204"/>
                  <a:ea typeface="Arial" panose="020B0604020202020204"/>
                  <a:cs typeface="Arial" panose="020B0604020202020204"/>
                </a:rPr>
                <a:t>0.5249</a:t>
              </a:r>
              <a:endParaRPr lang="zh-CN" sz="2850" b="1" dirty="0">
                <a:solidFill>
                  <a:srgbClr val="005725"/>
                </a:solidFill>
                <a:latin typeface="Arial" panose="020B0604020202020204"/>
                <a:ea typeface="Arial" panose="020B0604020202020204"/>
                <a:cs typeface="Arial" panose="020B0604020202020204"/>
              </a:endParaRPr>
            </a:p>
          </p:txBody>
        </p:sp>
        <p:sp>
          <p:nvSpPr>
            <p:cNvPr id="26" name="TextBox 26"/>
            <p:cNvSpPr txBox="1"/>
            <p:nvPr/>
          </p:nvSpPr>
          <p:spPr>
            <a:xfrm>
              <a:off x="8685049" y="2828925"/>
              <a:ext cx="2251403" cy="250317"/>
            </a:xfrm>
            <a:prstGeom prst="rect">
              <a:avLst/>
            </a:prstGeom>
            <a:noFill/>
            <a:ln>
              <a:noFill/>
            </a:ln>
          </p:spPr>
          <p:txBody>
            <a:bodyPr wrap="none" lIns="0" tIns="0" rIns="0" bIns="0" anchor="t" anchorCtr="0">
              <a:spAutoFit/>
            </a:bodyPr>
            <a:lstStyle/>
            <a:p>
              <a:pPr algn="ctr"/>
              <a:r>
                <a:rPr lang="zh-CN" sz="1280" dirty="0">
                  <a:solidFill>
                    <a:srgbClr val="262626"/>
                  </a:solidFill>
                  <a:latin typeface="Arial" panose="020B0604020202020204"/>
                  <a:ea typeface="微软雅黑" panose="020B0503020204020204" charset="-122"/>
                  <a:cs typeface="Arial" panose="020B0604020202020204"/>
                </a:rPr>
                <a:t>CIFAR-10 准确率与论文一致</a:t>
              </a:r>
              <a:endParaRPr lang="zh-CN" sz="1280" dirty="0">
                <a:solidFill>
                  <a:srgbClr val="262626"/>
                </a:solidFill>
                <a:latin typeface="Arial" panose="020B0604020202020204"/>
                <a:ea typeface="微软雅黑" panose="020B0503020204020204" charset="-122"/>
                <a:cs typeface="Arial" panose="020B0604020202020204"/>
              </a:endParaRPr>
            </a:p>
          </p:txBody>
        </p:sp>
      </p:grpSp>
      <p:grpSp>
        <p:nvGrpSpPr>
          <p:cNvPr id="34" name="method-soe"/>
          <p:cNvGrpSpPr/>
          <p:nvPr/>
        </p:nvGrpSpPr>
        <p:grpSpPr>
          <a:xfrm>
            <a:off x="666750" y="3476625"/>
            <a:ext cx="3295650" cy="2190750"/>
            <a:chOff x="666750" y="3476625"/>
            <a:chExt cx="3295650" cy="2190750"/>
          </a:xfrm>
        </p:grpSpPr>
        <p:sp>
          <p:nvSpPr>
            <p:cNvPr id="28" name="Rectangle 28"/>
            <p:cNvSpPr/>
            <p:nvPr/>
          </p:nvSpPr>
          <p:spPr>
            <a:xfrm>
              <a:off x="666750" y="3476625"/>
              <a:ext cx="3295650" cy="2190750"/>
            </a:xfrm>
            <a:prstGeom prst="roundRect">
              <a:avLst>
                <a:gd name="adj" fmla="val 5217"/>
              </a:avLst>
            </a:prstGeom>
            <a:solidFill>
              <a:srgbClr val="FFFFFF"/>
            </a:solidFill>
            <a:ln w="19050">
              <a:solidFill>
                <a:srgbClr val="A6C9B4"/>
              </a:solidFill>
            </a:ln>
          </p:spPr>
        </p:sp>
        <p:sp>
          <p:nvSpPr>
            <p:cNvPr id="29" name="TextBox 29"/>
            <p:cNvSpPr txBox="1"/>
            <p:nvPr/>
          </p:nvSpPr>
          <p:spPr>
            <a:xfrm>
              <a:off x="904875" y="3648075"/>
              <a:ext cx="583769" cy="367665"/>
            </a:xfrm>
            <a:prstGeom prst="rect">
              <a:avLst/>
            </a:prstGeom>
            <a:noFill/>
            <a:ln>
              <a:noFill/>
            </a:ln>
          </p:spPr>
          <p:txBody>
            <a:bodyPr wrap="none" lIns="0" tIns="0" rIns="0" bIns="0" anchor="t" anchorCtr="0">
              <a:spAutoFit/>
            </a:bodyPr>
            <a:lstStyle/>
            <a:p>
              <a:pPr algn="l"/>
              <a:r>
                <a:rPr lang="en-US" sz="1880" b="1" dirty="0">
                  <a:solidFill>
                    <a:srgbClr val="005725"/>
                  </a:solidFill>
                  <a:latin typeface="Arial" panose="020B0604020202020204"/>
                  <a:ea typeface="Arial" panose="020B0604020202020204"/>
                  <a:cs typeface="Arial" panose="020B0604020202020204"/>
                </a:rPr>
                <a:t>SOE</a:t>
              </a:r>
              <a:endParaRPr lang="en-US" sz="1880" b="1" dirty="0">
                <a:solidFill>
                  <a:srgbClr val="005725"/>
                </a:solidFill>
                <a:latin typeface="Arial" panose="020B0604020202020204"/>
                <a:ea typeface="Arial" panose="020B0604020202020204"/>
                <a:cs typeface="Arial" panose="020B0604020202020204"/>
              </a:endParaRPr>
            </a:p>
          </p:txBody>
        </p:sp>
        <p:sp>
          <p:nvSpPr>
            <p:cNvPr id="30" name="TextBox 30"/>
            <p:cNvSpPr txBox="1"/>
            <p:nvPr/>
          </p:nvSpPr>
          <p:spPr>
            <a:xfrm>
              <a:off x="902970" y="3997325"/>
              <a:ext cx="1286114" cy="440055"/>
            </a:xfrm>
            <a:prstGeom prst="rect">
              <a:avLst/>
            </a:prstGeom>
            <a:noFill/>
            <a:ln>
              <a:noFill/>
            </a:ln>
          </p:spPr>
          <p:txBody>
            <a:bodyPr wrap="none" lIns="0" tIns="0" rIns="0" bIns="0" anchor="t" anchorCtr="0">
              <a:spAutoFit/>
            </a:bodyPr>
            <a:lstStyle/>
            <a:p>
              <a:pPr algn="l"/>
              <a:r>
                <a:rPr lang="zh-CN" sz="2250" b="1" dirty="0">
                  <a:solidFill>
                    <a:srgbClr val="005725"/>
                  </a:solidFill>
                  <a:latin typeface="Arial" panose="020B0604020202020204"/>
                  <a:ea typeface="Arial" panose="020B0604020202020204"/>
                  <a:cs typeface="Arial" panose="020B0604020202020204"/>
                </a:rPr>
                <a:t>384 / 384</a:t>
              </a:r>
              <a:endParaRPr lang="zh-CN" sz="2250" b="1" dirty="0">
                <a:solidFill>
                  <a:srgbClr val="005725"/>
                </a:solidFill>
                <a:latin typeface="Arial" panose="020B0604020202020204"/>
                <a:ea typeface="Arial" panose="020B0604020202020204"/>
                <a:cs typeface="Arial" panose="020B0604020202020204"/>
              </a:endParaRPr>
            </a:p>
          </p:txBody>
        </p:sp>
        <p:sp>
          <p:nvSpPr>
            <p:cNvPr id="31" name="TextBox 31"/>
            <p:cNvSpPr txBox="1"/>
            <p:nvPr/>
          </p:nvSpPr>
          <p:spPr>
            <a:xfrm>
              <a:off x="907923" y="4438650"/>
              <a:ext cx="1563776"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整层方程组一次求解</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907923" y="4762500"/>
              <a:ext cx="1317625" cy="196850"/>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128神经元：9.14s</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907923" y="5067300"/>
              <a:ext cx="2165350" cy="196850"/>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CIFAR-10 256神经元：17.90s</a:t>
              </a:r>
              <a:endParaRPr lang="zh-CN" sz="1280" dirty="0">
                <a:solidFill>
                  <a:srgbClr val="262626"/>
                </a:solidFill>
                <a:latin typeface="Arial" panose="020B0604020202020204"/>
                <a:ea typeface="微软雅黑" panose="020B0503020204020204" charset="-122"/>
                <a:cs typeface="Arial" panose="020B0604020202020204"/>
              </a:endParaRPr>
            </a:p>
          </p:txBody>
        </p:sp>
      </p:grpSp>
      <p:grpSp>
        <p:nvGrpSpPr>
          <p:cNvPr id="41" name="method-wiggle"/>
          <p:cNvGrpSpPr/>
          <p:nvPr/>
        </p:nvGrpSpPr>
        <p:grpSpPr>
          <a:xfrm>
            <a:off x="4448175" y="3476625"/>
            <a:ext cx="3295650" cy="2190750"/>
            <a:chOff x="4448175" y="3476625"/>
            <a:chExt cx="3295650" cy="2190750"/>
          </a:xfrm>
        </p:grpSpPr>
        <p:sp>
          <p:nvSpPr>
            <p:cNvPr id="35" name="Rectangle 35"/>
            <p:cNvSpPr/>
            <p:nvPr/>
          </p:nvSpPr>
          <p:spPr>
            <a:xfrm>
              <a:off x="4448175" y="3476625"/>
              <a:ext cx="3295650" cy="2190750"/>
            </a:xfrm>
            <a:prstGeom prst="roundRect">
              <a:avLst>
                <a:gd name="adj" fmla="val 5217"/>
              </a:avLst>
            </a:prstGeom>
            <a:solidFill>
              <a:srgbClr val="FFFFFF"/>
            </a:solidFill>
            <a:ln w="19050">
              <a:solidFill>
                <a:srgbClr val="A6C9B4"/>
              </a:solidFill>
            </a:ln>
          </p:spPr>
        </p:sp>
        <p:sp>
          <p:nvSpPr>
            <p:cNvPr id="36" name="TextBox 36"/>
            <p:cNvSpPr txBox="1"/>
            <p:nvPr/>
          </p:nvSpPr>
          <p:spPr>
            <a:xfrm>
              <a:off x="4686300" y="3648075"/>
              <a:ext cx="1821413" cy="367665"/>
            </a:xfrm>
            <a:prstGeom prst="rect">
              <a:avLst/>
            </a:prstGeom>
            <a:noFill/>
            <a:ln>
              <a:noFill/>
            </a:ln>
          </p:spPr>
          <p:txBody>
            <a:bodyPr wrap="none" lIns="0" tIns="0" rIns="0" bIns="0" anchor="t" anchorCtr="0">
              <a:spAutoFit/>
            </a:bodyPr>
            <a:lstStyle/>
            <a:p>
              <a:pPr algn="l"/>
              <a:r>
                <a:rPr lang="en-US" sz="1880" b="1" dirty="0">
                  <a:solidFill>
                    <a:srgbClr val="005725"/>
                  </a:solidFill>
                  <a:latin typeface="Arial" panose="020B0604020202020204"/>
                  <a:ea typeface="Arial" panose="020B0604020202020204"/>
                  <a:cs typeface="Arial" panose="020B0604020202020204"/>
                </a:rPr>
                <a:t>Neuron Wiggle</a:t>
              </a:r>
              <a:endParaRPr lang="en-US" sz="1880" b="1" dirty="0">
                <a:solidFill>
                  <a:srgbClr val="005725"/>
                </a:solidFill>
                <a:latin typeface="Arial" panose="020B0604020202020204"/>
                <a:ea typeface="Arial" panose="020B0604020202020204"/>
                <a:cs typeface="Arial" panose="020B0604020202020204"/>
              </a:endParaRPr>
            </a:p>
          </p:txBody>
        </p:sp>
        <p:sp>
          <p:nvSpPr>
            <p:cNvPr id="37" name="TextBox 37"/>
            <p:cNvSpPr txBox="1"/>
            <p:nvPr/>
          </p:nvSpPr>
          <p:spPr>
            <a:xfrm>
              <a:off x="4684395" y="3997325"/>
              <a:ext cx="949173" cy="440055"/>
            </a:xfrm>
            <a:prstGeom prst="rect">
              <a:avLst/>
            </a:prstGeom>
            <a:noFill/>
            <a:ln>
              <a:noFill/>
            </a:ln>
          </p:spPr>
          <p:txBody>
            <a:bodyPr wrap="none" lIns="0" tIns="0" rIns="0" bIns="0" anchor="t" anchorCtr="0">
              <a:spAutoFit/>
            </a:bodyPr>
            <a:lstStyle/>
            <a:p>
              <a:pPr algn="l"/>
              <a:r>
                <a:rPr lang="zh-CN" sz="2250" b="1" dirty="0">
                  <a:solidFill>
                    <a:srgbClr val="005725"/>
                  </a:solidFill>
                  <a:latin typeface="Arial" panose="020B0604020202020204"/>
                  <a:ea typeface="Arial" panose="020B0604020202020204"/>
                  <a:cs typeface="Arial" panose="020B0604020202020204"/>
                </a:rPr>
                <a:t>15 / 15</a:t>
              </a:r>
              <a:endParaRPr lang="zh-CN" sz="2250" b="1" dirty="0">
                <a:solidFill>
                  <a:srgbClr val="005725"/>
                </a:solidFill>
                <a:latin typeface="Arial" panose="020B0604020202020204"/>
                <a:ea typeface="Arial" panose="020B0604020202020204"/>
                <a:cs typeface="Arial" panose="020B0604020202020204"/>
              </a:endParaRPr>
            </a:p>
          </p:txBody>
        </p:sp>
        <p:sp>
          <p:nvSpPr>
            <p:cNvPr id="38" name="TextBox 38"/>
            <p:cNvSpPr txBox="1"/>
            <p:nvPr/>
          </p:nvSpPr>
          <p:spPr>
            <a:xfrm>
              <a:off x="4689348" y="4438650"/>
              <a:ext cx="2080717"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逐神经元投票，三组均正确</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4689348" y="4762500"/>
              <a:ext cx="1861672"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22.69–335.03 s / 神经元</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4689348" y="5067300"/>
              <a:ext cx="1563776" cy="250317"/>
            </a:xfrm>
            <a:prstGeom prst="rect">
              <a:avLst/>
            </a:prstGeom>
            <a:noFill/>
            <a:ln>
              <a:noFill/>
            </a:ln>
          </p:spPr>
          <p:txBody>
            <a:bodyPr wrap="none" lIns="0" tIns="0" rIns="0" bIns="0" anchor="t" anchorCtr="0">
              <a:spAutoFit/>
            </a:bodyPr>
            <a:lstStyle/>
            <a:p>
              <a:pPr algn="l"/>
              <a:r>
                <a:rPr lang="zh-CN" sz="1280" b="1" dirty="0">
                  <a:solidFill>
                    <a:srgbClr val="C00000"/>
                  </a:solidFill>
                  <a:latin typeface="Arial" panose="020B0604020202020204"/>
                  <a:ea typeface="微软雅黑" panose="020B0503020204020204" charset="-122"/>
                  <a:cs typeface="Arial" panose="020B0604020202020204"/>
                </a:rPr>
                <a:t>主要瓶颈：串行执行</a:t>
              </a:r>
              <a:endParaRPr lang="zh-CN" sz="1280" b="1" dirty="0">
                <a:solidFill>
                  <a:srgbClr val="C00000"/>
                </a:solidFill>
                <a:latin typeface="Arial" panose="020B0604020202020204"/>
                <a:ea typeface="微软雅黑" panose="020B0503020204020204" charset="-122"/>
                <a:cs typeface="Arial" panose="020B0604020202020204"/>
              </a:endParaRPr>
            </a:p>
          </p:txBody>
        </p:sp>
      </p:grpSp>
      <p:grpSp>
        <p:nvGrpSpPr>
          <p:cNvPr id="48" name="method-last-layer"/>
          <p:cNvGrpSpPr/>
          <p:nvPr/>
        </p:nvGrpSpPr>
        <p:grpSpPr>
          <a:xfrm>
            <a:off x="8210550" y="3476625"/>
            <a:ext cx="3295650" cy="2190750"/>
            <a:chOff x="8210550" y="3476625"/>
            <a:chExt cx="3295650" cy="2190750"/>
          </a:xfrm>
        </p:grpSpPr>
        <p:sp>
          <p:nvSpPr>
            <p:cNvPr id="42" name="Rectangle 42"/>
            <p:cNvSpPr/>
            <p:nvPr/>
          </p:nvSpPr>
          <p:spPr>
            <a:xfrm>
              <a:off x="8210550" y="3476625"/>
              <a:ext cx="3295650" cy="2190750"/>
            </a:xfrm>
            <a:prstGeom prst="roundRect">
              <a:avLst>
                <a:gd name="adj" fmla="val 5217"/>
              </a:avLst>
            </a:prstGeom>
            <a:solidFill>
              <a:srgbClr val="FFFFFF"/>
            </a:solidFill>
            <a:ln w="19050">
              <a:solidFill>
                <a:srgbClr val="A6C9B4"/>
              </a:solidFill>
            </a:ln>
          </p:spPr>
        </p:sp>
        <p:sp>
          <p:nvSpPr>
            <p:cNvPr id="43" name="TextBox 43"/>
            <p:cNvSpPr txBox="1"/>
            <p:nvPr/>
          </p:nvSpPr>
          <p:spPr>
            <a:xfrm>
              <a:off x="8448675" y="3648075"/>
              <a:ext cx="2237887" cy="367665"/>
            </a:xfrm>
            <a:prstGeom prst="rect">
              <a:avLst/>
            </a:prstGeom>
            <a:noFill/>
            <a:ln>
              <a:noFill/>
            </a:ln>
          </p:spPr>
          <p:txBody>
            <a:bodyPr wrap="none" lIns="0" tIns="0" rIns="0" bIns="0" anchor="t" anchorCtr="0">
              <a:spAutoFit/>
            </a:bodyPr>
            <a:lstStyle/>
            <a:p>
              <a:pPr algn="l"/>
              <a:r>
                <a:rPr lang="en-US" sz="1880" b="1" dirty="0">
                  <a:solidFill>
                    <a:srgbClr val="005725"/>
                  </a:solidFill>
                  <a:latin typeface="Arial" panose="020B0604020202020204"/>
                  <a:ea typeface="Arial" panose="020B0604020202020204"/>
                  <a:cs typeface="Arial" panose="020B0604020202020204"/>
                </a:rPr>
                <a:t>Last Hidden Layer</a:t>
              </a:r>
              <a:endParaRPr lang="en-US" sz="1880" b="1" dirty="0">
                <a:solidFill>
                  <a:srgbClr val="005725"/>
                </a:solidFill>
                <a:latin typeface="Arial" panose="020B0604020202020204"/>
                <a:ea typeface="Arial" panose="020B0604020202020204"/>
                <a:cs typeface="Arial" panose="020B0604020202020204"/>
              </a:endParaRPr>
            </a:p>
          </p:txBody>
        </p:sp>
        <p:sp>
          <p:nvSpPr>
            <p:cNvPr id="44" name="TextBox 44"/>
            <p:cNvSpPr txBox="1"/>
            <p:nvPr/>
          </p:nvSpPr>
          <p:spPr>
            <a:xfrm>
              <a:off x="8446770" y="3997325"/>
              <a:ext cx="1286114" cy="440055"/>
            </a:xfrm>
            <a:prstGeom prst="rect">
              <a:avLst/>
            </a:prstGeom>
            <a:noFill/>
            <a:ln>
              <a:noFill/>
            </a:ln>
          </p:spPr>
          <p:txBody>
            <a:bodyPr wrap="none" lIns="0" tIns="0" rIns="0" bIns="0" anchor="t" anchorCtr="0">
              <a:spAutoFit/>
            </a:bodyPr>
            <a:lstStyle/>
            <a:p>
              <a:pPr algn="l"/>
              <a:r>
                <a:rPr lang="zh-CN" sz="2250" b="1" dirty="0">
                  <a:solidFill>
                    <a:srgbClr val="005725"/>
                  </a:solidFill>
                  <a:latin typeface="Arial" panose="020B0604020202020204"/>
                  <a:ea typeface="Arial" panose="020B0604020202020204"/>
                  <a:cs typeface="Arial" panose="020B0604020202020204"/>
                </a:rPr>
                <a:t>584 / 584</a:t>
              </a:r>
              <a:endParaRPr lang="zh-CN" sz="2250" b="1" dirty="0">
                <a:solidFill>
                  <a:srgbClr val="005725"/>
                </a:solidFill>
                <a:latin typeface="Arial" panose="020B0604020202020204"/>
                <a:ea typeface="Arial" panose="020B0604020202020204"/>
                <a:cs typeface="Arial" panose="020B0604020202020204"/>
              </a:endParaRPr>
            </a:p>
          </p:txBody>
        </p:sp>
        <p:sp>
          <p:nvSpPr>
            <p:cNvPr id="45" name="TextBox 45"/>
            <p:cNvSpPr txBox="1"/>
            <p:nvPr/>
          </p:nvSpPr>
          <p:spPr>
            <a:xfrm>
              <a:off x="8451723" y="4438650"/>
              <a:ext cx="1563776"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二阶差分，整层恢复</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8451723" y="4762500"/>
              <a:ext cx="1823729" cy="250317"/>
            </a:xfrm>
            <a:prstGeom prst="rect">
              <a:avLst/>
            </a:prstGeom>
            <a:noFill/>
            <a:ln>
              <a:noFill/>
            </a:ln>
          </p:spPr>
          <p:txBody>
            <a:bodyPr wrap="none" lIns="0" tIns="0" rIns="0" bIns="0" anchor="t" anchorCtr="0">
              <a:spAutoFit/>
            </a:bodyPr>
            <a:lstStyle/>
            <a:p>
              <a:pPr algn="l"/>
              <a:r>
                <a:rPr lang="en-US" sz="1280" dirty="0">
                  <a:solidFill>
                    <a:srgbClr val="262626"/>
                  </a:solidFill>
                  <a:latin typeface="Arial" panose="020B0604020202020204"/>
                  <a:ea typeface="Arial" panose="020B0604020202020204"/>
                  <a:cs typeface="Arial" panose="020B0604020202020204"/>
                </a:rPr>
                <a:t>26.07 / 43.86 / 155.88 s</a:t>
              </a:r>
              <a:endParaRPr lang="en-US" sz="1280" dirty="0">
                <a:solidFill>
                  <a:srgbClr val="262626"/>
                </a:solidFill>
                <a:latin typeface="Arial" panose="020B0604020202020204"/>
                <a:ea typeface="Arial" panose="020B0604020202020204"/>
                <a:cs typeface="Arial" panose="020B0604020202020204"/>
              </a:endParaRPr>
            </a:p>
          </p:txBody>
        </p:sp>
        <p:sp>
          <p:nvSpPr>
            <p:cNvPr id="47" name="TextBox 47"/>
            <p:cNvSpPr txBox="1"/>
            <p:nvPr/>
          </p:nvSpPr>
          <p:spPr>
            <a:xfrm>
              <a:off x="8451723" y="5067300"/>
              <a:ext cx="1908404"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结果均落在论文同一量级</a:t>
              </a:r>
              <a:endParaRPr lang="zh-CN" sz="1280" dirty="0">
                <a:solidFill>
                  <a:srgbClr val="262626"/>
                </a:solidFill>
                <a:latin typeface="Arial" panose="020B0604020202020204"/>
                <a:ea typeface="微软雅黑" panose="020B0503020204020204" charset="-122"/>
                <a:cs typeface="Arial" panose="020B0604020202020204"/>
              </a:endParaRPr>
            </a:p>
          </p:txBody>
        </p:sp>
      </p:grpSp>
      <p:grpSp>
        <p:nvGrpSpPr>
          <p:cNvPr id="51" name="soft-takeaway"/>
          <p:cNvGrpSpPr/>
          <p:nvPr/>
        </p:nvGrpSpPr>
        <p:grpSpPr>
          <a:xfrm>
            <a:off x="666750" y="5810250"/>
            <a:ext cx="10839450" cy="400050"/>
            <a:chOff x="666750" y="5810250"/>
            <a:chExt cx="10839450" cy="400050"/>
          </a:xfrm>
        </p:grpSpPr>
        <p:sp>
          <p:nvSpPr>
            <p:cNvPr id="49" name="Rectangle 49"/>
            <p:cNvSpPr/>
            <p:nvPr/>
          </p:nvSpPr>
          <p:spPr>
            <a:xfrm>
              <a:off x="666750" y="5810250"/>
              <a:ext cx="10839450" cy="400050"/>
            </a:xfrm>
            <a:prstGeom prst="roundRect">
              <a:avLst>
                <a:gd name="adj" fmla="val 19048"/>
              </a:avLst>
            </a:prstGeom>
            <a:solidFill>
              <a:srgbClr val="FFF4F0"/>
            </a:solidFill>
            <a:ln w="14288">
              <a:solidFill>
                <a:srgbClr val="E3B2A7"/>
              </a:solidFill>
            </a:ln>
          </p:spPr>
        </p:sp>
        <p:sp>
          <p:nvSpPr>
            <p:cNvPr id="50" name="TextBox 50"/>
            <p:cNvSpPr txBox="1"/>
            <p:nvPr/>
          </p:nvSpPr>
          <p:spPr>
            <a:xfrm>
              <a:off x="3005717" y="5915025"/>
              <a:ext cx="6161516" cy="250317"/>
            </a:xfrm>
            <a:prstGeom prst="rect">
              <a:avLst/>
            </a:prstGeom>
            <a:noFill/>
            <a:ln>
              <a:noFill/>
            </a:ln>
          </p:spPr>
          <p:txBody>
            <a:bodyPr wrap="none" lIns="0" tIns="0" rIns="0" bIns="0" anchor="t" anchorCtr="0">
              <a:spAutoFit/>
            </a:bodyPr>
            <a:lstStyle/>
            <a:p>
              <a:pPr algn="ctr"/>
              <a:r>
                <a:rPr lang="zh-CN" sz="1280" b="1" dirty="0">
                  <a:solidFill>
                    <a:srgbClr val="C00000"/>
                  </a:solidFill>
                  <a:latin typeface="Arial" panose="020B0604020202020204"/>
                  <a:ea typeface="微软雅黑" panose="020B0503020204020204" charset="-122"/>
                  <a:cs typeface="Arial" panose="020B0604020202020204"/>
                </a:rPr>
                <a:t>前作验证了多项式时间符号恢复；逐神经元 Neuron Wiggle 是最明显的工程瓶颈</a:t>
              </a:r>
              <a:endParaRPr lang="zh-CN" sz="1280" b="1" dirty="0">
                <a:solidFill>
                  <a:srgbClr val="C00000"/>
                </a:solidFill>
                <a:latin typeface="Arial" panose="020B0604020202020204"/>
                <a:ea typeface="微软雅黑" panose="020B0503020204020204" charset="-122"/>
                <a:cs typeface="Arial" panose="020B0604020202020204"/>
              </a:endParaRPr>
            </a:p>
          </p:txBody>
        </p:sp>
      </p:grpSp>
      <p:grpSp>
        <p:nvGrpSpPr>
          <p:cNvPr id="53" name="source-note"/>
          <p:cNvGrpSpPr/>
          <p:nvPr/>
        </p:nvGrpSpPr>
        <p:grpSpPr>
          <a:xfrm>
            <a:off x="757238" y="6318250"/>
            <a:ext cx="127000" cy="120650"/>
            <a:chOff x="757238" y="6318250"/>
            <a:chExt cx="127000" cy="120650"/>
          </a:xfrm>
        </p:grpSpPr>
        <p:sp>
          <p:nvSpPr>
            <p:cNvPr id="52" name="TextBox 52"/>
            <p:cNvSpPr txBox="1"/>
            <p:nvPr/>
          </p:nvSpPr>
          <p:spPr>
            <a:xfrm>
              <a:off x="757238" y="6318250"/>
              <a:ext cx="127000" cy="120650"/>
            </a:xfrm>
            <a:prstGeom prst="rect">
              <a:avLst/>
            </a:prstGeom>
            <a:noFill/>
            <a:ln>
              <a:noFill/>
            </a:ln>
          </p:spPr>
          <p:txBody>
            <a:bodyPr wrap="none" lIns="0" tIns="0" rIns="0" bIns="0" anchor="t" anchorCtr="0">
              <a:spAutoFit/>
            </a:bodyPr>
            <a:lstStyle/>
            <a:p>
              <a:pPr algn="l"/>
              <a:endParaRPr lang="zh-CN" sz="790" dirty="0">
                <a:solidFill>
                  <a:srgbClr val="667085"/>
                </a:solidFill>
                <a:latin typeface="Arial" panose="020B0604020202020204"/>
                <a:ea typeface="微软雅黑" panose="020B0503020204020204" charset="-122"/>
                <a:cs typeface="Arial" panose="020B0604020202020204"/>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p:nvPr/>
          </p:nvSpPr>
          <p:spPr>
            <a:xfrm>
              <a:off x="864870" y="482632"/>
              <a:ext cx="2567178" cy="440055"/>
            </a:xfrm>
            <a:prstGeom prst="rect">
              <a:avLst/>
            </a:prstGeom>
            <a:noFill/>
            <a:ln>
              <a:noFill/>
            </a:ln>
          </p:spPr>
          <p:txBody>
            <a:bodyPr wrap="none" lIns="0" tIns="-32" rIns="0" bIns="0" anchor="t" anchorCtr="0">
              <a:noAutofit/>
            </a:bodyPr>
            <a:lstStyle/>
            <a:p>
              <a:pPr algn="l"/>
              <a:r>
                <a:rPr lang="zh-CN" sz="2250" dirty="0">
                  <a:solidFill>
                    <a:srgbClr val="000000"/>
                  </a:solidFill>
                  <a:latin typeface="Arial" panose="020B0604020202020204"/>
                  <a:ea typeface="微软雅黑" panose="020B0503020204020204" charset="-122"/>
                  <a:cs typeface="Arial" panose="020B0604020202020204"/>
                </a:rPr>
                <a:t>5. 复现结果</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sp>
        <p:nvSpPr>
          <p:cNvPr id="20" name="TextBox 20"/>
          <p:cNvSpPr/>
          <p:nvPr/>
        </p:nvSpPr>
        <p:spPr>
          <a:xfrm>
            <a:off x="11337036" y="6359557"/>
            <a:ext cx="155067" cy="191643"/>
          </a:xfrm>
          <a:prstGeom prst="rect">
            <a:avLst/>
          </a:prstGeom>
          <a:noFill/>
          <a:ln>
            <a:noFill/>
          </a:ln>
        </p:spPr>
        <p:txBody>
          <a:bodyPr wrap="none" lIns="0" tIns="-32" rIns="0" bIns="0" anchor="t" anchorCtr="0">
            <a:noAutofit/>
          </a:bodyPr>
          <a:lstStyle/>
          <a:p>
            <a:pPr algn="r"/>
            <a:fld id="{B3FF6914-A81A-4FC7-8A2F-77F223AC10E2}" type="slidenum">
              <a:rPr lang="zh-CN" sz="980" dirty="0">
                <a:solidFill>
                  <a:srgbClr val="404040"/>
                </a:solidFill>
                <a:latin typeface="Arial" panose="020B0604020202020204"/>
                <a:ea typeface="Arial" panose="020B0604020202020204"/>
                <a:cs typeface="Arial" panose="020B0604020202020204"/>
              </a:rPr>
            </a:fld>
            <a:endParaRPr lang="zh-CN" sz="980" dirty="0">
              <a:solidFill>
                <a:srgbClr val="404040"/>
              </a:solidFill>
              <a:latin typeface="Arial" panose="020B0604020202020204"/>
              <a:ea typeface="Arial" panose="020B0604020202020204"/>
              <a:cs typeface="Arial" panose="020B0604020202020204"/>
            </a:endParaRPr>
          </a:p>
        </p:txBody>
      </p:sp>
      <p:grpSp>
        <p:nvGrpSpPr>
          <p:cNvPr id="18" name="page-title"/>
          <p:cNvGrpSpPr/>
          <p:nvPr/>
        </p:nvGrpSpPr>
        <p:grpSpPr>
          <a:xfrm>
            <a:off x="653796" y="1482725"/>
            <a:ext cx="7234809" cy="498729"/>
            <a:chOff x="653796" y="1482725"/>
            <a:chExt cx="7234809" cy="498729"/>
          </a:xfrm>
        </p:grpSpPr>
        <p:sp>
          <p:nvSpPr>
            <p:cNvPr id="17" name="TextBox 17"/>
            <p:cNvSpPr txBox="1"/>
            <p:nvPr/>
          </p:nvSpPr>
          <p:spPr>
            <a:xfrm>
              <a:off x="653796" y="1482725"/>
              <a:ext cx="7234809"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硬标签端到端复现：仅凭类别输出完整窃取网络</a:t>
              </a:r>
              <a:endParaRPr lang="zh-CN" sz="2550" b="1" dirty="0">
                <a:solidFill>
                  <a:srgbClr val="005725"/>
                </a:solidFill>
                <a:latin typeface="Arial" panose="020B0604020202020204"/>
                <a:ea typeface="微软雅黑" panose="020B0503020204020204" charset="-122"/>
                <a:cs typeface="Arial" panose="020B0604020202020204"/>
              </a:endParaRPr>
            </a:p>
          </p:txBody>
        </p:sp>
      </p:grpSp>
      <p:grpSp>
        <p:nvGrpSpPr>
          <p:cNvPr id="43" name="hard-comparison-chart"/>
          <p:cNvGrpSpPr/>
          <p:nvPr/>
        </p:nvGrpSpPr>
        <p:grpSpPr>
          <a:xfrm>
            <a:off x="666750" y="2095500"/>
            <a:ext cx="6953250" cy="3619500"/>
            <a:chOff x="666750" y="2095500"/>
            <a:chExt cx="6953250" cy="3619500"/>
          </a:xfrm>
        </p:grpSpPr>
        <p:sp>
          <p:nvSpPr>
            <p:cNvPr id="19" name="Rectangle 19"/>
            <p:cNvSpPr/>
            <p:nvPr/>
          </p:nvSpPr>
          <p:spPr>
            <a:xfrm>
              <a:off x="666750" y="2095500"/>
              <a:ext cx="6953250" cy="3619500"/>
            </a:xfrm>
            <a:prstGeom prst="roundRect">
              <a:avLst>
                <a:gd name="adj" fmla="val 3158"/>
              </a:avLst>
            </a:prstGeom>
            <a:solidFill>
              <a:srgbClr val="FFFFFF"/>
            </a:solidFill>
            <a:ln w="19050">
              <a:solidFill>
                <a:srgbClr val="A6C9B4"/>
              </a:solidFill>
            </a:ln>
          </p:spPr>
        </p:sp>
        <p:sp>
          <p:nvSpPr>
            <p:cNvPr id="21" name="TextBox 21"/>
            <p:cNvSpPr txBox="1"/>
            <p:nvPr/>
          </p:nvSpPr>
          <p:spPr>
            <a:xfrm>
              <a:off x="943737" y="2241550"/>
              <a:ext cx="1869897" cy="337376"/>
            </a:xfrm>
            <a:prstGeom prst="rect">
              <a:avLst/>
            </a:prstGeom>
            <a:noFill/>
            <a:ln>
              <a:noFill/>
            </a:ln>
          </p:spPr>
          <p:txBody>
            <a:bodyPr wrap="none" lIns="0" tIns="0" rIns="0" bIns="0" anchor="t" anchorCtr="0">
              <a:spAutoFit/>
            </a:bodyPr>
            <a:lstStyle/>
            <a:p>
              <a:pPr algn="l"/>
              <a:r>
                <a:rPr lang="zh-CN" sz="1720" b="1" dirty="0">
                  <a:solidFill>
                    <a:srgbClr val="005725"/>
                  </a:solidFill>
                  <a:latin typeface="Arial" panose="020B0604020202020204"/>
                  <a:ea typeface="微软雅黑" panose="020B0503020204020204" charset="-122"/>
                  <a:cs typeface="Arial" panose="020B0604020202020204"/>
                </a:rPr>
                <a:t>两平台全流程对比</a:t>
              </a:r>
              <a:endParaRPr lang="zh-CN" sz="1720" b="1" dirty="0">
                <a:solidFill>
                  <a:srgbClr val="005725"/>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946023" y="2752725"/>
              <a:ext cx="529895"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总耗时</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708404" y="3086100"/>
              <a:ext cx="372583" cy="234696"/>
            </a:xfrm>
            <a:prstGeom prst="rect">
              <a:avLst/>
            </a:prstGeom>
            <a:noFill/>
            <a:ln>
              <a:noFill/>
            </a:ln>
          </p:spPr>
          <p:txBody>
            <a:bodyPr wrap="none" lIns="0" tIns="0" rIns="0" bIns="0" anchor="t" anchorCtr="0">
              <a:spAutoFit/>
            </a:bodyPr>
            <a:lstStyle/>
            <a:p>
              <a:pPr algn="l"/>
              <a:r>
                <a:rPr lang="en-US" sz="1200" dirty="0">
                  <a:solidFill>
                    <a:srgbClr val="262626"/>
                  </a:solidFill>
                  <a:latin typeface="Arial" panose="020B0604020202020204"/>
                  <a:ea typeface="Arial" panose="020B0604020202020204"/>
                  <a:cs typeface="Arial" panose="020B0604020202020204"/>
                </a:rPr>
                <a:t>CPU</a:t>
              </a:r>
              <a:endParaRPr lang="en-US" sz="1200" dirty="0">
                <a:solidFill>
                  <a:srgbClr val="262626"/>
                </a:solidFill>
                <a:latin typeface="Arial" panose="020B0604020202020204"/>
                <a:ea typeface="Arial" panose="020B0604020202020204"/>
                <a:cs typeface="Arial" panose="020B0604020202020204"/>
              </a:endParaRPr>
            </a:p>
          </p:txBody>
        </p:sp>
        <p:sp>
          <p:nvSpPr>
            <p:cNvPr id="24" name="Rectangle 24"/>
            <p:cNvSpPr/>
            <p:nvPr/>
          </p:nvSpPr>
          <p:spPr>
            <a:xfrm>
              <a:off x="2286000" y="3038475"/>
              <a:ext cx="4476750" cy="266700"/>
            </a:xfrm>
            <a:prstGeom prst="roundRect">
              <a:avLst>
                <a:gd name="adj" fmla="val 21429"/>
              </a:avLst>
            </a:prstGeom>
            <a:solidFill>
              <a:srgbClr val="005725"/>
            </a:solidFill>
            <a:ln>
              <a:noFill/>
            </a:ln>
          </p:spPr>
        </p:sp>
        <p:sp>
          <p:nvSpPr>
            <p:cNvPr id="25" name="TextBox 25"/>
            <p:cNvSpPr txBox="1"/>
            <p:nvPr/>
          </p:nvSpPr>
          <p:spPr>
            <a:xfrm>
              <a:off x="6741629" y="3070225"/>
              <a:ext cx="416472" cy="234696"/>
            </a:xfrm>
            <a:prstGeom prst="rect">
              <a:avLst/>
            </a:prstGeom>
            <a:noFill/>
            <a:ln>
              <a:noFill/>
            </a:ln>
          </p:spPr>
          <p:txBody>
            <a:bodyPr wrap="none" lIns="0" tIns="0" rIns="0" bIns="0" anchor="t" anchorCtr="0">
              <a:spAutoFit/>
            </a:bodyPr>
            <a:lstStyle/>
            <a:p>
              <a:pPr algn="r"/>
              <a:r>
                <a:rPr lang="en-US" sz="1200" b="1" dirty="0">
                  <a:solidFill>
                    <a:srgbClr val="005725"/>
                  </a:solidFill>
                  <a:latin typeface="Arial" panose="020B0604020202020204"/>
                  <a:ea typeface="Arial" panose="020B0604020202020204"/>
                  <a:cs typeface="Arial" panose="020B0604020202020204"/>
                </a:rPr>
                <a:t>398 s</a:t>
              </a:r>
              <a:endParaRPr lang="en-US" sz="1200" b="1" dirty="0">
                <a:solidFill>
                  <a:srgbClr val="005725"/>
                </a:solidFill>
                <a:latin typeface="Arial" panose="020B0604020202020204"/>
                <a:ea typeface="Arial" panose="020B0604020202020204"/>
                <a:cs typeface="Arial" panose="020B0604020202020204"/>
              </a:endParaRPr>
            </a:p>
          </p:txBody>
        </p:sp>
        <p:sp>
          <p:nvSpPr>
            <p:cNvPr id="26" name="TextBox 26"/>
            <p:cNvSpPr txBox="1"/>
            <p:nvPr/>
          </p:nvSpPr>
          <p:spPr>
            <a:xfrm>
              <a:off x="1708404" y="3486150"/>
              <a:ext cx="496824"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服务器</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27" name="Rectangle 27"/>
            <p:cNvSpPr/>
            <p:nvPr/>
          </p:nvSpPr>
          <p:spPr>
            <a:xfrm>
              <a:off x="2286000" y="3438525"/>
              <a:ext cx="3476625" cy="266700"/>
            </a:xfrm>
            <a:prstGeom prst="roundRect">
              <a:avLst>
                <a:gd name="adj" fmla="val 21429"/>
              </a:avLst>
            </a:prstGeom>
            <a:solidFill>
              <a:srgbClr val="56CA95"/>
            </a:solidFill>
            <a:ln>
              <a:noFill/>
            </a:ln>
          </p:spPr>
        </p:sp>
        <p:sp>
          <p:nvSpPr>
            <p:cNvPr id="28" name="TextBox 28"/>
            <p:cNvSpPr txBox="1"/>
            <p:nvPr/>
          </p:nvSpPr>
          <p:spPr>
            <a:xfrm>
              <a:off x="5762459" y="3489325"/>
              <a:ext cx="416472" cy="234696"/>
            </a:xfrm>
            <a:prstGeom prst="rect">
              <a:avLst/>
            </a:prstGeom>
            <a:noFill/>
            <a:ln>
              <a:noFill/>
            </a:ln>
          </p:spPr>
          <p:txBody>
            <a:bodyPr wrap="none" lIns="0" tIns="0" rIns="0" bIns="0" anchor="t" anchorCtr="0">
              <a:spAutoFit/>
            </a:bodyPr>
            <a:lstStyle/>
            <a:p>
              <a:pPr algn="r"/>
              <a:r>
                <a:rPr lang="en-US" sz="1200" b="1" dirty="0">
                  <a:solidFill>
                    <a:srgbClr val="005725"/>
                  </a:solidFill>
                  <a:latin typeface="Arial" panose="020B0604020202020204"/>
                  <a:ea typeface="Arial" panose="020B0604020202020204"/>
                  <a:cs typeface="Arial" panose="020B0604020202020204"/>
                </a:rPr>
                <a:t>309 s</a:t>
              </a:r>
              <a:endParaRPr lang="en-US" sz="1200" b="1" dirty="0">
                <a:solidFill>
                  <a:srgbClr val="005725"/>
                </a:solidFill>
                <a:latin typeface="Arial" panose="020B0604020202020204"/>
                <a:ea typeface="Arial" panose="020B0604020202020204"/>
                <a:cs typeface="Arial" panose="020B0604020202020204"/>
              </a:endParaRPr>
            </a:p>
          </p:txBody>
        </p:sp>
        <p:sp>
          <p:nvSpPr>
            <p:cNvPr id="29" name="TextBox 29"/>
            <p:cNvSpPr txBox="1"/>
            <p:nvPr/>
          </p:nvSpPr>
          <p:spPr>
            <a:xfrm>
              <a:off x="946023" y="3952875"/>
              <a:ext cx="1090536"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Oracle 查询量</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0" name="TextBox 30"/>
            <p:cNvSpPr txBox="1"/>
            <p:nvPr/>
          </p:nvSpPr>
          <p:spPr>
            <a:xfrm>
              <a:off x="1708404" y="4286250"/>
              <a:ext cx="372583" cy="234696"/>
            </a:xfrm>
            <a:prstGeom prst="rect">
              <a:avLst/>
            </a:prstGeom>
            <a:noFill/>
            <a:ln>
              <a:noFill/>
            </a:ln>
          </p:spPr>
          <p:txBody>
            <a:bodyPr wrap="none" lIns="0" tIns="0" rIns="0" bIns="0" anchor="t" anchorCtr="0">
              <a:spAutoFit/>
            </a:bodyPr>
            <a:lstStyle/>
            <a:p>
              <a:pPr algn="l"/>
              <a:r>
                <a:rPr lang="en-US" sz="1200" dirty="0">
                  <a:solidFill>
                    <a:srgbClr val="262626"/>
                  </a:solidFill>
                  <a:latin typeface="Arial" panose="020B0604020202020204"/>
                  <a:ea typeface="Arial" panose="020B0604020202020204"/>
                  <a:cs typeface="Arial" panose="020B0604020202020204"/>
                </a:rPr>
                <a:t>CPU</a:t>
              </a:r>
              <a:endParaRPr lang="en-US" sz="1200" dirty="0">
                <a:solidFill>
                  <a:srgbClr val="262626"/>
                </a:solidFill>
                <a:latin typeface="Arial" panose="020B0604020202020204"/>
                <a:ea typeface="Arial" panose="020B0604020202020204"/>
                <a:cs typeface="Arial" panose="020B0604020202020204"/>
              </a:endParaRPr>
            </a:p>
          </p:txBody>
        </p:sp>
        <p:sp>
          <p:nvSpPr>
            <p:cNvPr id="31" name="Rectangle 31"/>
            <p:cNvSpPr/>
            <p:nvPr/>
          </p:nvSpPr>
          <p:spPr>
            <a:xfrm>
              <a:off x="2286000" y="4238625"/>
              <a:ext cx="4400550" cy="266700"/>
            </a:xfrm>
            <a:prstGeom prst="roundRect">
              <a:avLst>
                <a:gd name="adj" fmla="val 21429"/>
              </a:avLst>
            </a:prstGeom>
            <a:solidFill>
              <a:srgbClr val="6096E6"/>
            </a:solidFill>
            <a:ln>
              <a:noFill/>
            </a:ln>
          </p:spPr>
        </p:sp>
        <p:sp>
          <p:nvSpPr>
            <p:cNvPr id="32" name="TextBox 32"/>
            <p:cNvSpPr txBox="1"/>
            <p:nvPr/>
          </p:nvSpPr>
          <p:spPr>
            <a:xfrm>
              <a:off x="6686625" y="4286250"/>
              <a:ext cx="628956" cy="234696"/>
            </a:xfrm>
            <a:prstGeom prst="rect">
              <a:avLst/>
            </a:prstGeom>
            <a:noFill/>
            <a:ln>
              <a:noFill/>
            </a:ln>
          </p:spPr>
          <p:txBody>
            <a:bodyPr wrap="none" lIns="0" tIns="0" rIns="0" bIns="0" anchor="t" anchorCtr="0">
              <a:spAutoFit/>
            </a:bodyPr>
            <a:lstStyle/>
            <a:p>
              <a:pPr algn="r"/>
              <a:r>
                <a:rPr lang="en-US" sz="1200" b="1" dirty="0">
                  <a:solidFill>
                    <a:srgbClr val="1D4F91"/>
                  </a:solidFill>
                  <a:latin typeface="Arial" panose="020B0604020202020204"/>
                  <a:ea typeface="Arial" panose="020B0604020202020204"/>
                  <a:cs typeface="Arial" panose="020B0604020202020204"/>
                </a:rPr>
                <a:t>38.67 M</a:t>
              </a:r>
              <a:endParaRPr lang="en-US" sz="1200" b="1" dirty="0">
                <a:solidFill>
                  <a:srgbClr val="1D4F91"/>
                </a:solidFill>
                <a:latin typeface="Arial" panose="020B0604020202020204"/>
                <a:ea typeface="Arial" panose="020B0604020202020204"/>
                <a:cs typeface="Arial" panose="020B0604020202020204"/>
              </a:endParaRPr>
            </a:p>
          </p:txBody>
        </p:sp>
        <p:sp>
          <p:nvSpPr>
            <p:cNvPr id="33" name="TextBox 33"/>
            <p:cNvSpPr txBox="1"/>
            <p:nvPr/>
          </p:nvSpPr>
          <p:spPr>
            <a:xfrm>
              <a:off x="1708404" y="4686300"/>
              <a:ext cx="496824"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服务器</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34" name="Rectangle 34"/>
            <p:cNvSpPr/>
            <p:nvPr/>
          </p:nvSpPr>
          <p:spPr>
            <a:xfrm>
              <a:off x="2286000" y="4638675"/>
              <a:ext cx="4476750" cy="266700"/>
            </a:xfrm>
            <a:prstGeom prst="roundRect">
              <a:avLst>
                <a:gd name="adj" fmla="val 21429"/>
              </a:avLst>
            </a:prstGeom>
            <a:solidFill>
              <a:srgbClr val="58B6E5"/>
            </a:solidFill>
            <a:ln>
              <a:noFill/>
            </a:ln>
          </p:spPr>
        </p:sp>
        <p:sp>
          <p:nvSpPr>
            <p:cNvPr id="35" name="TextBox 35"/>
            <p:cNvSpPr txBox="1"/>
            <p:nvPr/>
          </p:nvSpPr>
          <p:spPr>
            <a:xfrm>
              <a:off x="6762825" y="4670425"/>
              <a:ext cx="628956" cy="234696"/>
            </a:xfrm>
            <a:prstGeom prst="rect">
              <a:avLst/>
            </a:prstGeom>
            <a:noFill/>
            <a:ln>
              <a:noFill/>
            </a:ln>
          </p:spPr>
          <p:txBody>
            <a:bodyPr wrap="none" lIns="0" tIns="0" rIns="0" bIns="0" anchor="t" anchorCtr="0">
              <a:spAutoFit/>
            </a:bodyPr>
            <a:lstStyle/>
            <a:p>
              <a:pPr algn="r"/>
              <a:r>
                <a:rPr lang="en-US" sz="1200" b="1" dirty="0">
                  <a:solidFill>
                    <a:srgbClr val="1D4F91"/>
                  </a:solidFill>
                  <a:latin typeface="Arial" panose="020B0604020202020204"/>
                  <a:ea typeface="Arial" panose="020B0604020202020204"/>
                  <a:cs typeface="Arial" panose="020B0604020202020204"/>
                </a:rPr>
                <a:t>39.34 M</a:t>
              </a:r>
              <a:endParaRPr lang="en-US" sz="1200" b="1" dirty="0">
                <a:solidFill>
                  <a:srgbClr val="1D4F91"/>
                </a:solidFill>
                <a:latin typeface="Arial" panose="020B0604020202020204"/>
                <a:ea typeface="Arial" panose="020B0604020202020204"/>
                <a:cs typeface="Arial" panose="020B0604020202020204"/>
              </a:endParaRPr>
            </a:p>
          </p:txBody>
        </p:sp>
        <p:sp>
          <p:nvSpPr>
            <p:cNvPr id="36" name="TextBox 36"/>
            <p:cNvSpPr txBox="1"/>
            <p:nvPr/>
          </p:nvSpPr>
          <p:spPr>
            <a:xfrm>
              <a:off x="946404" y="5067300"/>
              <a:ext cx="1066176"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CPU 查询构成</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37" name="Rectangle 37"/>
            <p:cNvSpPr/>
            <p:nvPr/>
          </p:nvSpPr>
          <p:spPr>
            <a:xfrm>
              <a:off x="2286000" y="5067300"/>
              <a:ext cx="2590800" cy="228600"/>
            </a:xfrm>
            <a:prstGeom prst="rect">
              <a:avLst/>
            </a:prstGeom>
            <a:solidFill>
              <a:srgbClr val="005725"/>
            </a:solidFill>
            <a:ln>
              <a:noFill/>
            </a:ln>
          </p:spPr>
        </p:sp>
        <p:sp>
          <p:nvSpPr>
            <p:cNvPr id="38" name="Rectangle 38"/>
            <p:cNvSpPr/>
            <p:nvPr/>
          </p:nvSpPr>
          <p:spPr>
            <a:xfrm>
              <a:off x="4876800" y="5067300"/>
              <a:ext cx="1476375" cy="228600"/>
            </a:xfrm>
            <a:prstGeom prst="rect">
              <a:avLst/>
            </a:prstGeom>
            <a:solidFill>
              <a:srgbClr val="F18870"/>
            </a:solidFill>
            <a:ln>
              <a:noFill/>
            </a:ln>
          </p:spPr>
        </p:sp>
        <p:sp>
          <p:nvSpPr>
            <p:cNvPr id="39" name="Rectangle 39"/>
            <p:cNvSpPr/>
            <p:nvPr/>
          </p:nvSpPr>
          <p:spPr>
            <a:xfrm>
              <a:off x="6353175" y="5067300"/>
              <a:ext cx="876300" cy="228600"/>
            </a:xfrm>
            <a:prstGeom prst="rect">
              <a:avLst/>
            </a:prstGeom>
            <a:solidFill>
              <a:srgbClr val="A6C9B4"/>
            </a:solidFill>
            <a:ln>
              <a:noFill/>
            </a:ln>
          </p:spPr>
        </p:sp>
        <p:sp>
          <p:nvSpPr>
            <p:cNvPr id="40" name="TextBox 40"/>
            <p:cNvSpPr txBox="1"/>
            <p:nvPr/>
          </p:nvSpPr>
          <p:spPr>
            <a:xfrm>
              <a:off x="3073323" y="5378450"/>
              <a:ext cx="1016154" cy="205359"/>
            </a:xfrm>
            <a:prstGeom prst="rect">
              <a:avLst/>
            </a:prstGeom>
            <a:noFill/>
            <a:ln>
              <a:noFill/>
            </a:ln>
          </p:spPr>
          <p:txBody>
            <a:bodyPr wrap="none" lIns="0" tIns="0" rIns="0" bIns="0" anchor="t" anchorCtr="0">
              <a:spAutoFit/>
            </a:bodyPr>
            <a:lstStyle/>
            <a:p>
              <a:pPr algn="ctr"/>
              <a:r>
                <a:rPr lang="zh-CN" sz="1050" dirty="0">
                  <a:solidFill>
                    <a:srgbClr val="005725"/>
                  </a:solidFill>
                  <a:latin typeface="Arial" panose="020B0604020202020204"/>
                  <a:ea typeface="微软雅黑" panose="020B0503020204020204" charset="-122"/>
                  <a:cs typeface="Arial" panose="020B0604020202020204"/>
                </a:rPr>
                <a:t>边界漫步 52.4%</a:t>
              </a:r>
              <a:endParaRPr lang="zh-CN" sz="1050" dirty="0">
                <a:solidFill>
                  <a:srgbClr val="005725"/>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5139684" y="5378450"/>
              <a:ext cx="941081" cy="205359"/>
            </a:xfrm>
            <a:prstGeom prst="rect">
              <a:avLst/>
            </a:prstGeom>
            <a:noFill/>
            <a:ln>
              <a:noFill/>
            </a:ln>
          </p:spPr>
          <p:txBody>
            <a:bodyPr wrap="none" lIns="0" tIns="0" rIns="0" bIns="0" anchor="t" anchorCtr="0">
              <a:spAutoFit/>
            </a:bodyPr>
            <a:lstStyle/>
            <a:p>
              <a:pPr algn="ctr"/>
              <a:r>
                <a:rPr lang="zh-CN" sz="1050" dirty="0">
                  <a:solidFill>
                    <a:srgbClr val="C00000"/>
                  </a:solidFill>
                  <a:latin typeface="Arial" panose="020B0604020202020204"/>
                  <a:ea typeface="微软雅黑" panose="020B0503020204020204" charset="-122"/>
                  <a:cs typeface="Arial" panose="020B0604020202020204"/>
                </a:rPr>
                <a:t>L2 符号 29.9%</a:t>
              </a:r>
              <a:endParaRPr lang="zh-CN" sz="1050" dirty="0">
                <a:solidFill>
                  <a:srgbClr val="C00000"/>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6424599" y="5378450"/>
              <a:ext cx="733452" cy="205359"/>
            </a:xfrm>
            <a:prstGeom prst="rect">
              <a:avLst/>
            </a:prstGeom>
            <a:noFill/>
            <a:ln>
              <a:noFill/>
            </a:ln>
          </p:spPr>
          <p:txBody>
            <a:bodyPr wrap="none" lIns="0" tIns="0" rIns="0" bIns="0" anchor="t" anchorCtr="0">
              <a:spAutoFit/>
            </a:bodyPr>
            <a:lstStyle/>
            <a:p>
              <a:pPr algn="ctr"/>
              <a:r>
                <a:rPr lang="zh-CN" sz="1050" dirty="0">
                  <a:solidFill>
                    <a:srgbClr val="667085"/>
                  </a:solidFill>
                  <a:latin typeface="Arial" panose="020B0604020202020204"/>
                  <a:ea typeface="微软雅黑" panose="020B0503020204020204" charset="-122"/>
                  <a:cs typeface="Arial" panose="020B0604020202020204"/>
                </a:rPr>
                <a:t>其他 17.7%</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54" name="hard-kpis"/>
          <p:cNvGrpSpPr/>
          <p:nvPr/>
        </p:nvGrpSpPr>
        <p:grpSpPr>
          <a:xfrm>
            <a:off x="7905750" y="2095500"/>
            <a:ext cx="3600450" cy="3619500"/>
            <a:chOff x="7905750" y="2095500"/>
            <a:chExt cx="3600450" cy="3619500"/>
          </a:xfrm>
        </p:grpSpPr>
        <p:sp>
          <p:nvSpPr>
            <p:cNvPr id="44" name="Rectangle 44"/>
            <p:cNvSpPr/>
            <p:nvPr/>
          </p:nvSpPr>
          <p:spPr>
            <a:xfrm>
              <a:off x="7905750" y="2095500"/>
              <a:ext cx="3600450" cy="1028700"/>
            </a:xfrm>
            <a:prstGeom prst="roundRect">
              <a:avLst>
                <a:gd name="adj" fmla="val 11111"/>
              </a:avLst>
            </a:prstGeom>
            <a:solidFill>
              <a:srgbClr val="EAF4EE"/>
            </a:solidFill>
            <a:ln w="19050">
              <a:solidFill>
                <a:srgbClr val="8FBAA1"/>
              </a:solidFill>
            </a:ln>
          </p:spPr>
        </p:sp>
        <p:sp>
          <p:nvSpPr>
            <p:cNvPr id="45" name="TextBox 45"/>
            <p:cNvSpPr txBox="1"/>
            <p:nvPr/>
          </p:nvSpPr>
          <p:spPr>
            <a:xfrm>
              <a:off x="9284971" y="2244725"/>
              <a:ext cx="842010" cy="391795"/>
            </a:xfrm>
            <a:prstGeom prst="rect">
              <a:avLst/>
            </a:prstGeom>
            <a:noFill/>
            <a:ln>
              <a:noFill/>
            </a:ln>
          </p:spPr>
          <p:txBody>
            <a:bodyPr wrap="none" lIns="0" tIns="0" rIns="0" bIns="0" anchor="t" anchorCtr="0">
              <a:spAutoFit/>
            </a:bodyPr>
            <a:lstStyle/>
            <a:p>
              <a:pPr algn="ctr"/>
              <a:r>
                <a:rPr lang="zh-CN" sz="2550" b="1" dirty="0">
                  <a:solidFill>
                    <a:srgbClr val="005725"/>
                  </a:solidFill>
                  <a:latin typeface="Arial" panose="020B0604020202020204"/>
                  <a:ea typeface="Arial" panose="020B0604020202020204"/>
                  <a:cs typeface="Arial" panose="020B0604020202020204"/>
                </a:rPr>
                <a:t>≈</a:t>
              </a:r>
              <a:r>
                <a:rPr lang="en-US" altLang="zh-CN" sz="2550" b="1" dirty="0">
                  <a:solidFill>
                    <a:srgbClr val="005725"/>
                  </a:solidFill>
                  <a:latin typeface="Arial" panose="020B0604020202020204"/>
                  <a:ea typeface="Arial" panose="020B0604020202020204"/>
                  <a:cs typeface="Arial" panose="020B0604020202020204"/>
                </a:rPr>
                <a:t>10</a:t>
              </a:r>
              <a:r>
                <a:rPr lang="en-US" altLang="zh-CN" sz="2550" b="1" baseline="30000" dirty="0">
                  <a:solidFill>
                    <a:srgbClr val="005725"/>
                  </a:solidFill>
                  <a:latin typeface="Arial" panose="020B0604020202020204"/>
                  <a:ea typeface="Arial" panose="020B0604020202020204"/>
                  <a:cs typeface="Arial" panose="020B0604020202020204"/>
                </a:rPr>
                <a:t>-14</a:t>
              </a:r>
              <a:endParaRPr lang="en-US" altLang="zh-CN" sz="2550" b="1" baseline="30000" dirty="0">
                <a:solidFill>
                  <a:srgbClr val="005725"/>
                </a:solidFill>
                <a:latin typeface="Arial" panose="020B0604020202020204"/>
                <a:ea typeface="Arial" panose="020B0604020202020204"/>
                <a:cs typeface="Arial" panose="020B0604020202020204"/>
              </a:endParaRPr>
            </a:p>
          </p:txBody>
        </p:sp>
        <p:sp>
          <p:nvSpPr>
            <p:cNvPr id="46" name="TextBox 46"/>
            <p:cNvSpPr txBox="1"/>
            <p:nvPr/>
          </p:nvSpPr>
          <p:spPr>
            <a:xfrm>
              <a:off x="8837930" y="2743200"/>
              <a:ext cx="1736090" cy="250317"/>
            </a:xfrm>
            <a:prstGeom prst="rect">
              <a:avLst/>
            </a:prstGeom>
            <a:noFill/>
            <a:ln>
              <a:noFill/>
            </a:ln>
          </p:spPr>
          <p:txBody>
            <a:bodyPr wrap="none" lIns="0" tIns="0" rIns="0" bIns="0" anchor="t" anchorCtr="0">
              <a:spAutoFit/>
            </a:bodyPr>
            <a:lstStyle/>
            <a:p>
              <a:pPr algn="ctr"/>
              <a:r>
                <a:rPr lang="zh-CN" sz="1280" dirty="0">
                  <a:solidFill>
                    <a:srgbClr val="262626"/>
                  </a:solidFill>
                  <a:latin typeface="Arial" panose="020B0604020202020204"/>
                  <a:ea typeface="微软雅黑" panose="020B0503020204020204" charset="-122"/>
                  <a:cs typeface="Arial" panose="020B0604020202020204"/>
                </a:rPr>
                <a:t>各层最大参数相对误差</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47" name="Rectangle 47"/>
            <p:cNvSpPr/>
            <p:nvPr/>
          </p:nvSpPr>
          <p:spPr>
            <a:xfrm>
              <a:off x="7905750" y="3314700"/>
              <a:ext cx="3600450" cy="1028700"/>
            </a:xfrm>
            <a:prstGeom prst="roundRect">
              <a:avLst>
                <a:gd name="adj" fmla="val 11111"/>
              </a:avLst>
            </a:prstGeom>
            <a:solidFill>
              <a:srgbClr val="EAF4EE"/>
            </a:solidFill>
            <a:ln w="19050">
              <a:solidFill>
                <a:srgbClr val="8FBAA1"/>
              </a:solidFill>
            </a:ln>
          </p:spPr>
        </p:sp>
        <p:sp>
          <p:nvSpPr>
            <p:cNvPr id="48" name="TextBox 48"/>
            <p:cNvSpPr txBox="1"/>
            <p:nvPr/>
          </p:nvSpPr>
          <p:spPr>
            <a:xfrm>
              <a:off x="8434990" y="3489325"/>
              <a:ext cx="2541970" cy="454724"/>
            </a:xfrm>
            <a:prstGeom prst="rect">
              <a:avLst/>
            </a:prstGeom>
            <a:noFill/>
            <a:ln>
              <a:noFill/>
            </a:ln>
          </p:spPr>
          <p:txBody>
            <a:bodyPr wrap="none" lIns="0" tIns="0" rIns="0" bIns="0" anchor="t" anchorCtr="0">
              <a:spAutoFit/>
            </a:bodyPr>
            <a:lstStyle/>
            <a:p>
              <a:pPr algn="ctr"/>
              <a:r>
                <a:rPr lang="zh-CN" sz="2320" b="1" dirty="0">
                  <a:solidFill>
                    <a:srgbClr val="005725"/>
                  </a:solidFill>
                  <a:latin typeface="Arial" panose="020B0604020202020204"/>
                  <a:ea typeface="Arial" panose="020B0604020202020204"/>
                  <a:cs typeface="Arial" panose="020B0604020202020204"/>
                </a:rPr>
                <a:t>100,000 / 100,000</a:t>
              </a:r>
              <a:endParaRPr lang="zh-CN" sz="2320" b="1" dirty="0">
                <a:solidFill>
                  <a:srgbClr val="005725"/>
                </a:solidFill>
                <a:latin typeface="Arial" panose="020B0604020202020204"/>
                <a:ea typeface="Arial" panose="020B0604020202020204"/>
                <a:cs typeface="Arial" panose="020B0604020202020204"/>
              </a:endParaRPr>
            </a:p>
          </p:txBody>
        </p:sp>
        <p:sp>
          <p:nvSpPr>
            <p:cNvPr id="49" name="TextBox 49"/>
            <p:cNvSpPr txBox="1"/>
            <p:nvPr/>
          </p:nvSpPr>
          <p:spPr>
            <a:xfrm>
              <a:off x="8837930" y="3962400"/>
              <a:ext cx="1736090" cy="250317"/>
            </a:xfrm>
            <a:prstGeom prst="rect">
              <a:avLst/>
            </a:prstGeom>
            <a:noFill/>
            <a:ln>
              <a:noFill/>
            </a:ln>
          </p:spPr>
          <p:txBody>
            <a:bodyPr wrap="none" lIns="0" tIns="0" rIns="0" bIns="0" anchor="t" anchorCtr="0">
              <a:spAutoFit/>
            </a:bodyPr>
            <a:lstStyle/>
            <a:p>
              <a:pPr algn="ctr"/>
              <a:r>
                <a:rPr lang="zh-CN" sz="1280" dirty="0">
                  <a:solidFill>
                    <a:srgbClr val="262626"/>
                  </a:solidFill>
                  <a:latin typeface="Arial" panose="020B0604020202020204"/>
                  <a:ea typeface="微软雅黑" panose="020B0503020204020204" charset="-122"/>
                  <a:cs typeface="Arial" panose="020B0604020202020204"/>
                </a:rPr>
                <a:t>随机输入预测标签一致</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50" name="Rectangle 50"/>
            <p:cNvSpPr/>
            <p:nvPr/>
          </p:nvSpPr>
          <p:spPr>
            <a:xfrm>
              <a:off x="7905750" y="4533900"/>
              <a:ext cx="3600450" cy="1181100"/>
            </a:xfrm>
            <a:prstGeom prst="roundRect">
              <a:avLst>
                <a:gd name="adj" fmla="val 9677"/>
              </a:avLst>
            </a:prstGeom>
            <a:solidFill>
              <a:srgbClr val="FFF4F0"/>
            </a:solidFill>
            <a:ln w="19050">
              <a:solidFill>
                <a:srgbClr val="E3B2A7"/>
              </a:solidFill>
            </a:ln>
          </p:spPr>
        </p:sp>
        <p:sp>
          <p:nvSpPr>
            <p:cNvPr id="51" name="TextBox 51"/>
            <p:cNvSpPr txBox="1"/>
            <p:nvPr/>
          </p:nvSpPr>
          <p:spPr>
            <a:xfrm>
              <a:off x="9207906" y="4794250"/>
              <a:ext cx="996137" cy="337376"/>
            </a:xfrm>
            <a:prstGeom prst="rect">
              <a:avLst/>
            </a:prstGeom>
            <a:noFill/>
            <a:ln>
              <a:noFill/>
            </a:ln>
          </p:spPr>
          <p:txBody>
            <a:bodyPr wrap="none" lIns="0" tIns="0" rIns="0" bIns="0" anchor="t" anchorCtr="0">
              <a:spAutoFit/>
            </a:bodyPr>
            <a:lstStyle/>
            <a:p>
              <a:pPr algn="ctr"/>
              <a:r>
                <a:rPr lang="en-US" sz="1720" b="1" dirty="0">
                  <a:solidFill>
                    <a:srgbClr val="C00000"/>
                  </a:solidFill>
                  <a:latin typeface="Arial" panose="020B0604020202020204"/>
                  <a:ea typeface="Arial" panose="020B0604020202020204"/>
                  <a:cs typeface="Arial" panose="020B0604020202020204"/>
                </a:rPr>
                <a:t>RESULT</a:t>
              </a:r>
              <a:endParaRPr lang="en-US" sz="1720" b="1" dirty="0">
                <a:solidFill>
                  <a:srgbClr val="C00000"/>
                </a:solidFill>
                <a:latin typeface="Arial" panose="020B0604020202020204"/>
                <a:ea typeface="Arial" panose="020B0604020202020204"/>
                <a:cs typeface="Arial" panose="020B0604020202020204"/>
              </a:endParaRPr>
            </a:p>
          </p:txBody>
        </p:sp>
        <p:sp>
          <p:nvSpPr>
            <p:cNvPr id="52" name="TextBox 52"/>
            <p:cNvSpPr txBox="1"/>
            <p:nvPr/>
          </p:nvSpPr>
          <p:spPr>
            <a:xfrm>
              <a:off x="8587498" y="5143500"/>
              <a:ext cx="2236955" cy="293370"/>
            </a:xfrm>
            <a:prstGeom prst="rect">
              <a:avLst/>
            </a:prstGeom>
            <a:noFill/>
            <a:ln>
              <a:noFill/>
            </a:ln>
          </p:spPr>
          <p:txBody>
            <a:bodyPr wrap="none" lIns="0" tIns="0" rIns="0" bIns="0" anchor="t" anchorCtr="0">
              <a:spAutoFit/>
            </a:bodyPr>
            <a:lstStyle/>
            <a:p>
              <a:pPr algn="ctr"/>
              <a:r>
                <a:rPr lang="en-US" sz="1500" b="1" dirty="0">
                  <a:solidFill>
                    <a:srgbClr val="C00000"/>
                  </a:solidFill>
                  <a:latin typeface="Arial" panose="020B0604020202020204"/>
                  <a:ea typeface="Arial" panose="020B0604020202020204"/>
                  <a:cs typeface="Arial" panose="020B0604020202020204"/>
                </a:rPr>
                <a:t>the network was stolen</a:t>
              </a:r>
              <a:endParaRPr lang="en-US" sz="1500" b="1" dirty="0">
                <a:solidFill>
                  <a:srgbClr val="C00000"/>
                </a:solidFill>
                <a:latin typeface="Arial" panose="020B0604020202020204"/>
                <a:ea typeface="Arial" panose="020B0604020202020204"/>
                <a:cs typeface="Arial" panose="020B0604020202020204"/>
              </a:endParaRPr>
            </a:p>
          </p:txBody>
        </p:sp>
        <p:sp>
          <p:nvSpPr>
            <p:cNvPr id="53" name="TextBox 53"/>
            <p:cNvSpPr txBox="1"/>
            <p:nvPr/>
          </p:nvSpPr>
          <p:spPr>
            <a:xfrm>
              <a:off x="8787065" y="5441950"/>
              <a:ext cx="1837821" cy="220028"/>
            </a:xfrm>
            <a:prstGeom prst="rect">
              <a:avLst/>
            </a:prstGeom>
            <a:noFill/>
            <a:ln>
              <a:noFill/>
            </a:ln>
          </p:spPr>
          <p:txBody>
            <a:bodyPr wrap="none" lIns="0" tIns="0" rIns="0" bIns="0" anchor="t" anchorCtr="0">
              <a:spAutoFit/>
            </a:bodyPr>
            <a:lstStyle/>
            <a:p>
              <a:pPr algn="ctr"/>
              <a:r>
                <a:rPr lang="zh-CN" sz="1120" dirty="0">
                  <a:solidFill>
                    <a:srgbClr val="262626"/>
                  </a:solidFill>
                  <a:latin typeface="Arial" panose="020B0604020202020204"/>
                  <a:ea typeface="微软雅黑" panose="020B0503020204020204" charset="-122"/>
                  <a:cs typeface="Arial" panose="020B0604020202020204"/>
                </a:rPr>
                <a:t>边界微扰点同样 100% 一致</a:t>
              </a:r>
              <a:endParaRPr lang="zh-CN" sz="1120" dirty="0">
                <a:solidFill>
                  <a:srgbClr val="262626"/>
                </a:solidFill>
                <a:latin typeface="Arial" panose="020B0604020202020204"/>
                <a:ea typeface="微软雅黑" panose="020B0503020204020204" charset="-122"/>
                <a:cs typeface="Arial" panose="020B0604020202020204"/>
              </a:endParaRPr>
            </a:p>
          </p:txBody>
        </p:sp>
      </p:grpSp>
      <p:grpSp>
        <p:nvGrpSpPr>
          <p:cNvPr id="57" name="hard-takeaway"/>
          <p:cNvGrpSpPr/>
          <p:nvPr/>
        </p:nvGrpSpPr>
        <p:grpSpPr>
          <a:xfrm>
            <a:off x="666750" y="5829300"/>
            <a:ext cx="10839450" cy="381000"/>
            <a:chOff x="666750" y="5829300"/>
            <a:chExt cx="10839450" cy="381000"/>
          </a:xfrm>
        </p:grpSpPr>
        <p:sp>
          <p:nvSpPr>
            <p:cNvPr id="55" name="Rectangle 55"/>
            <p:cNvSpPr/>
            <p:nvPr/>
          </p:nvSpPr>
          <p:spPr>
            <a:xfrm>
              <a:off x="666750" y="5829300"/>
              <a:ext cx="10839450" cy="381000"/>
            </a:xfrm>
            <a:prstGeom prst="roundRect">
              <a:avLst>
                <a:gd name="adj" fmla="val 20000"/>
              </a:avLst>
            </a:prstGeom>
            <a:solidFill>
              <a:srgbClr val="F3F8F5"/>
            </a:solidFill>
            <a:ln w="14288">
              <a:solidFill>
                <a:srgbClr val="A6C9B4"/>
              </a:solidFill>
            </a:ln>
          </p:spPr>
        </p:sp>
        <p:sp>
          <p:nvSpPr>
            <p:cNvPr id="56" name="TextBox 56"/>
            <p:cNvSpPr txBox="1"/>
            <p:nvPr/>
          </p:nvSpPr>
          <p:spPr>
            <a:xfrm>
              <a:off x="3372278" y="5924550"/>
              <a:ext cx="5428394" cy="242507"/>
            </a:xfrm>
            <a:prstGeom prst="rect">
              <a:avLst/>
            </a:prstGeom>
            <a:noFill/>
            <a:ln>
              <a:noFill/>
            </a:ln>
          </p:spPr>
          <p:txBody>
            <a:bodyPr wrap="none" lIns="0" tIns="0" rIns="0" bIns="0" anchor="t" anchorCtr="0">
              <a:spAutoFit/>
            </a:bodyPr>
            <a:lstStyle/>
            <a:p>
              <a:pPr algn="ctr"/>
              <a:r>
                <a:rPr lang="zh-CN" sz="1240" b="1" dirty="0">
                  <a:solidFill>
                    <a:srgbClr val="005725"/>
                  </a:solidFill>
                  <a:latin typeface="Arial" panose="020B0604020202020204"/>
                  <a:ea typeface="微软雅黑" panose="020B0503020204020204" charset="-122"/>
                  <a:cs typeface="Arial" panose="020B0604020202020204"/>
                </a:rPr>
                <a:t>两套环境均用约 4×10⁷ 次查询，在 5–6.6 分钟内得到机器精度级等价模型</a:t>
              </a:r>
              <a:endParaRPr lang="zh-CN" sz="1240" b="1" dirty="0">
                <a:solidFill>
                  <a:srgbClr val="005725"/>
                </a:solidFill>
                <a:latin typeface="Arial" panose="020B0604020202020204"/>
                <a:ea typeface="微软雅黑" panose="020B0503020204020204" charset="-122"/>
                <a:cs typeface="Arial" panose="020B0604020202020204"/>
              </a:endParaRPr>
            </a:p>
          </p:txBody>
        </p:sp>
      </p:grpSp>
      <p:grpSp>
        <p:nvGrpSpPr>
          <p:cNvPr id="59" name="source-note"/>
          <p:cNvGrpSpPr/>
          <p:nvPr/>
        </p:nvGrpSpPr>
        <p:grpSpPr>
          <a:xfrm>
            <a:off x="757238" y="6318250"/>
            <a:ext cx="127000" cy="120650"/>
            <a:chOff x="757238" y="6318250"/>
            <a:chExt cx="127000" cy="120650"/>
          </a:xfrm>
        </p:grpSpPr>
        <p:sp>
          <p:nvSpPr>
            <p:cNvPr id="58" name="TextBox 58"/>
            <p:cNvSpPr txBox="1"/>
            <p:nvPr/>
          </p:nvSpPr>
          <p:spPr>
            <a:xfrm>
              <a:off x="757238" y="6318250"/>
              <a:ext cx="127000" cy="120650"/>
            </a:xfrm>
            <a:prstGeom prst="rect">
              <a:avLst/>
            </a:prstGeom>
            <a:noFill/>
            <a:ln>
              <a:noFill/>
            </a:ln>
          </p:spPr>
          <p:txBody>
            <a:bodyPr wrap="none" lIns="0" tIns="0" rIns="0" bIns="0" anchor="t" anchorCtr="0">
              <a:spAutoFit/>
            </a:bodyPr>
            <a:lstStyle/>
            <a:p>
              <a:pPr algn="l"/>
              <a:endParaRPr lang="zh-CN" sz="790" dirty="0">
                <a:solidFill>
                  <a:srgbClr val="667085"/>
                </a:solidFill>
                <a:latin typeface="Arial" panose="020B0604020202020204"/>
                <a:ea typeface="微软雅黑" panose="020B0503020204020204" charset="-122"/>
                <a:cs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p:nvPr/>
          </p:nvSpPr>
          <p:spPr>
            <a:xfrm>
              <a:off x="864870" y="482632"/>
              <a:ext cx="2567178" cy="440055"/>
            </a:xfrm>
            <a:prstGeom prst="rect">
              <a:avLst/>
            </a:prstGeom>
            <a:noFill/>
            <a:ln>
              <a:noFill/>
            </a:ln>
          </p:spPr>
          <p:txBody>
            <a:bodyPr wrap="none" lIns="0" tIns="-32" rIns="0" bIns="0" anchor="t" anchorCtr="0">
              <a:noAutofit/>
            </a:bodyPr>
            <a:lstStyle/>
            <a:p>
              <a:pPr algn="l"/>
              <a:r>
                <a:rPr lang="zh-CN" sz="2250" dirty="0">
                  <a:solidFill>
                    <a:srgbClr val="000000"/>
                  </a:solidFill>
                  <a:latin typeface="Arial" panose="020B0604020202020204"/>
                  <a:ea typeface="微软雅黑" panose="020B0503020204020204" charset="-122"/>
                  <a:cs typeface="Arial" panose="020B0604020202020204"/>
                </a:rPr>
                <a:t>5. 复现结果</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sp>
        <p:nvSpPr>
          <p:cNvPr id="20" name="TextBox 20"/>
          <p:cNvSpPr/>
          <p:nvPr/>
        </p:nvSpPr>
        <p:spPr>
          <a:xfrm>
            <a:off x="11337036" y="6359557"/>
            <a:ext cx="155067" cy="191643"/>
          </a:xfrm>
          <a:prstGeom prst="rect">
            <a:avLst/>
          </a:prstGeom>
          <a:noFill/>
          <a:ln>
            <a:noFill/>
          </a:ln>
        </p:spPr>
        <p:txBody>
          <a:bodyPr wrap="none" lIns="0" tIns="-32" rIns="0" bIns="0" anchor="t" anchorCtr="0">
            <a:noAutofit/>
          </a:bodyPr>
          <a:lstStyle/>
          <a:p>
            <a:pPr algn="r"/>
            <a:fld id="{B3FF6914-A81A-4FC7-8A2F-77F223AC10E2}" type="slidenum">
              <a:rPr lang="zh-CN" sz="980" dirty="0">
                <a:solidFill>
                  <a:srgbClr val="404040"/>
                </a:solidFill>
                <a:latin typeface="Arial" panose="020B0604020202020204"/>
                <a:ea typeface="Arial" panose="020B0604020202020204"/>
                <a:cs typeface="Arial" panose="020B0604020202020204"/>
              </a:rPr>
            </a:fld>
            <a:endParaRPr lang="zh-CN" sz="980" dirty="0">
              <a:solidFill>
                <a:srgbClr val="404040"/>
              </a:solidFill>
              <a:latin typeface="Arial" panose="020B0604020202020204"/>
              <a:ea typeface="Arial" panose="020B0604020202020204"/>
              <a:cs typeface="Arial" panose="020B0604020202020204"/>
            </a:endParaRPr>
          </a:p>
        </p:txBody>
      </p:sp>
      <p:grpSp>
        <p:nvGrpSpPr>
          <p:cNvPr id="18" name="page-title"/>
          <p:cNvGrpSpPr/>
          <p:nvPr/>
        </p:nvGrpSpPr>
        <p:grpSpPr>
          <a:xfrm>
            <a:off x="653796" y="1482725"/>
            <a:ext cx="7234809" cy="498729"/>
            <a:chOff x="653796" y="1482725"/>
            <a:chExt cx="7234809" cy="498729"/>
          </a:xfrm>
        </p:grpSpPr>
        <p:sp>
          <p:nvSpPr>
            <p:cNvPr id="17" name="TextBox 17"/>
            <p:cNvSpPr txBox="1"/>
            <p:nvPr/>
          </p:nvSpPr>
          <p:spPr>
            <a:xfrm>
              <a:off x="653796" y="1482725"/>
              <a:ext cx="7234809"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硬标签符号恢复：三类实验均得到稳定统计证据</a:t>
              </a:r>
              <a:endParaRPr lang="zh-CN" sz="2550" b="1" dirty="0">
                <a:solidFill>
                  <a:srgbClr val="005725"/>
                </a:solidFill>
                <a:latin typeface="Arial" panose="020B0604020202020204"/>
                <a:ea typeface="微软雅黑" panose="020B0503020204020204" charset="-122"/>
                <a:cs typeface="Arial" panose="020B0604020202020204"/>
              </a:endParaRPr>
            </a:p>
          </p:txBody>
        </p:sp>
      </p:grpSp>
      <p:grpSp>
        <p:nvGrpSpPr>
          <p:cNvPr id="27" name="leaky-result"/>
          <p:cNvGrpSpPr/>
          <p:nvPr/>
        </p:nvGrpSpPr>
        <p:grpSpPr>
          <a:xfrm>
            <a:off x="666750" y="2143125"/>
            <a:ext cx="3295650" cy="2571750"/>
            <a:chOff x="666750" y="2143125"/>
            <a:chExt cx="3295650" cy="2571750"/>
          </a:xfrm>
        </p:grpSpPr>
        <p:sp>
          <p:nvSpPr>
            <p:cNvPr id="19" name="Rectangle 19"/>
            <p:cNvSpPr/>
            <p:nvPr/>
          </p:nvSpPr>
          <p:spPr>
            <a:xfrm>
              <a:off x="666750" y="2143125"/>
              <a:ext cx="3295650" cy="2571750"/>
            </a:xfrm>
            <a:prstGeom prst="roundRect">
              <a:avLst>
                <a:gd name="adj" fmla="val 4444"/>
              </a:avLst>
            </a:prstGeom>
            <a:solidFill>
              <a:srgbClr val="FFFFFF"/>
            </a:solidFill>
            <a:ln w="19050">
              <a:solidFill>
                <a:srgbClr val="A6C9B4"/>
              </a:solidFill>
            </a:ln>
          </p:spPr>
        </p:sp>
        <p:sp>
          <p:nvSpPr>
            <p:cNvPr id="21" name="TextBox 21"/>
            <p:cNvSpPr txBox="1"/>
            <p:nvPr/>
          </p:nvSpPr>
          <p:spPr>
            <a:xfrm>
              <a:off x="905637" y="2355850"/>
              <a:ext cx="1376430" cy="337376"/>
            </a:xfrm>
            <a:prstGeom prst="rect">
              <a:avLst/>
            </a:prstGeom>
            <a:noFill/>
            <a:ln>
              <a:noFill/>
            </a:ln>
          </p:spPr>
          <p:txBody>
            <a:bodyPr wrap="none" lIns="0" tIns="0" rIns="0" bIns="0" anchor="t" anchorCtr="0">
              <a:spAutoFit/>
            </a:bodyPr>
            <a:lstStyle/>
            <a:p>
              <a:pPr algn="l"/>
              <a:r>
                <a:rPr lang="en-US" sz="1720" b="1" dirty="0">
                  <a:solidFill>
                    <a:srgbClr val="005725"/>
                  </a:solidFill>
                  <a:latin typeface="Arial" panose="020B0604020202020204"/>
                  <a:ea typeface="Arial" panose="020B0604020202020204"/>
                  <a:cs typeface="Arial" panose="020B0604020202020204"/>
                </a:rPr>
                <a:t>Leaky ReLU</a:t>
              </a:r>
              <a:endParaRPr lang="en-US" sz="1720" b="1" dirty="0">
                <a:solidFill>
                  <a:srgbClr val="005725"/>
                </a:solidFill>
                <a:latin typeface="Arial" panose="020B0604020202020204"/>
                <a:ea typeface="Arial" panose="020B0604020202020204"/>
                <a:cs typeface="Arial" panose="020B0604020202020204"/>
              </a:endParaRPr>
            </a:p>
          </p:txBody>
        </p:sp>
        <p:sp>
          <p:nvSpPr>
            <p:cNvPr id="22" name="TextBox 22"/>
            <p:cNvSpPr txBox="1"/>
            <p:nvPr/>
          </p:nvSpPr>
          <p:spPr>
            <a:xfrm>
              <a:off x="899922" y="2720975"/>
              <a:ext cx="1202286" cy="557403"/>
            </a:xfrm>
            <a:prstGeom prst="rect">
              <a:avLst/>
            </a:prstGeom>
            <a:noFill/>
            <a:ln>
              <a:noFill/>
            </a:ln>
          </p:spPr>
          <p:txBody>
            <a:bodyPr wrap="none" lIns="0" tIns="0" rIns="0" bIns="0" anchor="t" anchorCtr="0">
              <a:spAutoFit/>
            </a:bodyPr>
            <a:lstStyle/>
            <a:p>
              <a:pPr algn="l"/>
              <a:r>
                <a:rPr lang="zh-CN" sz="2850" b="1" dirty="0">
                  <a:solidFill>
                    <a:srgbClr val="005725"/>
                  </a:solidFill>
                  <a:latin typeface="Arial" panose="020B0604020202020204"/>
                  <a:ea typeface="Arial" panose="020B0604020202020204"/>
                  <a:cs typeface="Arial" panose="020B0604020202020204"/>
                </a:rPr>
                <a:t>96 / 96</a:t>
              </a:r>
              <a:endParaRPr lang="zh-CN" sz="2850" b="1" dirty="0">
                <a:solidFill>
                  <a:srgbClr val="005725"/>
                </a:solidFill>
                <a:latin typeface="Arial" panose="020B0604020202020204"/>
                <a:ea typeface="Arial" panose="020B0604020202020204"/>
                <a:cs typeface="Arial" panose="020B0604020202020204"/>
              </a:endParaRPr>
            </a:p>
          </p:txBody>
        </p:sp>
        <p:sp>
          <p:nvSpPr>
            <p:cNvPr id="23" name="TextBox 23"/>
            <p:cNvSpPr txBox="1"/>
            <p:nvPr/>
          </p:nvSpPr>
          <p:spPr>
            <a:xfrm>
              <a:off x="907923" y="3257550"/>
              <a:ext cx="1879800"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3 层神经元符号全部正确</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907923" y="3638550"/>
              <a:ext cx="2158086"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每层 101–104 个实验即收敛</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907923" y="4019550"/>
              <a:ext cx="1905985"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本地 CPU 总耗时约 20 s</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908685" y="4346575"/>
              <a:ext cx="1971497"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利用两侧非零斜率的不对称性</a:t>
              </a:r>
              <a:endParaRPr lang="zh-CN" sz="1120" dirty="0">
                <a:solidFill>
                  <a:srgbClr val="667085"/>
                </a:solidFill>
                <a:latin typeface="Arial" panose="020B0604020202020204"/>
                <a:ea typeface="微软雅黑" panose="020B0503020204020204" charset="-122"/>
                <a:cs typeface="Arial" panose="020B0604020202020204"/>
              </a:endParaRPr>
            </a:p>
          </p:txBody>
        </p:sp>
      </p:grpSp>
      <p:grpSp>
        <p:nvGrpSpPr>
          <p:cNvPr id="35" name="relu-result"/>
          <p:cNvGrpSpPr/>
          <p:nvPr/>
        </p:nvGrpSpPr>
        <p:grpSpPr>
          <a:xfrm>
            <a:off x="4448175" y="2143125"/>
            <a:ext cx="3295650" cy="2571750"/>
            <a:chOff x="4448175" y="2143125"/>
            <a:chExt cx="3295650" cy="2571750"/>
          </a:xfrm>
        </p:grpSpPr>
        <p:sp>
          <p:nvSpPr>
            <p:cNvPr id="28" name="Rectangle 28"/>
            <p:cNvSpPr/>
            <p:nvPr/>
          </p:nvSpPr>
          <p:spPr>
            <a:xfrm>
              <a:off x="4448175" y="2143125"/>
              <a:ext cx="3295650" cy="2571750"/>
            </a:xfrm>
            <a:prstGeom prst="roundRect">
              <a:avLst>
                <a:gd name="adj" fmla="val 4444"/>
              </a:avLst>
            </a:prstGeom>
            <a:solidFill>
              <a:srgbClr val="F3F8F5"/>
            </a:solidFill>
            <a:ln w="19050">
              <a:solidFill>
                <a:srgbClr val="A6C9B4"/>
              </a:solidFill>
            </a:ln>
          </p:spPr>
        </p:sp>
        <p:sp>
          <p:nvSpPr>
            <p:cNvPr id="29" name="TextBox 29"/>
            <p:cNvSpPr txBox="1"/>
            <p:nvPr/>
          </p:nvSpPr>
          <p:spPr>
            <a:xfrm>
              <a:off x="4687062" y="2355850"/>
              <a:ext cx="1708150" cy="337376"/>
            </a:xfrm>
            <a:prstGeom prst="rect">
              <a:avLst/>
            </a:prstGeom>
            <a:noFill/>
            <a:ln>
              <a:noFill/>
            </a:ln>
          </p:spPr>
          <p:txBody>
            <a:bodyPr wrap="none" lIns="0" tIns="0" rIns="0" bIns="0" anchor="t" anchorCtr="0">
              <a:spAutoFit/>
            </a:bodyPr>
            <a:lstStyle/>
            <a:p>
              <a:pPr algn="l"/>
              <a:r>
                <a:rPr lang="zh-CN" sz="1720" b="1" dirty="0">
                  <a:solidFill>
                    <a:srgbClr val="005725"/>
                  </a:solidFill>
                  <a:latin typeface="Arial" panose="020B0604020202020204"/>
                  <a:ea typeface="微软雅黑" panose="020B0503020204020204" charset="-122"/>
                  <a:cs typeface="Arial" panose="020B0604020202020204"/>
                </a:rPr>
                <a:t>标准 ReLU 黑盒</a:t>
              </a:r>
              <a:endParaRPr lang="zh-CN" sz="1720" b="1" dirty="0">
                <a:solidFill>
                  <a:srgbClr val="005725"/>
                </a:solidFill>
                <a:latin typeface="Arial" panose="020B0604020202020204"/>
                <a:ea typeface="微软雅黑" panose="020B0503020204020204" charset="-122"/>
                <a:cs typeface="Arial" panose="020B0604020202020204"/>
              </a:endParaRPr>
            </a:p>
          </p:txBody>
        </p:sp>
        <p:sp>
          <p:nvSpPr>
            <p:cNvPr id="30" name="TextBox 30"/>
            <p:cNvSpPr txBox="1"/>
            <p:nvPr/>
          </p:nvSpPr>
          <p:spPr>
            <a:xfrm>
              <a:off x="4681347" y="2720975"/>
              <a:ext cx="1202286" cy="557403"/>
            </a:xfrm>
            <a:prstGeom prst="rect">
              <a:avLst/>
            </a:prstGeom>
            <a:noFill/>
            <a:ln>
              <a:noFill/>
            </a:ln>
          </p:spPr>
          <p:txBody>
            <a:bodyPr wrap="none" lIns="0" tIns="0" rIns="0" bIns="0" anchor="t" anchorCtr="0">
              <a:spAutoFit/>
            </a:bodyPr>
            <a:lstStyle/>
            <a:p>
              <a:pPr algn="l"/>
              <a:r>
                <a:rPr lang="zh-CN" sz="2850" b="1" dirty="0">
                  <a:solidFill>
                    <a:srgbClr val="005725"/>
                  </a:solidFill>
                  <a:latin typeface="Arial" panose="020B0604020202020204"/>
                  <a:ea typeface="Arial" panose="020B0604020202020204"/>
                  <a:cs typeface="Arial" panose="020B0604020202020204"/>
                </a:rPr>
                <a:t>24 / 24</a:t>
              </a:r>
              <a:endParaRPr lang="zh-CN" sz="2850" b="1" dirty="0">
                <a:solidFill>
                  <a:srgbClr val="005725"/>
                </a:solidFill>
                <a:latin typeface="Arial" panose="020B0604020202020204"/>
                <a:ea typeface="Arial" panose="020B0604020202020204"/>
                <a:cs typeface="Arial" panose="020B0604020202020204"/>
              </a:endParaRPr>
            </a:p>
          </p:txBody>
        </p:sp>
        <p:sp>
          <p:nvSpPr>
            <p:cNvPr id="31" name="TextBox 31"/>
            <p:cNvSpPr txBox="1"/>
            <p:nvPr/>
          </p:nvSpPr>
          <p:spPr>
            <a:xfrm>
              <a:off x="4689348" y="3257550"/>
              <a:ext cx="2099982"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三层各 8 个神经元全部正确</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4689348" y="3638550"/>
              <a:ext cx="1774619"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19 次统计实验 / 神经元</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4689348" y="4019550"/>
              <a:ext cx="2263335"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单边投票 19:0，置信度 100%</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4690110" y="4346575"/>
              <a:ext cx="2273046"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深层需要更多双点，耗时明显增加</a:t>
              </a:r>
              <a:endParaRPr lang="zh-CN" sz="1120" dirty="0">
                <a:solidFill>
                  <a:srgbClr val="667085"/>
                </a:solidFill>
                <a:latin typeface="Arial" panose="020B0604020202020204"/>
                <a:ea typeface="微软雅黑" panose="020B0503020204020204" charset="-122"/>
                <a:cs typeface="Arial" panose="020B0604020202020204"/>
              </a:endParaRPr>
            </a:p>
          </p:txBody>
        </p:sp>
      </p:grpSp>
      <p:grpSp>
        <p:nvGrpSpPr>
          <p:cNvPr id="43" name="cifar-result"/>
          <p:cNvGrpSpPr/>
          <p:nvPr/>
        </p:nvGrpSpPr>
        <p:grpSpPr>
          <a:xfrm>
            <a:off x="8210550" y="2143125"/>
            <a:ext cx="3295650" cy="2571750"/>
            <a:chOff x="8210550" y="2143125"/>
            <a:chExt cx="3295650" cy="2571750"/>
          </a:xfrm>
        </p:grpSpPr>
        <p:sp>
          <p:nvSpPr>
            <p:cNvPr id="36" name="Rectangle 36"/>
            <p:cNvSpPr/>
            <p:nvPr/>
          </p:nvSpPr>
          <p:spPr>
            <a:xfrm>
              <a:off x="8210550" y="2143125"/>
              <a:ext cx="3295650" cy="2571750"/>
            </a:xfrm>
            <a:prstGeom prst="roundRect">
              <a:avLst>
                <a:gd name="adj" fmla="val 4444"/>
              </a:avLst>
            </a:prstGeom>
            <a:solidFill>
              <a:srgbClr val="FFFFFF"/>
            </a:solidFill>
            <a:ln w="19050">
              <a:solidFill>
                <a:srgbClr val="A6C9B4"/>
              </a:solidFill>
            </a:ln>
          </p:spPr>
        </p:sp>
        <p:sp>
          <p:nvSpPr>
            <p:cNvPr id="37" name="TextBox 37"/>
            <p:cNvSpPr txBox="1"/>
            <p:nvPr/>
          </p:nvSpPr>
          <p:spPr>
            <a:xfrm>
              <a:off x="8449437" y="2355850"/>
              <a:ext cx="2112761" cy="337376"/>
            </a:xfrm>
            <a:prstGeom prst="rect">
              <a:avLst/>
            </a:prstGeom>
            <a:noFill/>
            <a:ln>
              <a:noFill/>
            </a:ln>
          </p:spPr>
          <p:txBody>
            <a:bodyPr wrap="none" lIns="0" tIns="0" rIns="0" bIns="0" anchor="t" anchorCtr="0">
              <a:spAutoFit/>
            </a:bodyPr>
            <a:lstStyle/>
            <a:p>
              <a:pPr algn="l"/>
              <a:r>
                <a:rPr lang="zh-CN" sz="1720" b="1" dirty="0">
                  <a:solidFill>
                    <a:srgbClr val="005725"/>
                  </a:solidFill>
                  <a:latin typeface="Arial" panose="020B0604020202020204"/>
                  <a:ea typeface="微软雅黑" panose="020B0503020204020204" charset="-122"/>
                  <a:cs typeface="Arial" panose="020B0604020202020204"/>
                </a:rPr>
                <a:t>CIFAR-10 白盒辅助</a:t>
              </a:r>
              <a:endParaRPr lang="zh-CN" sz="1720" b="1" dirty="0">
                <a:solidFill>
                  <a:srgbClr val="005725"/>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8443722" y="2720975"/>
              <a:ext cx="1202286" cy="557403"/>
            </a:xfrm>
            <a:prstGeom prst="rect">
              <a:avLst/>
            </a:prstGeom>
            <a:noFill/>
            <a:ln>
              <a:noFill/>
            </a:ln>
          </p:spPr>
          <p:txBody>
            <a:bodyPr wrap="none" lIns="0" tIns="0" rIns="0" bIns="0" anchor="t" anchorCtr="0">
              <a:spAutoFit/>
            </a:bodyPr>
            <a:lstStyle/>
            <a:p>
              <a:pPr algn="l"/>
              <a:r>
                <a:rPr lang="zh-CN" sz="2850" b="1" dirty="0">
                  <a:solidFill>
                    <a:srgbClr val="005725"/>
                  </a:solidFill>
                  <a:latin typeface="Arial" panose="020B0604020202020204"/>
                  <a:ea typeface="Arial" panose="020B0604020202020204"/>
                  <a:cs typeface="Arial" panose="020B0604020202020204"/>
                </a:rPr>
                <a:t>16 / 16</a:t>
              </a:r>
              <a:endParaRPr lang="zh-CN" sz="2850" b="1" dirty="0">
                <a:solidFill>
                  <a:srgbClr val="005725"/>
                </a:solidFill>
                <a:latin typeface="Arial" panose="020B0604020202020204"/>
                <a:ea typeface="Arial" panose="020B0604020202020204"/>
                <a:cs typeface="Arial" panose="020B0604020202020204"/>
              </a:endParaRPr>
            </a:p>
          </p:txBody>
        </p:sp>
        <p:sp>
          <p:nvSpPr>
            <p:cNvPr id="39" name="TextBox 39"/>
            <p:cNvSpPr txBox="1"/>
            <p:nvPr/>
          </p:nvSpPr>
          <p:spPr>
            <a:xfrm>
              <a:off x="8451723" y="3257550"/>
              <a:ext cx="1908404"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均成功提取判别速度特征</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8451723" y="3638550"/>
              <a:ext cx="2157256" cy="250317"/>
            </a:xfrm>
            <a:prstGeom prst="rect">
              <a:avLst/>
            </a:prstGeom>
            <a:noFill/>
            <a:ln>
              <a:noFill/>
            </a:ln>
          </p:spPr>
          <p:txBody>
            <a:bodyPr wrap="none" lIns="0" tIns="0" rIns="0" bIns="0" anchor="t" anchorCtr="0">
              <a:spAutoFit/>
            </a:bodyPr>
            <a:lstStyle/>
            <a:p>
              <a:pPr algn="l"/>
              <a:r>
                <a:rPr lang="en-US" sz="1280" dirty="0">
                  <a:solidFill>
                    <a:srgbClr val="262626"/>
                  </a:solidFill>
                  <a:latin typeface="Arial" panose="020B0604020202020204"/>
                  <a:ea typeface="Arial" panose="020B0604020202020204"/>
                  <a:cs typeface="Arial" panose="020B0604020202020204"/>
                </a:rPr>
                <a:t>|vON| / |vOFF| = 1.16–1.99</a:t>
              </a:r>
              <a:endParaRPr lang="en-US" sz="1280" dirty="0">
                <a:solidFill>
                  <a:srgbClr val="262626"/>
                </a:solidFill>
                <a:latin typeface="Arial" panose="020B0604020202020204"/>
                <a:ea typeface="Arial" panose="020B0604020202020204"/>
                <a:cs typeface="Arial" panose="020B0604020202020204"/>
              </a:endParaRPr>
            </a:p>
          </p:txBody>
        </p:sp>
        <p:sp>
          <p:nvSpPr>
            <p:cNvPr id="41" name="TextBox 41"/>
            <p:cNvSpPr txBox="1"/>
            <p:nvPr/>
          </p:nvSpPr>
          <p:spPr>
            <a:xfrm>
              <a:off x="8451723" y="4019550"/>
              <a:ext cx="1707934" cy="250317"/>
            </a:xfrm>
            <a:prstGeom prst="rect">
              <a:avLst/>
            </a:prstGeom>
            <a:noFill/>
            <a:ln>
              <a:noFill/>
            </a:ln>
          </p:spPr>
          <p:txBody>
            <a:bodyPr wrap="none" lIns="0" tIns="0" rIns="0" bIns="0" anchor="t" anchorCtr="0">
              <a:spAutoFit/>
            </a:bodyPr>
            <a:lstStyle/>
            <a:p>
              <a:pPr algn="l"/>
              <a:r>
                <a:rPr lang="zh-CN" sz="1280" dirty="0">
                  <a:solidFill>
                    <a:srgbClr val="262626"/>
                  </a:solidFill>
                  <a:latin typeface="Arial" panose="020B0604020202020204"/>
                  <a:ea typeface="微软雅黑" panose="020B0503020204020204" charset="-122"/>
                  <a:cs typeface="Arial" panose="020B0604020202020204"/>
                </a:rPr>
                <a:t>单神经元耗时 11–15 s</a:t>
              </a:r>
              <a:endParaRPr lang="zh-CN" sz="1280" dirty="0">
                <a:solidFill>
                  <a:srgbClr val="262626"/>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8452485" y="4346575"/>
              <a:ext cx="2055509" cy="220028"/>
            </a:xfrm>
            <a:prstGeom prst="rect">
              <a:avLst/>
            </a:prstGeom>
            <a:noFill/>
            <a:ln>
              <a:noFill/>
            </a:ln>
          </p:spPr>
          <p:txBody>
            <a:bodyPr wrap="none" lIns="0" tIns="0" rIns="0" bIns="0" anchor="t" anchorCtr="0">
              <a:spAutoFit/>
            </a:bodyPr>
            <a:lstStyle/>
            <a:p>
              <a:pPr algn="l"/>
              <a:r>
                <a:rPr lang="zh-CN" sz="1120" dirty="0">
                  <a:solidFill>
                    <a:srgbClr val="667085"/>
                  </a:solidFill>
                  <a:latin typeface="Arial" panose="020B0604020202020204"/>
                  <a:ea typeface="微软雅黑" panose="020B0503020204020204" charset="-122"/>
                  <a:cs typeface="Arial" panose="020B0604020202020204"/>
                </a:rPr>
                <a:t>全部达到 95% 条件后提前退出</a:t>
              </a:r>
              <a:endParaRPr lang="zh-CN" sz="1120" dirty="0">
                <a:solidFill>
                  <a:srgbClr val="667085"/>
                </a:solidFill>
                <a:latin typeface="Arial" panose="020B0604020202020204"/>
                <a:ea typeface="微软雅黑" panose="020B0503020204020204" charset="-122"/>
                <a:cs typeface="Arial" panose="020B0604020202020204"/>
              </a:endParaRPr>
            </a:p>
          </p:txBody>
        </p:sp>
      </p:grpSp>
      <p:grpSp>
        <p:nvGrpSpPr>
          <p:cNvPr id="52" name="reproduction-conclusions"/>
          <p:cNvGrpSpPr/>
          <p:nvPr/>
        </p:nvGrpSpPr>
        <p:grpSpPr>
          <a:xfrm>
            <a:off x="666750" y="5000625"/>
            <a:ext cx="10839450" cy="1162050"/>
            <a:chOff x="666750" y="5000625"/>
            <a:chExt cx="10839450" cy="1162050"/>
          </a:xfrm>
        </p:grpSpPr>
        <p:sp>
          <p:nvSpPr>
            <p:cNvPr id="44" name="Rectangle 44"/>
            <p:cNvSpPr/>
            <p:nvPr/>
          </p:nvSpPr>
          <p:spPr>
            <a:xfrm>
              <a:off x="666750" y="5000625"/>
              <a:ext cx="10839450" cy="1162050"/>
            </a:xfrm>
            <a:prstGeom prst="roundRect">
              <a:avLst>
                <a:gd name="adj" fmla="val 8197"/>
              </a:avLst>
            </a:prstGeom>
            <a:solidFill>
              <a:srgbClr val="EAF4EE"/>
            </a:solidFill>
            <a:ln w="14288">
              <a:solidFill>
                <a:srgbClr val="8FBAA1"/>
              </a:solidFill>
            </a:ln>
          </p:spPr>
        </p:sp>
        <p:sp>
          <p:nvSpPr>
            <p:cNvPr id="45" name="TextBox 45"/>
            <p:cNvSpPr txBox="1"/>
            <p:nvPr/>
          </p:nvSpPr>
          <p:spPr>
            <a:xfrm>
              <a:off x="1021842" y="5226050"/>
              <a:ext cx="922401" cy="264033"/>
            </a:xfrm>
            <a:prstGeom prst="rect">
              <a:avLst/>
            </a:prstGeom>
            <a:noFill/>
            <a:ln>
              <a:noFill/>
            </a:ln>
          </p:spPr>
          <p:txBody>
            <a:bodyPr wrap="none" lIns="0" tIns="0" rIns="0" bIns="0" anchor="t" anchorCtr="0">
              <a:spAutoFit/>
            </a:bodyPr>
            <a:lstStyle/>
            <a:p>
              <a:pPr algn="l"/>
              <a:r>
                <a:rPr lang="zh-CN" sz="1350" b="1" dirty="0">
                  <a:solidFill>
                    <a:srgbClr val="005725"/>
                  </a:solidFill>
                  <a:latin typeface="Arial" panose="020B0604020202020204"/>
                  <a:ea typeface="微软雅黑" panose="020B0503020204020204" charset="-122"/>
                  <a:cs typeface="Arial" panose="020B0604020202020204"/>
                </a:rPr>
                <a:t>跨平台一致</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1022604" y="5562600"/>
              <a:ext cx="2699935"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CPU 与服务器均得到 100% 正确结论</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4469892" y="5226050"/>
              <a:ext cx="740664" cy="264033"/>
            </a:xfrm>
            <a:prstGeom prst="rect">
              <a:avLst/>
            </a:prstGeom>
            <a:noFill/>
            <a:ln>
              <a:noFill/>
            </a:ln>
          </p:spPr>
          <p:txBody>
            <a:bodyPr wrap="none" lIns="0" tIns="0" rIns="0" bIns="0" anchor="t" anchorCtr="0">
              <a:spAutoFit/>
            </a:bodyPr>
            <a:lstStyle/>
            <a:p>
              <a:pPr algn="l"/>
              <a:r>
                <a:rPr lang="zh-CN" sz="1350" b="1" dirty="0">
                  <a:solidFill>
                    <a:srgbClr val="005725"/>
                  </a:solidFill>
                  <a:latin typeface="Arial" panose="020B0604020202020204"/>
                  <a:ea typeface="微软雅黑" panose="020B0503020204020204" charset="-122"/>
                  <a:cs typeface="Arial" panose="020B0604020202020204"/>
                </a:rPr>
                <a:t>真正瓶颈</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4470654" y="5562600"/>
              <a:ext cx="2599951"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大量 batch=1 查询，而非 GPU 吞吐</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7946517" y="5226050"/>
              <a:ext cx="740664" cy="264033"/>
            </a:xfrm>
            <a:prstGeom prst="rect">
              <a:avLst/>
            </a:prstGeom>
            <a:noFill/>
            <a:ln>
              <a:noFill/>
            </a:ln>
          </p:spPr>
          <p:txBody>
            <a:bodyPr wrap="none" lIns="0" tIns="0" rIns="0" bIns="0" anchor="t" anchorCtr="0">
              <a:spAutoFit/>
            </a:bodyPr>
            <a:lstStyle/>
            <a:p>
              <a:pPr algn="l"/>
              <a:r>
                <a:rPr lang="zh-CN" sz="1350" b="1" dirty="0">
                  <a:solidFill>
                    <a:srgbClr val="005725"/>
                  </a:solidFill>
                  <a:latin typeface="Arial" panose="020B0604020202020204"/>
                  <a:ea typeface="微软雅黑" panose="020B0503020204020204" charset="-122"/>
                  <a:cs typeface="Arial" panose="020B0604020202020204"/>
                </a:rPr>
                <a:t>关键前提</a:t>
              </a:r>
              <a:endParaRPr lang="zh-CN" sz="1350" b="1" dirty="0">
                <a:solidFill>
                  <a:srgbClr val="005725"/>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7947279" y="5562600"/>
              <a:ext cx="2845129" cy="234696"/>
            </a:xfrm>
            <a:prstGeom prst="rect">
              <a:avLst/>
            </a:prstGeom>
            <a:noFill/>
            <a:ln>
              <a:noFill/>
            </a:ln>
          </p:spPr>
          <p:txBody>
            <a:bodyPr wrap="none" lIns="0" tIns="0" rIns="0" bIns="0" anchor="t" anchorCtr="0">
              <a:spAutoFit/>
            </a:bodyPr>
            <a:lstStyle/>
            <a:p>
              <a:pPr algn="l"/>
              <a:r>
                <a:rPr lang="zh-CN" sz="1200" dirty="0">
                  <a:solidFill>
                    <a:srgbClr val="262626"/>
                  </a:solidFill>
                  <a:latin typeface="Arial" panose="020B0604020202020204"/>
                  <a:ea typeface="微软雅黑" panose="020B0503020204020204" charset="-122"/>
                  <a:cs typeface="Arial" panose="020B0604020202020204"/>
                </a:rPr>
                <a:t>float64、稳定确定的 Oracle 与任意输入</a:t>
              </a:r>
              <a:endParaRPr lang="zh-CN" sz="1200" dirty="0">
                <a:solidFill>
                  <a:srgbClr val="262626"/>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3517595" y="5880100"/>
              <a:ext cx="5137760" cy="220028"/>
            </a:xfrm>
            <a:prstGeom prst="rect">
              <a:avLst/>
            </a:prstGeom>
            <a:noFill/>
            <a:ln>
              <a:noFill/>
            </a:ln>
          </p:spPr>
          <p:txBody>
            <a:bodyPr wrap="none" lIns="0" tIns="0" rIns="0" bIns="0" anchor="t" anchorCtr="0">
              <a:spAutoFit/>
            </a:bodyPr>
            <a:lstStyle/>
            <a:p>
              <a:pPr algn="ctr"/>
              <a:r>
                <a:rPr lang="zh-CN" sz="1120" b="1" dirty="0">
                  <a:solidFill>
                    <a:srgbClr val="C00000"/>
                  </a:solidFill>
                  <a:latin typeface="Arial" panose="020B0604020202020204"/>
                  <a:ea typeface="微软雅黑" panose="020B0503020204020204" charset="-122"/>
                  <a:cs typeface="Arial" panose="020B0604020202020204"/>
                </a:rPr>
                <a:t>结论：硬标签并未消除泄漏，只是把攻击信号从数值输出转移到决策边界几何</a:t>
              </a:r>
              <a:endParaRPr lang="zh-CN" sz="1120" b="1" dirty="0">
                <a:solidFill>
                  <a:srgbClr val="C00000"/>
                </a:solidFill>
                <a:latin typeface="Arial" panose="020B0604020202020204"/>
                <a:ea typeface="微软雅黑" panose="020B0503020204020204" charset="-122"/>
                <a:cs typeface="Arial" panose="020B0604020202020204"/>
              </a:endParaRPr>
            </a:p>
          </p:txBody>
        </p:sp>
      </p:grpSp>
      <p:grpSp>
        <p:nvGrpSpPr>
          <p:cNvPr id="54" name="source-note"/>
          <p:cNvGrpSpPr/>
          <p:nvPr/>
        </p:nvGrpSpPr>
        <p:grpSpPr>
          <a:xfrm>
            <a:off x="757238" y="6318250"/>
            <a:ext cx="127000" cy="120650"/>
            <a:chOff x="757238" y="6318250"/>
            <a:chExt cx="127000" cy="120650"/>
          </a:xfrm>
        </p:grpSpPr>
        <p:sp>
          <p:nvSpPr>
            <p:cNvPr id="53" name="TextBox 53"/>
            <p:cNvSpPr txBox="1"/>
            <p:nvPr/>
          </p:nvSpPr>
          <p:spPr>
            <a:xfrm>
              <a:off x="757238" y="6318250"/>
              <a:ext cx="127000" cy="120650"/>
            </a:xfrm>
            <a:prstGeom prst="rect">
              <a:avLst/>
            </a:prstGeom>
            <a:noFill/>
            <a:ln>
              <a:noFill/>
            </a:ln>
          </p:spPr>
          <p:txBody>
            <a:bodyPr wrap="none" lIns="0" tIns="0" rIns="0" bIns="0" anchor="t" anchorCtr="0">
              <a:spAutoFit/>
            </a:bodyPr>
            <a:lstStyle/>
            <a:p>
              <a:pPr algn="l"/>
              <a:endParaRPr lang="zh-CN" sz="790" dirty="0">
                <a:solidFill>
                  <a:srgbClr val="667085"/>
                </a:solidFill>
                <a:latin typeface="Arial" panose="020B0604020202020204"/>
                <a:ea typeface="微软雅黑" panose="020B0503020204020204" charset="-122"/>
                <a:cs typeface="Arial" panose="020B0604020202020204"/>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background-base"/>
          <p:cNvGrpSpPr/>
          <p:nvPr/>
        </p:nvGrpSpPr>
        <p:grpSpPr>
          <a:xfrm>
            <a:off x="0" y="0"/>
            <a:ext cx="12192000" cy="6858000"/>
            <a:chOff x="0" y="0"/>
            <a:chExt cx="12192000" cy="6858000"/>
          </a:xfrm>
        </p:grpSpPr>
        <p:pic>
          <p:nvPicPr>
            <p:cNvPr id="10" name="Image 10"/>
            <p:cNvPicPr>
              <a:picLocks noChangeAspect="1"/>
            </p:cNvPicPr>
            <p:nvPr/>
          </p:nvPicPr>
          <p:blipFill>
            <a:blip r:embed="rId1"/>
            <a:stretch>
              <a:fillRect/>
            </a:stretch>
          </p:blipFill>
          <p:spPr>
            <a:xfrm>
              <a:off x="0" y="0"/>
              <a:ext cx="12192000" cy="6858000"/>
            </a:xfrm>
            <a:prstGeom prst="rect">
              <a:avLst/>
            </a:prstGeom>
          </p:spPr>
        </p:pic>
      </p:grpSp>
      <p:grpSp>
        <p:nvGrpSpPr>
          <p:cNvPr id="18" name="background-style"/>
          <p:cNvGrpSpPr/>
          <p:nvPr/>
        </p:nvGrpSpPr>
        <p:grpSpPr>
          <a:xfrm>
            <a:off x="49911" y="1905"/>
            <a:ext cx="12192000" cy="6858000"/>
            <a:chOff x="49911" y="1905"/>
            <a:chExt cx="12192000" cy="6858000"/>
          </a:xfrm>
        </p:grpSpPr>
        <p:pic>
          <p:nvPicPr>
            <p:cNvPr id="17" name="Image 17"/>
            <p:cNvPicPr>
              <a:picLocks noChangeAspect="1"/>
            </p:cNvPicPr>
            <p:nvPr/>
          </p:nvPicPr>
          <p:blipFill>
            <a:blip r:embed="rId2"/>
            <a:stretch>
              <a:fillRect/>
            </a:stretch>
          </p:blipFill>
          <p:spPr>
            <a:xfrm>
              <a:off x="49911" y="1905"/>
              <a:ext cx="12192000" cy="6858000"/>
            </a:xfrm>
            <a:prstGeom prst="rect">
              <a:avLst/>
            </a:prstGeom>
          </p:spPr>
        </p:pic>
      </p:grpSp>
      <p:grpSp>
        <p:nvGrpSpPr>
          <p:cNvPr id="20" name="brand-logo"/>
          <p:cNvGrpSpPr/>
          <p:nvPr/>
        </p:nvGrpSpPr>
        <p:grpSpPr>
          <a:xfrm>
            <a:off x="10375011" y="211264"/>
            <a:ext cx="1512189" cy="481394"/>
            <a:chOff x="10375011" y="211264"/>
            <a:chExt cx="1512189" cy="481394"/>
          </a:xfrm>
        </p:grpSpPr>
        <p:pic>
          <p:nvPicPr>
            <p:cNvPr id="19" name="Image 19"/>
            <p:cNvPicPr>
              <a:picLocks noChangeAspect="1"/>
            </p:cNvPicPr>
            <p:nvPr/>
          </p:nvPicPr>
          <p:blipFill>
            <a:blip r:embed="rId3"/>
            <a:stretch>
              <a:fillRect/>
            </a:stretch>
          </p:blipFill>
          <p:spPr>
            <a:xfrm>
              <a:off x="10375011" y="211264"/>
              <a:ext cx="1512189" cy="481394"/>
            </a:xfrm>
            <a:prstGeom prst="rect">
              <a:avLst/>
            </a:prstGeom>
          </p:spPr>
        </p:pic>
      </p:grpSp>
      <p:grpSp>
        <p:nvGrpSpPr>
          <p:cNvPr id="9" name="page-header"/>
          <p:cNvGrpSpPr/>
          <p:nvPr/>
        </p:nvGrpSpPr>
        <p:grpSpPr>
          <a:xfrm>
            <a:off x="0" y="371475"/>
            <a:ext cx="3571875" cy="908590"/>
            <a:chOff x="0" y="371475"/>
            <a:chExt cx="3571875" cy="908590"/>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p:nvPr/>
          </p:nvSpPr>
          <p:spPr>
            <a:xfrm>
              <a:off x="864870" y="482632"/>
              <a:ext cx="2567178" cy="440055"/>
            </a:xfrm>
            <a:prstGeom prst="rect">
              <a:avLst/>
            </a:prstGeom>
            <a:noFill/>
            <a:ln>
              <a:noFill/>
            </a:ln>
          </p:spPr>
          <p:txBody>
            <a:bodyPr wrap="none" lIns="0" tIns="-32" rIns="0" bIns="0" anchor="t" anchorCtr="0">
              <a:noAutofit/>
            </a:bodyPr>
            <a:lstStyle/>
            <a:p>
              <a:pPr algn="l"/>
              <a:r>
                <a:rPr lang="zh-CN" sz="2250" dirty="0">
                  <a:solidFill>
                    <a:srgbClr val="000000"/>
                  </a:solidFill>
                  <a:latin typeface="Arial" panose="020B0604020202020204"/>
                  <a:ea typeface="微软雅黑" panose="020B0503020204020204" charset="-122"/>
                  <a:cs typeface="Arial" panose="020B0604020202020204"/>
                </a:rPr>
                <a:t>5. 复现结果</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p:nvPr/>
          </p:nvSpPr>
          <p:spPr>
            <a:xfrm>
              <a:off x="869442" y="1016032"/>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15" name="page-title"/>
          <p:cNvGrpSpPr/>
          <p:nvPr/>
        </p:nvGrpSpPr>
        <p:grpSpPr>
          <a:xfrm>
            <a:off x="653796" y="1476375"/>
            <a:ext cx="8518779" cy="533400"/>
            <a:chOff x="653796" y="1476375"/>
            <a:chExt cx="8518779" cy="533400"/>
          </a:xfrm>
        </p:grpSpPr>
        <p:sp>
          <p:nvSpPr>
            <p:cNvPr id="11" name="Rectangle 11"/>
            <p:cNvSpPr/>
            <p:nvPr/>
          </p:nvSpPr>
          <p:spPr>
            <a:xfrm>
              <a:off x="666750" y="1476375"/>
              <a:ext cx="2952750" cy="533400"/>
            </a:xfrm>
            <a:prstGeom prst="rect">
              <a:avLst/>
            </a:prstGeom>
            <a:noFill/>
            <a:ln>
              <a:noFill/>
            </a:ln>
          </p:spPr>
        </p:sp>
        <p:sp>
          <p:nvSpPr>
            <p:cNvPr id="12" name="TextBox 12"/>
            <p:cNvSpPr/>
            <p:nvPr/>
          </p:nvSpPr>
          <p:spPr>
            <a:xfrm>
              <a:off x="653796" y="1492282"/>
              <a:ext cx="2428875"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复现代码与资料</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3" name="Rectangle 13"/>
            <p:cNvSpPr/>
            <p:nvPr/>
          </p:nvSpPr>
          <p:spPr>
            <a:xfrm>
              <a:off x="3838575" y="1504950"/>
              <a:ext cx="5334000" cy="400050"/>
            </a:xfrm>
            <a:prstGeom prst="rect">
              <a:avLst/>
            </a:prstGeom>
            <a:noFill/>
            <a:ln>
              <a:noFill/>
            </a:ln>
          </p:spPr>
        </p:sp>
        <p:sp>
          <p:nvSpPr>
            <p:cNvPr id="14" name="TextBox 14"/>
            <p:cNvSpPr/>
            <p:nvPr/>
          </p:nvSpPr>
          <p:spPr>
            <a:xfrm>
              <a:off x="3832479" y="1638300"/>
              <a:ext cx="3362134" cy="234696"/>
            </a:xfrm>
            <a:prstGeom prst="rect">
              <a:avLst/>
            </a:prstGeom>
            <a:noFill/>
            <a:ln>
              <a:noFill/>
            </a:ln>
          </p:spPr>
          <p:txBody>
            <a:bodyPr wrap="none" lIns="0" tIns="0" rIns="0" bIns="0" anchor="t" anchorCtr="0">
              <a:noAutofit/>
            </a:bodyPr>
            <a:lstStyle/>
            <a:p>
              <a:pPr algn="l"/>
              <a:endParaRPr lang="zh-CN" sz="1200" dirty="0">
                <a:solidFill>
                  <a:srgbClr val="667085"/>
                </a:solidFill>
                <a:latin typeface="Arial" panose="020B0604020202020204"/>
                <a:ea typeface="微软雅黑" panose="020B0503020204020204" charset="-122"/>
                <a:cs typeface="Arial" panose="020B0604020202020204"/>
              </a:endParaRPr>
            </a:p>
          </p:txBody>
        </p:sp>
      </p:grpSp>
      <p:grpSp>
        <p:nvGrpSpPr>
          <p:cNvPr id="65" name="page-number"/>
          <p:cNvGrpSpPr/>
          <p:nvPr/>
        </p:nvGrpSpPr>
        <p:grpSpPr>
          <a:xfrm>
            <a:off x="11315700" y="6334125"/>
            <a:ext cx="209550" cy="228600"/>
            <a:chOff x="11315700" y="6334125"/>
            <a:chExt cx="209550" cy="228600"/>
          </a:xfrm>
        </p:grpSpPr>
        <p:sp>
          <p:nvSpPr>
            <p:cNvPr id="63" name="Rectangle 63"/>
            <p:cNvSpPr/>
            <p:nvPr/>
          </p:nvSpPr>
          <p:spPr>
            <a:xfrm>
              <a:off x="11315700" y="6334125"/>
              <a:ext cx="209550" cy="228600"/>
            </a:xfrm>
            <a:prstGeom prst="rect">
              <a:avLst/>
            </a:prstGeom>
            <a:noFill/>
            <a:ln>
              <a:noFill/>
            </a:ln>
          </p:spPr>
        </p:sp>
        <p:sp>
          <p:nvSpPr>
            <p:cNvPr id="64" name="TextBox 64"/>
            <p:cNvSpPr/>
            <p:nvPr/>
          </p:nvSpPr>
          <p:spPr>
            <a:xfrm>
              <a:off x="11340370" y="6359557"/>
              <a:ext cx="156686" cy="191738"/>
            </a:xfrm>
            <a:prstGeom prst="rect">
              <a:avLst/>
            </a:prstGeom>
            <a:noFill/>
            <a:ln>
              <a:noFill/>
            </a:ln>
          </p:spPr>
          <p:txBody>
            <a:bodyPr wrap="none" lIns="0" tIns="0" rIns="0" bIns="0" anchor="t" anchorCtr="0">
              <a:spAutoFit/>
            </a:bodyPr>
            <a:lstStyle/>
            <a:p>
              <a:pPr algn="r"/>
              <a:r>
                <a:rPr lang="zh-CN" sz="980" dirty="0">
                  <a:solidFill>
                    <a:srgbClr val="404040"/>
                  </a:solidFill>
                  <a:latin typeface="Arial" panose="020B0604020202020204"/>
                  <a:ea typeface="Arial" panose="020B0604020202020204"/>
                  <a:cs typeface="Arial" panose="020B0604020202020204"/>
                </a:rPr>
                <a:t>25</a:t>
              </a:r>
              <a:endParaRPr lang="zh-CN" sz="980" dirty="0">
                <a:solidFill>
                  <a:srgbClr val="404040"/>
                </a:solidFill>
                <a:latin typeface="Arial" panose="020B0604020202020204"/>
                <a:ea typeface="Arial" panose="020B0604020202020204"/>
                <a:cs typeface="Arial" panose="020B0604020202020204"/>
              </a:endParaRPr>
            </a:p>
          </p:txBody>
        </p:sp>
      </p:grpSp>
      <p:grpSp>
        <p:nvGrpSpPr>
          <p:cNvPr id="32" name="repo-soft-label"/>
          <p:cNvGrpSpPr/>
          <p:nvPr/>
        </p:nvGrpSpPr>
        <p:grpSpPr>
          <a:xfrm>
            <a:off x="904875" y="2333625"/>
            <a:ext cx="5048250" cy="3219450"/>
            <a:chOff x="904875" y="2333625"/>
            <a:chExt cx="5048250" cy="3219450"/>
          </a:xfrm>
        </p:grpSpPr>
        <p:sp>
          <p:nvSpPr>
            <p:cNvPr id="22" name="Rectangle 22"/>
            <p:cNvSpPr/>
            <p:nvPr/>
          </p:nvSpPr>
          <p:spPr>
            <a:xfrm>
              <a:off x="904875" y="2333625"/>
              <a:ext cx="5048250" cy="3219450"/>
            </a:xfrm>
            <a:prstGeom prst="roundRect">
              <a:avLst>
                <a:gd name="adj" fmla="val 5325"/>
              </a:avLst>
            </a:prstGeom>
            <a:solidFill>
              <a:srgbClr val="FFFFFF"/>
            </a:solidFill>
            <a:ln w="19050">
              <a:solidFill>
                <a:srgbClr val="8FBAA1"/>
              </a:solidFill>
            </a:ln>
          </p:spPr>
        </p:sp>
        <p:sp>
          <p:nvSpPr>
            <p:cNvPr id="23" name="Rectangle 23"/>
            <p:cNvSpPr/>
            <p:nvPr/>
          </p:nvSpPr>
          <p:spPr>
            <a:xfrm>
              <a:off x="904875" y="2333625"/>
              <a:ext cx="5048250" cy="781050"/>
            </a:xfrm>
            <a:prstGeom prst="roundRect">
              <a:avLst>
                <a:gd name="adj" fmla="val 21951"/>
              </a:avLst>
            </a:prstGeom>
            <a:solidFill>
              <a:srgbClr val="EAF4EE"/>
            </a:solidFill>
            <a:ln>
              <a:noFill/>
            </a:ln>
          </p:spPr>
        </p:sp>
        <p:sp>
          <p:nvSpPr>
            <p:cNvPr id="24" name="Rectangle 24"/>
            <p:cNvSpPr/>
            <p:nvPr/>
          </p:nvSpPr>
          <p:spPr>
            <a:xfrm>
              <a:off x="904875" y="2943225"/>
              <a:ext cx="5048250" cy="171450"/>
            </a:xfrm>
            <a:prstGeom prst="rect">
              <a:avLst/>
            </a:prstGeom>
            <a:solidFill>
              <a:srgbClr val="EAF4EE"/>
            </a:solidFill>
            <a:ln>
              <a:noFill/>
            </a:ln>
          </p:spPr>
        </p:sp>
        <p:sp>
          <p:nvSpPr>
            <p:cNvPr id="25" name="TextBox 25"/>
            <p:cNvSpPr txBox="1"/>
            <p:nvPr/>
          </p:nvSpPr>
          <p:spPr>
            <a:xfrm>
              <a:off x="1184148" y="2533650"/>
              <a:ext cx="1742884" cy="250317"/>
            </a:xfrm>
            <a:prstGeom prst="rect">
              <a:avLst/>
            </a:prstGeom>
            <a:noFill/>
            <a:ln>
              <a:noFill/>
            </a:ln>
          </p:spPr>
          <p:txBody>
            <a:bodyPr wrap="none" lIns="0" tIns="0" rIns="0" bIns="0" anchor="t" anchorCtr="0">
              <a:spAutoFit/>
            </a:bodyPr>
            <a:lstStyle/>
            <a:p>
              <a:pPr algn="l"/>
              <a:r>
                <a:rPr lang="en-US" sz="1280" b="1" dirty="0">
                  <a:solidFill>
                    <a:srgbClr val="667085"/>
                  </a:solidFill>
                  <a:latin typeface="Arial" panose="020B0604020202020204"/>
                  <a:ea typeface="Arial" panose="020B0604020202020204"/>
                  <a:cs typeface="Arial" panose="020B0604020202020204"/>
                </a:rPr>
                <a:t>REPRODUCTION 01</a:t>
              </a:r>
              <a:endParaRPr lang="en-US" sz="1280" b="1" dirty="0">
                <a:solidFill>
                  <a:srgbClr val="667085"/>
                </a:solidFill>
                <a:latin typeface="Arial" panose="020B0604020202020204"/>
                <a:ea typeface="Arial" panose="020B0604020202020204"/>
                <a:cs typeface="Arial" panose="020B0604020202020204"/>
              </a:endParaRPr>
            </a:p>
          </p:txBody>
        </p:sp>
        <p:sp>
          <p:nvSpPr>
            <p:cNvPr id="26" name="TextBox 26"/>
            <p:cNvSpPr txBox="1"/>
            <p:nvPr/>
          </p:nvSpPr>
          <p:spPr>
            <a:xfrm>
              <a:off x="1181100" y="2752725"/>
              <a:ext cx="1790649" cy="367665"/>
            </a:xfrm>
            <a:prstGeom prst="rect">
              <a:avLst/>
            </a:prstGeom>
            <a:noFill/>
            <a:ln>
              <a:noFill/>
            </a:ln>
          </p:spPr>
          <p:txBody>
            <a:bodyPr wrap="none" lIns="0" tIns="0" rIns="0" bIns="0" anchor="t" anchorCtr="0">
              <a:spAutoFit/>
            </a:bodyPr>
            <a:lstStyle/>
            <a:p>
              <a:pPr algn="l"/>
              <a:r>
                <a:rPr lang="zh-CN" sz="1880" b="1" dirty="0">
                  <a:solidFill>
                    <a:srgbClr val="005725"/>
                  </a:solidFill>
                  <a:latin typeface="Arial" panose="020B0604020202020204"/>
                  <a:ea typeface="微软雅黑" panose="020B0503020204020204" charset="-122"/>
                  <a:cs typeface="Arial" panose="020B0604020202020204"/>
                </a:rPr>
                <a:t>软标签前作复现</a:t>
              </a:r>
              <a:endParaRPr lang="zh-CN" sz="1880" b="1" dirty="0">
                <a:solidFill>
                  <a:srgbClr val="005725"/>
                </a:solidFill>
                <a:latin typeface="Arial" panose="020B0604020202020204"/>
                <a:ea typeface="微软雅黑" panose="020B0503020204020204" charset="-122"/>
                <a:cs typeface="Arial" panose="020B0604020202020204"/>
              </a:endParaRPr>
            </a:p>
          </p:txBody>
        </p:sp>
        <p:sp>
          <p:nvSpPr>
            <p:cNvPr id="27" name="Rectangle 27"/>
            <p:cNvSpPr/>
            <p:nvPr/>
          </p:nvSpPr>
          <p:spPr>
            <a:xfrm>
              <a:off x="1190625" y="3352800"/>
              <a:ext cx="4476750" cy="552450"/>
            </a:xfrm>
            <a:prstGeom prst="rect">
              <a:avLst/>
            </a:prstGeom>
            <a:noFill/>
            <a:ln>
              <a:noFill/>
            </a:ln>
          </p:spPr>
        </p:sp>
        <p:sp>
          <p:nvSpPr>
            <p:cNvPr id="28" name="TextBox 28"/>
            <p:cNvSpPr txBox="1"/>
            <p:nvPr/>
          </p:nvSpPr>
          <p:spPr>
            <a:xfrm>
              <a:off x="1178433" y="3422650"/>
              <a:ext cx="1532236" cy="469392"/>
            </a:xfrm>
            <a:prstGeom prst="rect">
              <a:avLst/>
            </a:prstGeom>
            <a:noFill/>
            <a:ln>
              <a:noFill/>
            </a:ln>
          </p:spPr>
          <p:txBody>
            <a:bodyPr wrap="none" lIns="0" tIns="0" rIns="0" bIns="0" anchor="t" anchorCtr="0">
              <a:spAutoFit/>
            </a:bodyPr>
            <a:lstStyle/>
            <a:p>
              <a:pPr algn="l"/>
              <a:r>
                <a:rPr lang="en-US" sz="2400" b="1" dirty="0">
                  <a:solidFill>
                    <a:srgbClr val="262626"/>
                  </a:solidFill>
                  <a:latin typeface="Arial" panose="020B0604020202020204"/>
                  <a:ea typeface="Arial" panose="020B0604020202020204"/>
                  <a:cs typeface="Arial" panose="020B0604020202020204"/>
                </a:rPr>
                <a:t>deti-repro</a:t>
              </a:r>
              <a:endParaRPr lang="en-US" sz="2400" b="1" dirty="0">
                <a:solidFill>
                  <a:srgbClr val="262626"/>
                </a:solidFill>
                <a:latin typeface="Arial" panose="020B0604020202020204"/>
                <a:ea typeface="Arial" panose="020B0604020202020204"/>
                <a:cs typeface="Arial" panose="020B0604020202020204"/>
              </a:endParaRPr>
            </a:p>
          </p:txBody>
        </p:sp>
        <p:sp>
          <p:nvSpPr>
            <p:cNvPr id="29" name="Rectangle 29"/>
            <p:cNvSpPr/>
            <p:nvPr/>
          </p:nvSpPr>
          <p:spPr>
            <a:xfrm>
              <a:off x="1190625" y="4095750"/>
              <a:ext cx="4476750" cy="1066800"/>
            </a:xfrm>
            <a:prstGeom prst="roundRect">
              <a:avLst>
                <a:gd name="adj" fmla="val 10714"/>
              </a:avLst>
            </a:prstGeom>
            <a:solidFill>
              <a:srgbClr val="F3F8F5"/>
            </a:solidFill>
            <a:ln w="14288">
              <a:solidFill>
                <a:srgbClr val="D7E6DD"/>
              </a:solidFill>
            </a:ln>
          </p:spPr>
        </p:sp>
        <p:sp>
          <p:nvSpPr>
            <p:cNvPr id="30" name="TextBox 30"/>
            <p:cNvSpPr txBox="1"/>
            <p:nvPr/>
          </p:nvSpPr>
          <p:spPr>
            <a:xfrm>
              <a:off x="1420368" y="4264025"/>
              <a:ext cx="1831731" cy="322707"/>
            </a:xfrm>
            <a:prstGeom prst="rect">
              <a:avLst/>
            </a:prstGeom>
            <a:noFill/>
            <a:ln>
              <a:noFill/>
            </a:ln>
          </p:spPr>
          <p:txBody>
            <a:bodyPr wrap="none" lIns="0" tIns="0" rIns="0" bIns="0" anchor="t" anchorCtr="0">
              <a:spAutoFit/>
            </a:bodyPr>
            <a:lstStyle/>
            <a:p>
              <a:pPr algn="l"/>
              <a:r>
                <a:rPr lang="en-US" sz="1650" dirty="0">
                  <a:solidFill>
                    <a:srgbClr val="005725"/>
                  </a:solidFill>
                  <a:latin typeface="Arial" panose="020B0604020202020204"/>
                  <a:ea typeface="Arial" panose="020B0604020202020204"/>
                  <a:cs typeface="Arial" panose="020B0604020202020204"/>
                </a:rPr>
                <a:t>https://github.com/</a:t>
              </a:r>
              <a:endParaRPr lang="en-US" sz="1650" dirty="0">
                <a:solidFill>
                  <a:srgbClr val="005725"/>
                </a:solidFill>
                <a:latin typeface="Arial" panose="020B0604020202020204"/>
                <a:ea typeface="Arial" panose="020B0604020202020204"/>
                <a:cs typeface="Arial" panose="020B0604020202020204"/>
              </a:endParaRPr>
            </a:p>
          </p:txBody>
        </p:sp>
        <p:sp>
          <p:nvSpPr>
            <p:cNvPr id="31" name="TextBox 31"/>
            <p:cNvSpPr txBox="1"/>
            <p:nvPr/>
          </p:nvSpPr>
          <p:spPr>
            <a:xfrm>
              <a:off x="1419606" y="4610100"/>
              <a:ext cx="2778675" cy="352044"/>
            </a:xfrm>
            <a:prstGeom prst="rect">
              <a:avLst/>
            </a:prstGeom>
            <a:noFill/>
            <a:ln>
              <a:noFill/>
            </a:ln>
          </p:spPr>
          <p:txBody>
            <a:bodyPr wrap="none" lIns="0" tIns="0" rIns="0" bIns="0" anchor="t" anchorCtr="0">
              <a:spAutoFit/>
            </a:bodyPr>
            <a:lstStyle/>
            <a:p>
              <a:pPr algn="l"/>
              <a:r>
                <a:rPr lang="en-US" sz="1800" b="1" dirty="0">
                  <a:solidFill>
                    <a:srgbClr val="005725"/>
                  </a:solidFill>
                  <a:latin typeface="Arial" panose="020B0604020202020204"/>
                  <a:ea typeface="Arial" panose="020B0604020202020204"/>
                  <a:cs typeface="Arial" panose="020B0604020202020204"/>
                </a:rPr>
                <a:t>Pth-03251106/deti-repro</a:t>
              </a:r>
              <a:endParaRPr lang="en-US" sz="1800" b="1" dirty="0">
                <a:solidFill>
                  <a:srgbClr val="005725"/>
                </a:solidFill>
                <a:latin typeface="Arial" panose="020B0604020202020204"/>
                <a:ea typeface="Arial" panose="020B0604020202020204"/>
                <a:cs typeface="Arial" panose="020B0604020202020204"/>
              </a:endParaRPr>
            </a:p>
          </p:txBody>
        </p:sp>
      </p:grpSp>
      <p:grpSp>
        <p:nvGrpSpPr>
          <p:cNvPr id="44" name="repo-hard-label"/>
          <p:cNvGrpSpPr/>
          <p:nvPr/>
        </p:nvGrpSpPr>
        <p:grpSpPr>
          <a:xfrm>
            <a:off x="6238875" y="2333625"/>
            <a:ext cx="5048250" cy="3219450"/>
            <a:chOff x="6238875" y="2333625"/>
            <a:chExt cx="5048250" cy="3219450"/>
          </a:xfrm>
        </p:grpSpPr>
        <p:sp>
          <p:nvSpPr>
            <p:cNvPr id="33" name="Rectangle 33"/>
            <p:cNvSpPr/>
            <p:nvPr/>
          </p:nvSpPr>
          <p:spPr>
            <a:xfrm>
              <a:off x="6238875" y="2333625"/>
              <a:ext cx="5048250" cy="3219450"/>
            </a:xfrm>
            <a:prstGeom prst="roundRect">
              <a:avLst>
                <a:gd name="adj" fmla="val 5325"/>
              </a:avLst>
            </a:prstGeom>
            <a:solidFill>
              <a:srgbClr val="FFFFFF"/>
            </a:solidFill>
            <a:ln w="19050">
              <a:solidFill>
                <a:srgbClr val="8FBAA1"/>
              </a:solidFill>
            </a:ln>
          </p:spPr>
        </p:sp>
        <p:sp>
          <p:nvSpPr>
            <p:cNvPr id="34" name="Rectangle 34"/>
            <p:cNvSpPr/>
            <p:nvPr/>
          </p:nvSpPr>
          <p:spPr>
            <a:xfrm>
              <a:off x="6238875" y="2333625"/>
              <a:ext cx="5048250" cy="781050"/>
            </a:xfrm>
            <a:prstGeom prst="roundRect">
              <a:avLst>
                <a:gd name="adj" fmla="val 21951"/>
              </a:avLst>
            </a:prstGeom>
            <a:solidFill>
              <a:srgbClr val="EAF4EE"/>
            </a:solidFill>
            <a:ln>
              <a:noFill/>
            </a:ln>
          </p:spPr>
        </p:sp>
        <p:sp>
          <p:nvSpPr>
            <p:cNvPr id="35" name="Rectangle 35"/>
            <p:cNvSpPr/>
            <p:nvPr/>
          </p:nvSpPr>
          <p:spPr>
            <a:xfrm>
              <a:off x="6238875" y="2943225"/>
              <a:ext cx="5048250" cy="171450"/>
            </a:xfrm>
            <a:prstGeom prst="rect">
              <a:avLst/>
            </a:prstGeom>
            <a:solidFill>
              <a:srgbClr val="EAF4EE"/>
            </a:solidFill>
            <a:ln>
              <a:noFill/>
            </a:ln>
          </p:spPr>
        </p:sp>
        <p:sp>
          <p:nvSpPr>
            <p:cNvPr id="36" name="TextBox 36"/>
            <p:cNvSpPr txBox="1"/>
            <p:nvPr/>
          </p:nvSpPr>
          <p:spPr>
            <a:xfrm>
              <a:off x="6518148" y="2533650"/>
              <a:ext cx="1742884" cy="250317"/>
            </a:xfrm>
            <a:prstGeom prst="rect">
              <a:avLst/>
            </a:prstGeom>
            <a:noFill/>
            <a:ln>
              <a:noFill/>
            </a:ln>
          </p:spPr>
          <p:txBody>
            <a:bodyPr wrap="none" lIns="0" tIns="0" rIns="0" bIns="0" anchor="t" anchorCtr="0">
              <a:spAutoFit/>
            </a:bodyPr>
            <a:lstStyle/>
            <a:p>
              <a:pPr algn="l"/>
              <a:r>
                <a:rPr lang="en-US" sz="1280" b="1" dirty="0">
                  <a:solidFill>
                    <a:srgbClr val="667085"/>
                  </a:solidFill>
                  <a:latin typeface="Arial" panose="020B0604020202020204"/>
                  <a:ea typeface="Arial" panose="020B0604020202020204"/>
                  <a:cs typeface="Arial" panose="020B0604020202020204"/>
                </a:rPr>
                <a:t>REPRODUCTION 02</a:t>
              </a:r>
              <a:endParaRPr lang="en-US" sz="1280" b="1" dirty="0">
                <a:solidFill>
                  <a:srgbClr val="667085"/>
                </a:solidFill>
                <a:latin typeface="Arial" panose="020B0604020202020204"/>
                <a:ea typeface="Arial" panose="020B0604020202020204"/>
                <a:cs typeface="Arial" panose="020B0604020202020204"/>
              </a:endParaRPr>
            </a:p>
          </p:txBody>
        </p:sp>
        <p:sp>
          <p:nvSpPr>
            <p:cNvPr id="37" name="TextBox 37"/>
            <p:cNvSpPr txBox="1"/>
            <p:nvPr/>
          </p:nvSpPr>
          <p:spPr>
            <a:xfrm>
              <a:off x="6515100" y="2752725"/>
              <a:ext cx="1790649" cy="367665"/>
            </a:xfrm>
            <a:prstGeom prst="rect">
              <a:avLst/>
            </a:prstGeom>
            <a:noFill/>
            <a:ln>
              <a:noFill/>
            </a:ln>
          </p:spPr>
          <p:txBody>
            <a:bodyPr wrap="none" lIns="0" tIns="0" rIns="0" bIns="0" anchor="t" anchorCtr="0">
              <a:spAutoFit/>
            </a:bodyPr>
            <a:lstStyle/>
            <a:p>
              <a:pPr algn="l"/>
              <a:r>
                <a:rPr lang="zh-CN" sz="1880" b="1" dirty="0">
                  <a:solidFill>
                    <a:srgbClr val="005725"/>
                  </a:solidFill>
                  <a:latin typeface="Arial" panose="020B0604020202020204"/>
                  <a:ea typeface="微软雅黑" panose="020B0503020204020204" charset="-122"/>
                  <a:cs typeface="Arial" panose="020B0604020202020204"/>
                </a:rPr>
                <a:t>硬标签本文复现</a:t>
              </a:r>
              <a:endParaRPr lang="zh-CN" sz="1880" b="1" dirty="0">
                <a:solidFill>
                  <a:srgbClr val="005725"/>
                </a:solidFill>
                <a:latin typeface="Arial" panose="020B0604020202020204"/>
                <a:ea typeface="微软雅黑" panose="020B0503020204020204" charset="-122"/>
                <a:cs typeface="Arial" panose="020B0604020202020204"/>
              </a:endParaRPr>
            </a:p>
          </p:txBody>
        </p:sp>
        <p:sp>
          <p:nvSpPr>
            <p:cNvPr id="38" name="Rectangle 38"/>
            <p:cNvSpPr/>
            <p:nvPr/>
          </p:nvSpPr>
          <p:spPr>
            <a:xfrm>
              <a:off x="6524625" y="3352800"/>
              <a:ext cx="4476750" cy="685800"/>
            </a:xfrm>
            <a:prstGeom prst="rect">
              <a:avLst/>
            </a:prstGeom>
            <a:noFill/>
            <a:ln>
              <a:noFill/>
            </a:ln>
          </p:spPr>
        </p:sp>
        <p:sp>
          <p:nvSpPr>
            <p:cNvPr id="39" name="TextBox 39"/>
            <p:cNvSpPr txBox="1"/>
            <p:nvPr/>
          </p:nvSpPr>
          <p:spPr>
            <a:xfrm>
              <a:off x="6514338" y="3384550"/>
              <a:ext cx="3389708" cy="396050"/>
            </a:xfrm>
            <a:prstGeom prst="rect">
              <a:avLst/>
            </a:prstGeom>
            <a:noFill/>
            <a:ln>
              <a:noFill/>
            </a:ln>
          </p:spPr>
          <p:txBody>
            <a:bodyPr wrap="none" lIns="0" tIns="0" rIns="0" bIns="0" anchor="t" anchorCtr="0">
              <a:spAutoFit/>
            </a:bodyPr>
            <a:lstStyle/>
            <a:p>
              <a:pPr algn="l"/>
              <a:r>
                <a:rPr lang="en-US" sz="2020" b="1" dirty="0">
                  <a:solidFill>
                    <a:srgbClr val="262626"/>
                  </a:solidFill>
                  <a:latin typeface="Arial" panose="020B0604020202020204"/>
                  <a:ea typeface="Arial" panose="020B0604020202020204"/>
                  <a:cs typeface="Arial" panose="020B0604020202020204"/>
                </a:rPr>
                <a:t>hard-label-dnn-extraction-</a:t>
              </a:r>
              <a:endParaRPr lang="en-US" sz="2020" b="1" dirty="0">
                <a:solidFill>
                  <a:srgbClr val="262626"/>
                </a:solidFill>
                <a:latin typeface="Arial" panose="020B0604020202020204"/>
                <a:ea typeface="Arial" panose="020B0604020202020204"/>
                <a:cs typeface="Arial" panose="020B0604020202020204"/>
              </a:endParaRPr>
            </a:p>
          </p:txBody>
        </p:sp>
        <p:sp>
          <p:nvSpPr>
            <p:cNvPr id="40" name="TextBox 40"/>
            <p:cNvSpPr txBox="1"/>
            <p:nvPr/>
          </p:nvSpPr>
          <p:spPr>
            <a:xfrm>
              <a:off x="6514338" y="3698875"/>
              <a:ext cx="1697418" cy="396050"/>
            </a:xfrm>
            <a:prstGeom prst="rect">
              <a:avLst/>
            </a:prstGeom>
            <a:noFill/>
            <a:ln>
              <a:noFill/>
            </a:ln>
          </p:spPr>
          <p:txBody>
            <a:bodyPr wrap="none" lIns="0" tIns="0" rIns="0" bIns="0" anchor="t" anchorCtr="0">
              <a:spAutoFit/>
            </a:bodyPr>
            <a:lstStyle/>
            <a:p>
              <a:pPr algn="l"/>
              <a:r>
                <a:rPr lang="en-US" sz="2020" b="1" dirty="0">
                  <a:solidFill>
                    <a:srgbClr val="262626"/>
                  </a:solidFill>
                  <a:latin typeface="Arial" panose="020B0604020202020204"/>
                  <a:ea typeface="Arial" panose="020B0604020202020204"/>
                  <a:cs typeface="Arial" panose="020B0604020202020204"/>
                </a:rPr>
                <a:t>reproduction</a:t>
              </a:r>
              <a:endParaRPr lang="en-US" sz="2020" b="1" dirty="0">
                <a:solidFill>
                  <a:srgbClr val="262626"/>
                </a:solidFill>
                <a:latin typeface="Arial" panose="020B0604020202020204"/>
                <a:ea typeface="Arial" panose="020B0604020202020204"/>
                <a:cs typeface="Arial" panose="020B0604020202020204"/>
              </a:endParaRPr>
            </a:p>
          </p:txBody>
        </p:sp>
        <p:sp>
          <p:nvSpPr>
            <p:cNvPr id="41" name="Rectangle 41"/>
            <p:cNvSpPr/>
            <p:nvPr/>
          </p:nvSpPr>
          <p:spPr>
            <a:xfrm>
              <a:off x="6524625" y="4229100"/>
              <a:ext cx="4476750" cy="933450"/>
            </a:xfrm>
            <a:prstGeom prst="roundRect">
              <a:avLst>
                <a:gd name="adj" fmla="val 12245"/>
              </a:avLst>
            </a:prstGeom>
            <a:solidFill>
              <a:srgbClr val="F3F8F5"/>
            </a:solidFill>
            <a:ln w="14288">
              <a:solidFill>
                <a:srgbClr val="D7E6DD"/>
              </a:solidFill>
            </a:ln>
          </p:spPr>
        </p:sp>
        <p:sp>
          <p:nvSpPr>
            <p:cNvPr id="42" name="TextBox 42"/>
            <p:cNvSpPr txBox="1"/>
            <p:nvPr/>
          </p:nvSpPr>
          <p:spPr>
            <a:xfrm>
              <a:off x="6754749" y="4352925"/>
              <a:ext cx="2226504" cy="308991"/>
            </a:xfrm>
            <a:prstGeom prst="rect">
              <a:avLst/>
            </a:prstGeom>
            <a:noFill/>
            <a:ln>
              <a:noFill/>
            </a:ln>
          </p:spPr>
          <p:txBody>
            <a:bodyPr wrap="none" lIns="0" tIns="0" rIns="0" bIns="0" anchor="t" anchorCtr="0">
              <a:spAutoFit/>
            </a:bodyPr>
            <a:lstStyle/>
            <a:p>
              <a:pPr algn="l"/>
              <a:r>
                <a:rPr lang="en-US" sz="1580" dirty="0">
                  <a:solidFill>
                    <a:srgbClr val="005725"/>
                  </a:solidFill>
                  <a:latin typeface="Arial" panose="020B0604020202020204"/>
                  <a:ea typeface="Arial" panose="020B0604020202020204"/>
                  <a:cs typeface="Arial" panose="020B0604020202020204"/>
                </a:rPr>
                <a:t>https://github.com/rrsty/</a:t>
              </a:r>
              <a:endParaRPr lang="en-US" sz="1580" dirty="0">
                <a:solidFill>
                  <a:srgbClr val="005725"/>
                </a:solidFill>
                <a:latin typeface="Arial" panose="020B0604020202020204"/>
                <a:ea typeface="Arial" panose="020B0604020202020204"/>
                <a:cs typeface="Arial" panose="020B0604020202020204"/>
              </a:endParaRPr>
            </a:p>
          </p:txBody>
        </p:sp>
        <p:sp>
          <p:nvSpPr>
            <p:cNvPr id="43" name="TextBox 43"/>
            <p:cNvSpPr txBox="1"/>
            <p:nvPr/>
          </p:nvSpPr>
          <p:spPr>
            <a:xfrm>
              <a:off x="6755130" y="4695825"/>
              <a:ext cx="3762253" cy="293370"/>
            </a:xfrm>
            <a:prstGeom prst="rect">
              <a:avLst/>
            </a:prstGeom>
            <a:noFill/>
            <a:ln>
              <a:noFill/>
            </a:ln>
          </p:spPr>
          <p:txBody>
            <a:bodyPr wrap="none" lIns="0" tIns="0" rIns="0" bIns="0" anchor="t" anchorCtr="0">
              <a:spAutoFit/>
            </a:bodyPr>
            <a:lstStyle/>
            <a:p>
              <a:pPr algn="l"/>
              <a:r>
                <a:rPr lang="en-US" sz="1500" b="1" dirty="0">
                  <a:solidFill>
                    <a:srgbClr val="005725"/>
                  </a:solidFill>
                  <a:latin typeface="Arial" panose="020B0604020202020204"/>
                  <a:ea typeface="Arial" panose="020B0604020202020204"/>
                  <a:cs typeface="Arial" panose="020B0604020202020204"/>
                </a:rPr>
                <a:t>hard-label-dnn-extraction-reproduction</a:t>
              </a:r>
              <a:endParaRPr lang="en-US" sz="1500" b="1" dirty="0">
                <a:solidFill>
                  <a:srgbClr val="005725"/>
                </a:solidFill>
                <a:latin typeface="Arial" panose="020B0604020202020204"/>
                <a:ea typeface="Arial" panose="020B0604020202020204"/>
                <a:cs typeface="Arial" panose="020B0604020202020204"/>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p:cNvSpPr/>
          <p:nvPr/>
        </p:nvSpPr>
        <p:spPr>
          <a:xfrm>
            <a:off x="3740277" y="2454497"/>
            <a:ext cx="7117175" cy="1198816"/>
          </a:xfrm>
          <a:prstGeom prst="rect">
            <a:avLst/>
          </a:prstGeom>
          <a:noFill/>
          <a:ln>
            <a:noFill/>
          </a:ln>
        </p:spPr>
        <p:txBody>
          <a:bodyPr wrap="none" lIns="68580" tIns="218379" rIns="0" bIns="0" anchor="t" anchorCtr="0">
            <a:noAutofit/>
          </a:bodyPr>
          <a:lstStyle/>
          <a:p>
            <a:pPr algn="l"/>
            <a:r>
              <a:rPr lang="zh-CN" sz="5400" b="1" dirty="0">
                <a:solidFill>
                  <a:srgbClr val="FFFFFF"/>
                </a:solidFill>
                <a:latin typeface="Arial" panose="020B0604020202020204"/>
                <a:ea typeface="微软雅黑" panose="020B0503020204020204" charset="-122"/>
                <a:cs typeface="Arial" panose="020B0604020202020204"/>
              </a:rPr>
              <a:t> 结论与讨论</a:t>
            </a:r>
            <a:endParaRPr lang="zh-CN" sz="5400" b="1" dirty="0">
              <a:solidFill>
                <a:srgbClr val="FFFFFF"/>
              </a:solidFill>
              <a:latin typeface="Arial" panose="020B0604020202020204"/>
              <a:ea typeface="微软雅黑" panose="020B0503020204020204" charset="-122"/>
              <a:cs typeface="Arial" panose="020B0604020202020204"/>
            </a:endParaRPr>
          </a:p>
        </p:txBody>
      </p:sp>
      <p:cxnSp>
        <p:nvCxnSpPr>
          <p:cNvPr id="6" name="直接连接符 5"/>
          <p:cNvCxnSpPr/>
          <p:nvPr/>
        </p:nvCxnSpPr>
        <p:spPr>
          <a:xfrm>
            <a:off x="3810000" y="3699991"/>
            <a:ext cx="6800850"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p:cNvSpPr/>
          <p:nvPr/>
        </p:nvSpPr>
        <p:spPr>
          <a:xfrm>
            <a:off x="1407128" y="2416207"/>
            <a:ext cx="2559082" cy="1568482"/>
          </a:xfrm>
          <a:prstGeom prst="rect">
            <a:avLst/>
          </a:prstGeom>
          <a:noFill/>
          <a:ln>
            <a:noFill/>
          </a:ln>
        </p:spPr>
        <p:txBody>
          <a:bodyPr wrap="none" lIns="91440" tIns="121888" rIns="0" bIns="0" anchor="t" anchorCtr="0">
            <a:noAutofit/>
          </a:bodyPr>
          <a:lstStyle/>
          <a:p>
            <a:pPr algn="l"/>
            <a:r>
              <a:rPr lang="zh-CN" sz="9000" dirty="0">
                <a:solidFill>
                  <a:srgbClr val="FFFFFF"/>
                </a:solidFill>
                <a:latin typeface="Arial Black" panose="020B0A04020102020204"/>
                <a:ea typeface="Arial Black" panose="020B0A04020102020204"/>
                <a:cs typeface="Arial Black" panose="020B0A04020102020204"/>
              </a:rPr>
              <a:t>06</a:t>
            </a:r>
            <a:endParaRPr lang="zh-CN" sz="9000" dirty="0">
              <a:solidFill>
                <a:srgbClr val="FFFFFF"/>
              </a:solidFill>
              <a:latin typeface="Arial Black" panose="020B0A04020102020204"/>
              <a:ea typeface="Arial Black" panose="020B0A04020102020204"/>
              <a:cs typeface="Arial Black" panose="020B0A04020102020204"/>
            </a:endParaRPr>
          </a:p>
        </p:txBody>
      </p:sp>
      <p:grpSp>
        <p:nvGrpSpPr>
          <p:cNvPr id="8" name="组合 7"/>
          <p:cNvGrpSpPr/>
          <p:nvPr/>
        </p:nvGrpSpPr>
        <p:grpSpPr>
          <a:xfrm>
            <a:off x="8832304" y="329276"/>
            <a:ext cx="3171328" cy="906710"/>
            <a:chOff x="4420044" y="1243652"/>
            <a:chExt cx="3986952" cy="1139904"/>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0044" y="1243652"/>
              <a:ext cx="1144482" cy="113990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8709" y="1371339"/>
              <a:ext cx="2167555" cy="596077"/>
            </a:xfrm>
            <a:prstGeom prst="rect">
              <a:avLst/>
            </a:prstGeom>
          </p:spPr>
        </p:pic>
        <p:sp>
          <p:nvSpPr>
            <p:cNvPr id="11" name="文本框 10"/>
            <p:cNvSpPr txBox="1"/>
            <p:nvPr/>
          </p:nvSpPr>
          <p:spPr>
            <a:xfrm>
              <a:off x="5632298" y="1990404"/>
              <a:ext cx="2774698" cy="3563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rPr>
                <a:t>WUHAN UNIVERSITY</a:t>
              </a:r>
              <a:endParaRPr kumimoji="0" lang="zh-CN" altLang="en-US" sz="900" b="1" i="0" u="none" strike="noStrike" kern="1200" cap="none" spc="30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551384" y="5423005"/>
            <a:ext cx="2224567" cy="1127242"/>
            <a:chOff x="760416" y="5730758"/>
            <a:chExt cx="2224567" cy="1127242"/>
          </a:xfrm>
        </p:grpSpPr>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l="25476" t="4127" r="50035" b="1"/>
            <a:stretch>
              <a:fillRect/>
            </a:stretch>
          </p:blipFill>
          <p:spPr>
            <a:xfrm>
              <a:off x="760416" y="5730758"/>
              <a:ext cx="1512168" cy="607163"/>
            </a:xfrm>
            <a:prstGeom prst="rect">
              <a:avLst/>
            </a:prstGeom>
          </p:spPr>
        </p:pic>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l="48799" t="4127" r="24617" b="1"/>
            <a:stretch>
              <a:fillRect/>
            </a:stretch>
          </p:blipFill>
          <p:spPr>
            <a:xfrm>
              <a:off x="1343472" y="6250837"/>
              <a:ext cx="1641511" cy="607163"/>
            </a:xfrm>
            <a:prstGeom prst="rect">
              <a:avLst/>
            </a:prstGeom>
          </p:spPr>
        </p:pic>
      </p:grpSp>
      <p:sp>
        <p:nvSpPr>
          <p:cNvPr id="2" name="灯片编号占位符 1"/>
          <p:cNvSpPr/>
          <p:nvPr>
            <p:ph type="sldNum" sz="quarter" idx="12"/>
          </p:nvPr>
        </p:nvSpPr>
        <p:spPr>
          <a:xfrm>
            <a:off x="8877586" y="6314408"/>
            <a:ext cx="2699956" cy="316802"/>
          </a:xfrm>
          <a:prstGeom prst="rect">
            <a:avLst/>
          </a:prstGeom>
          <a:noFill/>
          <a:ln>
            <a:noFill/>
          </a:ln>
        </p:spPr>
        <p:txBody>
          <a:bodyPr wrap="none" lIns="0" tIns="45712" rIns="91345" bIns="0" anchor="t" anchorCtr="0">
            <a:noAutofit/>
          </a:bodyPr>
          <a:lstStyle/>
          <a:p>
            <a:pPr algn="r"/>
            <a:r>
              <a:rPr lang="zh-CN" sz="1000" dirty="0">
                <a:solidFill>
                  <a:srgbClr val="404040"/>
                </a:solidFill>
                <a:latin typeface="Arial" panose="020B0604020202020204"/>
                <a:ea typeface="Arial" panose="020B0604020202020204"/>
                <a:cs typeface="Arial" panose="020B0604020202020204"/>
              </a:rPr>
              <a:t>26</a:t>
            </a:r>
            <a:endParaRPr lang="zh-CN" sz="100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base"/>
          <p:cNvPicPr>
            <a:picLocks noChangeAspect="1"/>
          </p:cNvPicPr>
          <p:nvPr/>
        </p:nvPicPr>
        <p:blipFill>
          <a:blip r:embed="rId1"/>
          <a:stretch>
            <a:fillRect/>
          </a:stretch>
        </p:blipFill>
        <p:spPr>
          <a:xfrm>
            <a:off x="0" y="0"/>
            <a:ext cx="12192000" cy="6858000"/>
          </a:xfrm>
          <a:prstGeom prst="rect">
            <a:avLst/>
          </a:prstGeom>
        </p:spPr>
      </p:pic>
      <p:pic>
        <p:nvPicPr>
          <p:cNvPr id="3" name="background-style"/>
          <p:cNvPicPr>
            <a:picLocks noChangeAspect="1"/>
          </p:cNvPicPr>
          <p:nvPr/>
        </p:nvPicPr>
        <p:blipFill>
          <a:blip r:embed="rId2"/>
          <a:stretch>
            <a:fillRect/>
          </a:stretch>
        </p:blipFill>
        <p:spPr>
          <a:xfrm>
            <a:off x="49911" y="1905"/>
            <a:ext cx="12192000" cy="6858000"/>
          </a:xfrm>
          <a:prstGeom prst="rect">
            <a:avLst/>
          </a:prstGeom>
        </p:spPr>
      </p:pic>
      <p:pic>
        <p:nvPicPr>
          <p:cNvPr id="4" name="brand-logo"/>
          <p:cNvPicPr>
            <a:picLocks noChangeAspect="1"/>
          </p:cNvPicPr>
          <p:nvPr/>
        </p:nvPicPr>
        <p:blipFill>
          <a:blip r:embed="rId3"/>
          <a:stretch>
            <a:fillRect/>
          </a:stretch>
        </p:blipFill>
        <p:spPr>
          <a:xfrm>
            <a:off x="10375011" y="211264"/>
            <a:ext cx="1512189" cy="481394"/>
          </a:xfrm>
          <a:prstGeom prst="rect">
            <a:avLst/>
          </a:prstGeom>
        </p:spPr>
      </p:pic>
      <p:grpSp>
        <p:nvGrpSpPr>
          <p:cNvPr id="9" name="page-header"/>
          <p:cNvGrpSpPr/>
          <p:nvPr/>
        </p:nvGrpSpPr>
        <p:grpSpPr>
          <a:xfrm>
            <a:off x="0" y="371475"/>
            <a:ext cx="3571875" cy="908558"/>
            <a:chOff x="0" y="371475"/>
            <a:chExt cx="3571875" cy="908558"/>
          </a:xfrm>
        </p:grpSpPr>
        <p:sp>
          <p:nvSpPr>
            <p:cNvPr id="5" name="Rectangle 5"/>
            <p:cNvSpPr/>
            <p:nvPr/>
          </p:nvSpPr>
          <p:spPr>
            <a:xfrm>
              <a:off x="0" y="371475"/>
              <a:ext cx="552450" cy="800100"/>
            </a:xfrm>
            <a:prstGeom prst="rect">
              <a:avLst/>
            </a:prstGeom>
            <a:solidFill>
              <a:srgbClr val="005725"/>
            </a:solidFill>
            <a:ln>
              <a:noFill/>
            </a:ln>
          </p:spPr>
        </p:sp>
        <p:sp>
          <p:nvSpPr>
            <p:cNvPr id="6" name="TextBox 6"/>
            <p:cNvSpPr txBox="1"/>
            <p:nvPr/>
          </p:nvSpPr>
          <p:spPr>
            <a:xfrm>
              <a:off x="864870" y="482600"/>
              <a:ext cx="1961388" cy="440055"/>
            </a:xfrm>
            <a:prstGeom prst="rect">
              <a:avLst/>
            </a:prstGeom>
            <a:noFill/>
            <a:ln>
              <a:noFill/>
            </a:ln>
          </p:spPr>
          <p:txBody>
            <a:bodyPr wrap="none" lIns="0" tIns="0" rIns="0" bIns="0" anchor="t" anchorCtr="0">
              <a:spAutoFit/>
            </a:bodyPr>
            <a:lstStyle/>
            <a:p>
              <a:pPr algn="l"/>
              <a:r>
                <a:rPr lang="zh-CN" sz="2250" dirty="0">
                  <a:solidFill>
                    <a:srgbClr val="000000"/>
                  </a:solidFill>
                  <a:latin typeface="Arial" panose="020B0604020202020204"/>
                  <a:ea typeface="微软雅黑" panose="020B0503020204020204" charset="-122"/>
                  <a:cs typeface="Arial" panose="020B0604020202020204"/>
                </a:rPr>
                <a:t>6. 结论与讨论</a:t>
              </a:r>
              <a:endParaRPr lang="zh-CN" sz="2250" dirty="0">
                <a:solidFill>
                  <a:srgbClr val="000000"/>
                </a:solidFill>
                <a:latin typeface="Arial" panose="020B0604020202020204"/>
                <a:ea typeface="微软雅黑" panose="020B0503020204020204" charset="-122"/>
                <a:cs typeface="Arial" panose="020B0604020202020204"/>
              </a:endParaRPr>
            </a:p>
          </p:txBody>
        </p:sp>
        <p:sp>
          <p:nvSpPr>
            <p:cNvPr id="7" name="Line 7"/>
            <p:cNvSpPr/>
            <p:nvPr/>
          </p:nvSpPr>
          <p:spPr>
            <a:xfrm>
              <a:off x="695325" y="942975"/>
              <a:ext cx="2876550" cy="9525"/>
            </a:xfrm>
            <a:custGeom>
              <a:avLst/>
              <a:gdLst/>
              <a:ahLst/>
              <a:cxnLst/>
              <a:rect l="l" t="t" r="r" b="b"/>
              <a:pathLst>
                <a:path w="2876550" h="9525">
                  <a:moveTo>
                    <a:pt x="0" y="0"/>
                  </a:moveTo>
                  <a:lnTo>
                    <a:pt x="2876550" y="0"/>
                  </a:lnTo>
                </a:path>
              </a:pathLst>
            </a:custGeom>
            <a:noFill/>
            <a:ln w="28575">
              <a:solidFill>
                <a:srgbClr val="005725"/>
              </a:solidFill>
            </a:ln>
          </p:spPr>
        </p:sp>
        <p:sp>
          <p:nvSpPr>
            <p:cNvPr id="8" name="TextBox 8"/>
            <p:cNvSpPr txBox="1"/>
            <p:nvPr/>
          </p:nvSpPr>
          <p:spPr>
            <a:xfrm>
              <a:off x="869442" y="1016000"/>
              <a:ext cx="2237994" cy="264033"/>
            </a:xfrm>
            <a:prstGeom prst="rect">
              <a:avLst/>
            </a:prstGeom>
            <a:noFill/>
            <a:ln>
              <a:noFill/>
            </a:ln>
          </p:spPr>
          <p:txBody>
            <a:bodyPr wrap="none" lIns="0" tIns="0" rIns="0" bIns="0" anchor="t" anchorCtr="0">
              <a:spAutoFit/>
            </a:bodyPr>
            <a:lstStyle/>
            <a:p>
              <a:pPr algn="l"/>
              <a:r>
                <a:rPr lang="en-US" sz="1350" spc="300" dirty="0">
                  <a:solidFill>
                    <a:srgbClr val="000000"/>
                  </a:solidFill>
                  <a:latin typeface="Arial" panose="020B0604020202020204"/>
                  <a:ea typeface="Arial" panose="020B0604020202020204"/>
                  <a:cs typeface="Arial" panose="020B0604020202020204"/>
                </a:rPr>
                <a:t>WUHAN UNIVERSITY</a:t>
              </a:r>
              <a:endParaRPr lang="en-US" sz="1350" spc="300" dirty="0">
                <a:solidFill>
                  <a:srgbClr val="000000"/>
                </a:solidFill>
                <a:latin typeface="Arial" panose="020B0604020202020204"/>
                <a:ea typeface="Arial" panose="020B0604020202020204"/>
                <a:cs typeface="Arial" panose="020B0604020202020204"/>
              </a:endParaRPr>
            </a:p>
          </p:txBody>
        </p:sp>
      </p:grpSp>
      <p:grpSp>
        <p:nvGrpSpPr>
          <p:cNvPr id="26" name="page-body"/>
          <p:cNvGrpSpPr/>
          <p:nvPr>
            <p:custDataLst>
              <p:tags r:id="rId4"/>
            </p:custDataLst>
          </p:nvPr>
        </p:nvGrpSpPr>
        <p:grpSpPr>
          <a:xfrm>
            <a:off x="672846" y="1492250"/>
            <a:ext cx="10833354" cy="4651375"/>
            <a:chOff x="672846" y="1492250"/>
            <a:chExt cx="10833354" cy="4651375"/>
          </a:xfrm>
        </p:grpSpPr>
        <p:sp>
          <p:nvSpPr>
            <p:cNvPr id="10" name="TextBox 10"/>
            <p:cNvSpPr txBox="1"/>
            <p:nvPr/>
          </p:nvSpPr>
          <p:spPr>
            <a:xfrm>
              <a:off x="672846" y="1492250"/>
              <a:ext cx="7234809" cy="498729"/>
            </a:xfrm>
            <a:prstGeom prst="rect">
              <a:avLst/>
            </a:prstGeom>
            <a:noFill/>
            <a:ln>
              <a:noFill/>
            </a:ln>
          </p:spPr>
          <p:txBody>
            <a:bodyPr wrap="none" lIns="0" tIns="0" rIns="0" bIns="0" anchor="t" anchorCtr="0">
              <a:spAutoFit/>
            </a:bodyPr>
            <a:lstStyle/>
            <a:p>
              <a:pPr algn="l"/>
              <a:r>
                <a:rPr lang="zh-CN" sz="2550" b="1" dirty="0">
                  <a:solidFill>
                    <a:srgbClr val="005725"/>
                  </a:solidFill>
                  <a:latin typeface="Arial" panose="020B0604020202020204"/>
                  <a:ea typeface="微软雅黑" panose="020B0503020204020204" charset="-122"/>
                  <a:cs typeface="Arial" panose="020B0604020202020204"/>
                </a:rPr>
                <a:t>结论：硬标签隐藏了数值，却没有抹去几何结构</a:t>
              </a:r>
              <a:endParaRPr lang="zh-CN" sz="2550" b="1" dirty="0">
                <a:solidFill>
                  <a:srgbClr val="005725"/>
                </a:solidFill>
                <a:latin typeface="Arial" panose="020B0604020202020204"/>
                <a:ea typeface="微软雅黑" panose="020B0503020204020204" charset="-122"/>
                <a:cs typeface="Arial" panose="020B0604020202020204"/>
              </a:endParaRPr>
            </a:p>
          </p:txBody>
        </p:sp>
        <p:sp>
          <p:nvSpPr>
            <p:cNvPr id="11" name="Rectangle 11"/>
            <p:cNvSpPr/>
            <p:nvPr>
              <p:custDataLst>
                <p:tags r:id="rId5"/>
              </p:custDataLst>
            </p:nvPr>
          </p:nvSpPr>
          <p:spPr>
            <a:xfrm>
              <a:off x="685800" y="2266950"/>
              <a:ext cx="3295650" cy="2571750"/>
            </a:xfrm>
            <a:prstGeom prst="roundRect">
              <a:avLst>
                <a:gd name="adj" fmla="val 4444"/>
              </a:avLst>
            </a:prstGeom>
            <a:solidFill>
              <a:srgbClr val="FFFFFF"/>
            </a:solidFill>
            <a:ln w="19050">
              <a:solidFill>
                <a:srgbClr val="9FC4AD"/>
              </a:solidFill>
            </a:ln>
          </p:spPr>
        </p:sp>
        <p:sp>
          <p:nvSpPr>
            <p:cNvPr id="12" name="TextBox 12"/>
            <p:cNvSpPr txBox="1"/>
            <p:nvPr>
              <p:custDataLst>
                <p:tags r:id="rId6"/>
              </p:custDataLst>
            </p:nvPr>
          </p:nvSpPr>
          <p:spPr>
            <a:xfrm>
              <a:off x="955548" y="2368550"/>
              <a:ext cx="276895" cy="616077"/>
            </a:xfrm>
            <a:prstGeom prst="rect">
              <a:avLst/>
            </a:prstGeom>
            <a:noFill/>
            <a:ln>
              <a:noFill/>
            </a:ln>
          </p:spPr>
          <p:txBody>
            <a:bodyPr wrap="none" lIns="0" tIns="0" rIns="0" bIns="0" anchor="t" anchorCtr="0">
              <a:spAutoFit/>
            </a:bodyPr>
            <a:lstStyle/>
            <a:p>
              <a:pPr algn="l"/>
              <a:r>
                <a:rPr lang="zh-CN" sz="3150" b="1" dirty="0">
                  <a:solidFill>
                    <a:srgbClr val="005725"/>
                  </a:solidFill>
                  <a:latin typeface="Arial" panose="020B0604020202020204"/>
                  <a:ea typeface="Arial" panose="020B0604020202020204"/>
                  <a:cs typeface="Arial" panose="020B0604020202020204"/>
                </a:rPr>
                <a:t>1</a:t>
              </a:r>
              <a:endParaRPr lang="zh-CN" sz="3150" b="1" dirty="0">
                <a:solidFill>
                  <a:srgbClr val="005725"/>
                </a:solidFill>
                <a:latin typeface="Arial" panose="020B0604020202020204"/>
                <a:ea typeface="Arial" panose="020B0604020202020204"/>
                <a:cs typeface="Arial" panose="020B0604020202020204"/>
              </a:endParaRPr>
            </a:p>
          </p:txBody>
        </p:sp>
        <p:sp>
          <p:nvSpPr>
            <p:cNvPr id="13" name="TextBox 13"/>
            <p:cNvSpPr txBox="1"/>
            <p:nvPr>
              <p:custDataLst>
                <p:tags r:id="rId7"/>
              </p:custDataLst>
            </p:nvPr>
          </p:nvSpPr>
          <p:spPr>
            <a:xfrm>
              <a:off x="1533525" y="2495550"/>
              <a:ext cx="1031392" cy="367665"/>
            </a:xfrm>
            <a:prstGeom prst="rect">
              <a:avLst/>
            </a:prstGeom>
            <a:noFill/>
            <a:ln>
              <a:noFill/>
            </a:ln>
          </p:spPr>
          <p:txBody>
            <a:bodyPr wrap="none" lIns="0" tIns="0" rIns="0" bIns="0" anchor="t" anchorCtr="0">
              <a:spAutoFit/>
            </a:bodyPr>
            <a:lstStyle/>
            <a:p>
              <a:pPr algn="l"/>
              <a:r>
                <a:rPr lang="zh-CN" sz="1880" b="1" dirty="0">
                  <a:solidFill>
                    <a:srgbClr val="005725"/>
                  </a:solidFill>
                  <a:latin typeface="Arial" panose="020B0604020202020204"/>
                  <a:ea typeface="微软雅黑" panose="020B0503020204020204" charset="-122"/>
                  <a:cs typeface="Arial" panose="020B0604020202020204"/>
                </a:rPr>
                <a:t>几何突破</a:t>
              </a:r>
              <a:endParaRPr lang="zh-CN" sz="1880" b="1" dirty="0">
                <a:solidFill>
                  <a:srgbClr val="005725"/>
                </a:solidFill>
                <a:latin typeface="Arial" panose="020B0604020202020204"/>
                <a:ea typeface="微软雅黑" panose="020B0503020204020204" charset="-122"/>
                <a:cs typeface="Arial" panose="020B0604020202020204"/>
              </a:endParaRPr>
            </a:p>
          </p:txBody>
        </p:sp>
        <p:sp>
          <p:nvSpPr>
            <p:cNvPr id="14" name="TextBox 14"/>
            <p:cNvSpPr txBox="1"/>
            <p:nvPr>
              <p:custDataLst>
                <p:tags r:id="rId8"/>
              </p:custDataLst>
            </p:nvPr>
          </p:nvSpPr>
          <p:spPr>
            <a:xfrm>
              <a:off x="963930" y="3079750"/>
              <a:ext cx="1714500" cy="98044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对偶点把隐藏临界面</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转化为可观察的</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边界方向变化。</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5" name="Rectangle 15"/>
            <p:cNvSpPr/>
            <p:nvPr>
              <p:custDataLst>
                <p:tags r:id="rId9"/>
              </p:custDataLst>
            </p:nvPr>
          </p:nvSpPr>
          <p:spPr>
            <a:xfrm>
              <a:off x="4448175" y="2266950"/>
              <a:ext cx="3295650" cy="2571750"/>
            </a:xfrm>
            <a:prstGeom prst="roundRect">
              <a:avLst>
                <a:gd name="adj" fmla="val 4444"/>
              </a:avLst>
            </a:prstGeom>
            <a:solidFill>
              <a:srgbClr val="FFFFFF"/>
            </a:solidFill>
            <a:ln w="19050">
              <a:solidFill>
                <a:srgbClr val="9FC4AD"/>
              </a:solidFill>
            </a:ln>
          </p:spPr>
        </p:sp>
        <p:sp>
          <p:nvSpPr>
            <p:cNvPr id="16" name="TextBox 16"/>
            <p:cNvSpPr txBox="1"/>
            <p:nvPr>
              <p:custDataLst>
                <p:tags r:id="rId10"/>
              </p:custDataLst>
            </p:nvPr>
          </p:nvSpPr>
          <p:spPr>
            <a:xfrm>
              <a:off x="4717923" y="2368550"/>
              <a:ext cx="276895" cy="616077"/>
            </a:xfrm>
            <a:prstGeom prst="rect">
              <a:avLst/>
            </a:prstGeom>
            <a:noFill/>
            <a:ln>
              <a:noFill/>
            </a:ln>
          </p:spPr>
          <p:txBody>
            <a:bodyPr wrap="none" lIns="0" tIns="0" rIns="0" bIns="0" anchor="t" anchorCtr="0">
              <a:spAutoFit/>
            </a:bodyPr>
            <a:lstStyle/>
            <a:p>
              <a:pPr algn="l"/>
              <a:r>
                <a:rPr lang="zh-CN" sz="3150" b="1" dirty="0">
                  <a:solidFill>
                    <a:srgbClr val="005725"/>
                  </a:solidFill>
                  <a:latin typeface="Arial" panose="020B0604020202020204"/>
                  <a:ea typeface="Arial" panose="020B0604020202020204"/>
                  <a:cs typeface="Arial" panose="020B0604020202020204"/>
                </a:rPr>
                <a:t>2</a:t>
              </a:r>
              <a:endParaRPr lang="zh-CN" sz="3150" b="1" dirty="0">
                <a:solidFill>
                  <a:srgbClr val="005725"/>
                </a:solidFill>
                <a:latin typeface="Arial" panose="020B0604020202020204"/>
                <a:ea typeface="Arial" panose="020B0604020202020204"/>
                <a:cs typeface="Arial" panose="020B0604020202020204"/>
              </a:endParaRPr>
            </a:p>
          </p:txBody>
        </p:sp>
        <p:sp>
          <p:nvSpPr>
            <p:cNvPr id="17" name="TextBox 17"/>
            <p:cNvSpPr txBox="1"/>
            <p:nvPr>
              <p:custDataLst>
                <p:tags r:id="rId11"/>
              </p:custDataLst>
            </p:nvPr>
          </p:nvSpPr>
          <p:spPr>
            <a:xfrm>
              <a:off x="5295900" y="2495550"/>
              <a:ext cx="1284478" cy="367665"/>
            </a:xfrm>
            <a:prstGeom prst="rect">
              <a:avLst/>
            </a:prstGeom>
            <a:noFill/>
            <a:ln>
              <a:noFill/>
            </a:ln>
          </p:spPr>
          <p:txBody>
            <a:bodyPr wrap="none" lIns="0" tIns="0" rIns="0" bIns="0" anchor="t" anchorCtr="0">
              <a:spAutoFit/>
            </a:bodyPr>
            <a:lstStyle/>
            <a:p>
              <a:pPr algn="l"/>
              <a:r>
                <a:rPr lang="zh-CN" sz="1880" b="1" dirty="0">
                  <a:solidFill>
                    <a:srgbClr val="005725"/>
                  </a:solidFill>
                  <a:latin typeface="Arial" panose="020B0604020202020204"/>
                  <a:ea typeface="微软雅黑" panose="020B0503020204020204" charset="-122"/>
                  <a:cs typeface="Arial" panose="020B0604020202020204"/>
                </a:rPr>
                <a:t>复杂度突破</a:t>
              </a:r>
              <a:endParaRPr lang="zh-CN" sz="1880" b="1" dirty="0">
                <a:solidFill>
                  <a:srgbClr val="005725"/>
                </a:solidFill>
                <a:latin typeface="Arial" panose="020B0604020202020204"/>
                <a:ea typeface="微软雅黑" panose="020B0503020204020204" charset="-122"/>
                <a:cs typeface="Arial" panose="020B0604020202020204"/>
              </a:endParaRPr>
            </a:p>
          </p:txBody>
        </p:sp>
        <p:sp>
          <p:nvSpPr>
            <p:cNvPr id="18" name="TextBox 18"/>
            <p:cNvSpPr txBox="1"/>
            <p:nvPr>
              <p:custDataLst>
                <p:tags r:id="rId12"/>
              </p:custDataLst>
            </p:nvPr>
          </p:nvSpPr>
          <p:spPr>
            <a:xfrm>
              <a:off x="4726305" y="3079750"/>
              <a:ext cx="1539240" cy="94107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签名聚类与统计</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符号恢复，将指数</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枚举降为多项式。</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19" name="Rectangle 19"/>
            <p:cNvSpPr/>
            <p:nvPr>
              <p:custDataLst>
                <p:tags r:id="rId13"/>
              </p:custDataLst>
            </p:nvPr>
          </p:nvSpPr>
          <p:spPr>
            <a:xfrm>
              <a:off x="8210550" y="2266950"/>
              <a:ext cx="3295650" cy="2571750"/>
            </a:xfrm>
            <a:prstGeom prst="roundRect">
              <a:avLst>
                <a:gd name="adj" fmla="val 4444"/>
              </a:avLst>
            </a:prstGeom>
            <a:solidFill>
              <a:srgbClr val="FFFFFF"/>
            </a:solidFill>
            <a:ln w="19050">
              <a:solidFill>
                <a:srgbClr val="9FC4AD"/>
              </a:solidFill>
            </a:ln>
          </p:spPr>
        </p:sp>
        <p:sp>
          <p:nvSpPr>
            <p:cNvPr id="20" name="TextBox 20"/>
            <p:cNvSpPr txBox="1"/>
            <p:nvPr>
              <p:custDataLst>
                <p:tags r:id="rId14"/>
              </p:custDataLst>
            </p:nvPr>
          </p:nvSpPr>
          <p:spPr>
            <a:xfrm>
              <a:off x="8480298" y="2368550"/>
              <a:ext cx="276895" cy="616077"/>
            </a:xfrm>
            <a:prstGeom prst="rect">
              <a:avLst/>
            </a:prstGeom>
            <a:noFill/>
            <a:ln>
              <a:noFill/>
            </a:ln>
          </p:spPr>
          <p:txBody>
            <a:bodyPr wrap="none" lIns="0" tIns="0" rIns="0" bIns="0" anchor="t" anchorCtr="0">
              <a:spAutoFit/>
            </a:bodyPr>
            <a:lstStyle/>
            <a:p>
              <a:pPr algn="l"/>
              <a:r>
                <a:rPr lang="zh-CN" sz="3150" b="1" dirty="0">
                  <a:solidFill>
                    <a:srgbClr val="005725"/>
                  </a:solidFill>
                  <a:latin typeface="Arial" panose="020B0604020202020204"/>
                  <a:ea typeface="Arial" panose="020B0604020202020204"/>
                  <a:cs typeface="Arial" panose="020B0604020202020204"/>
                </a:rPr>
                <a:t>3</a:t>
              </a:r>
              <a:endParaRPr lang="zh-CN" sz="3150" b="1" dirty="0">
                <a:solidFill>
                  <a:srgbClr val="005725"/>
                </a:solidFill>
                <a:latin typeface="Arial" panose="020B0604020202020204"/>
                <a:ea typeface="Arial" panose="020B0604020202020204"/>
                <a:cs typeface="Arial" panose="020B0604020202020204"/>
              </a:endParaRPr>
            </a:p>
          </p:txBody>
        </p:sp>
        <p:sp>
          <p:nvSpPr>
            <p:cNvPr id="21" name="TextBox 21"/>
            <p:cNvSpPr txBox="1"/>
            <p:nvPr>
              <p:custDataLst>
                <p:tags r:id="rId15"/>
              </p:custDataLst>
            </p:nvPr>
          </p:nvSpPr>
          <p:spPr>
            <a:xfrm>
              <a:off x="9058275" y="2495550"/>
              <a:ext cx="1031392" cy="367665"/>
            </a:xfrm>
            <a:prstGeom prst="rect">
              <a:avLst/>
            </a:prstGeom>
            <a:noFill/>
            <a:ln>
              <a:noFill/>
            </a:ln>
          </p:spPr>
          <p:txBody>
            <a:bodyPr wrap="none" lIns="0" tIns="0" rIns="0" bIns="0" anchor="t" anchorCtr="0">
              <a:spAutoFit/>
            </a:bodyPr>
            <a:lstStyle/>
            <a:p>
              <a:pPr algn="l"/>
              <a:r>
                <a:rPr lang="zh-CN" sz="1880" b="1" dirty="0">
                  <a:solidFill>
                    <a:srgbClr val="005725"/>
                  </a:solidFill>
                  <a:latin typeface="Arial" panose="020B0604020202020204"/>
                  <a:ea typeface="微软雅黑" panose="020B0503020204020204" charset="-122"/>
                  <a:cs typeface="Arial" panose="020B0604020202020204"/>
                </a:rPr>
                <a:t>安全判断</a:t>
              </a:r>
              <a:endParaRPr lang="zh-CN" sz="1880" b="1" dirty="0">
                <a:solidFill>
                  <a:srgbClr val="005725"/>
                </a:solidFill>
                <a:latin typeface="Arial" panose="020B0604020202020204"/>
                <a:ea typeface="微软雅黑" panose="020B0503020204020204" charset="-122"/>
                <a:cs typeface="Arial" panose="020B0604020202020204"/>
              </a:endParaRPr>
            </a:p>
          </p:txBody>
        </p:sp>
        <p:sp>
          <p:nvSpPr>
            <p:cNvPr id="22" name="TextBox 22"/>
            <p:cNvSpPr txBox="1"/>
            <p:nvPr>
              <p:custDataLst>
                <p:tags r:id="rId16"/>
              </p:custDataLst>
            </p:nvPr>
          </p:nvSpPr>
          <p:spPr>
            <a:xfrm>
              <a:off x="8488680" y="3079750"/>
              <a:ext cx="2025015" cy="941070"/>
            </a:xfrm>
            <a:prstGeom prst="rect">
              <a:avLst/>
            </a:prstGeom>
            <a:noFill/>
            <a:ln>
              <a:noFill/>
            </a:ln>
          </p:spPr>
          <p:txBody>
            <a:bodyPr wrap="none" lIns="0" tIns="0" rIns="0" bIns="0" anchor="t" anchorCtr="0">
              <a:spAutoFit/>
            </a:bodyPr>
            <a:lstStyle/>
            <a:p>
              <a:pPr algn="l">
                <a:lnSpc>
                  <a:spcPts val="2550"/>
                </a:lnSpc>
              </a:pPr>
              <a:r>
                <a:rPr lang="zh-CN" sz="1500" dirty="0">
                  <a:solidFill>
                    <a:srgbClr val="262626"/>
                  </a:solidFill>
                  <a:latin typeface="Arial" panose="020B0604020202020204"/>
                  <a:ea typeface="微软雅黑" panose="020B0503020204020204" charset="-122"/>
                  <a:cs typeface="Arial" panose="020B0604020202020204"/>
                </a:rPr>
                <a:t>理论意义目前大于</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直接部署性，但“只返</a:t>
              </a:r>
              <a:br>
                <a:rPr lang="zh-CN" sz="1500" dirty="0">
                  <a:solidFill>
                    <a:srgbClr val="262626"/>
                  </a:solidFill>
                  <a:latin typeface="Arial" panose="020B0604020202020204"/>
                  <a:ea typeface="微软雅黑" panose="020B0503020204020204" charset="-122"/>
                  <a:cs typeface="Arial" panose="020B0604020202020204"/>
                </a:rPr>
              </a:br>
              <a:r>
                <a:rPr lang="zh-CN" sz="1500" dirty="0">
                  <a:solidFill>
                    <a:srgbClr val="262626"/>
                  </a:solidFill>
                  <a:latin typeface="Arial" panose="020B0604020202020204"/>
                  <a:ea typeface="微软雅黑" panose="020B0503020204020204" charset="-122"/>
                  <a:cs typeface="Arial" panose="020B0604020202020204"/>
                </a:rPr>
                <a:t>回类别即安全”不成立。</a:t>
              </a:r>
              <a:endParaRPr lang="zh-CN" sz="1500" dirty="0">
                <a:solidFill>
                  <a:srgbClr val="262626"/>
                </a:solidFill>
                <a:latin typeface="Arial" panose="020B0604020202020204"/>
                <a:ea typeface="微软雅黑" panose="020B0503020204020204" charset="-122"/>
                <a:cs typeface="Arial" panose="020B0604020202020204"/>
              </a:endParaRPr>
            </a:p>
          </p:txBody>
        </p:sp>
        <p:sp>
          <p:nvSpPr>
            <p:cNvPr id="23" name="Rectangle 23"/>
            <p:cNvSpPr/>
            <p:nvPr/>
          </p:nvSpPr>
          <p:spPr>
            <a:xfrm>
              <a:off x="685800" y="5191125"/>
              <a:ext cx="10820400" cy="952500"/>
            </a:xfrm>
            <a:prstGeom prst="roundRect">
              <a:avLst>
                <a:gd name="adj" fmla="val 10000"/>
              </a:avLst>
            </a:prstGeom>
            <a:solidFill>
              <a:srgbClr val="EAF4EE"/>
            </a:solidFill>
            <a:ln w="14288">
              <a:solidFill>
                <a:srgbClr val="8FBAA1"/>
              </a:solidFill>
            </a:ln>
          </p:spPr>
        </p:sp>
        <p:sp>
          <p:nvSpPr>
            <p:cNvPr id="24" name="TextBox 24"/>
            <p:cNvSpPr txBox="1"/>
            <p:nvPr/>
          </p:nvSpPr>
          <p:spPr>
            <a:xfrm>
              <a:off x="962787" y="5346700"/>
              <a:ext cx="943712" cy="337376"/>
            </a:xfrm>
            <a:prstGeom prst="rect">
              <a:avLst/>
            </a:prstGeom>
            <a:noFill/>
            <a:ln>
              <a:noFill/>
            </a:ln>
          </p:spPr>
          <p:txBody>
            <a:bodyPr wrap="none" lIns="0" tIns="0" rIns="0" bIns="0" anchor="t" anchorCtr="0">
              <a:spAutoFit/>
            </a:bodyPr>
            <a:lstStyle/>
            <a:p>
              <a:pPr algn="l"/>
              <a:r>
                <a:rPr lang="zh-CN" sz="1720" b="1" dirty="0">
                  <a:solidFill>
                    <a:srgbClr val="005725"/>
                  </a:solidFill>
                  <a:latin typeface="Arial" panose="020B0604020202020204"/>
                  <a:ea typeface="微软雅黑" panose="020B0503020204020204" charset="-122"/>
                  <a:cs typeface="Arial" panose="020B0604020202020204"/>
                </a:rPr>
                <a:t>讨论问题</a:t>
              </a:r>
              <a:endParaRPr lang="zh-CN" sz="1720" b="1" dirty="0">
                <a:solidFill>
                  <a:srgbClr val="005725"/>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2564892" y="5260975"/>
              <a:ext cx="4274248" cy="587883"/>
            </a:xfrm>
            <a:prstGeom prst="rect">
              <a:avLst/>
            </a:prstGeom>
            <a:noFill/>
            <a:ln>
              <a:noFill/>
            </a:ln>
          </p:spPr>
          <p:txBody>
            <a:bodyPr wrap="none" lIns="0" tIns="0" rIns="0" bIns="0" anchor="t" anchorCtr="0">
              <a:spAutoFit/>
            </a:bodyPr>
            <a:lstStyle/>
            <a:p>
              <a:pPr algn="l">
                <a:lnSpc>
                  <a:spcPts val="2550"/>
                </a:lnSpc>
              </a:pPr>
              <a:r>
                <a:rPr lang="zh-CN" sz="1350" dirty="0">
                  <a:solidFill>
                    <a:srgbClr val="262626"/>
                  </a:solidFill>
                  <a:latin typeface="Arial" panose="020B0604020202020204"/>
                  <a:ea typeface="微软雅黑" panose="020B0503020204020204" charset="-122"/>
                  <a:cs typeface="Arial" panose="020B0604020202020204"/>
                </a:rPr>
                <a:t>① 输入约束、边界量化或随机标签会怎样改变理论保证？</a:t>
              </a:r>
              <a:br>
                <a:rPr lang="zh-CN" sz="1350" dirty="0">
                  <a:solidFill>
                    <a:srgbClr val="262626"/>
                  </a:solidFill>
                  <a:latin typeface="Arial" panose="020B0604020202020204"/>
                  <a:ea typeface="微软雅黑" panose="020B0503020204020204" charset="-122"/>
                  <a:cs typeface="Arial" panose="020B0604020202020204"/>
                </a:rPr>
              </a:br>
              <a:r>
                <a:rPr lang="zh-CN" sz="1350" dirty="0">
                  <a:solidFill>
                    <a:srgbClr val="262626"/>
                  </a:solidFill>
                  <a:latin typeface="Arial" panose="020B0604020202020204"/>
                  <a:ea typeface="微软雅黑" panose="020B0503020204020204" charset="-122"/>
                  <a:cs typeface="Arial" panose="020B0604020202020204"/>
                </a:rPr>
                <a:t>② 方法能否扩展到卷积、残差网络或更大规模模型？</a:t>
              </a:r>
              <a:endParaRPr lang="zh-CN" sz="1350" dirty="0">
                <a:solidFill>
                  <a:srgbClr val="262626"/>
                </a:solidFill>
                <a:latin typeface="Arial" panose="020B0604020202020204"/>
                <a:ea typeface="微软雅黑" panose="020B0503020204020204" charset="-122"/>
                <a:cs typeface="Arial" panose="020B0604020202020204"/>
              </a:endParaRPr>
            </a:p>
          </p:txBody>
        </p:sp>
      </p:grpSp>
      <p:sp>
        <p:nvSpPr>
          <p:cNvPr id="27" name="TextBox 27"/>
          <p:cNvSpPr/>
          <p:nvPr/>
        </p:nvSpPr>
        <p:spPr>
          <a:xfrm>
            <a:off x="11337036" y="6359557"/>
            <a:ext cx="155067" cy="191643"/>
          </a:xfrm>
          <a:prstGeom prst="rect">
            <a:avLst/>
          </a:prstGeom>
          <a:noFill/>
          <a:ln>
            <a:noFill/>
          </a:ln>
        </p:spPr>
        <p:txBody>
          <a:bodyPr wrap="none" lIns="0" tIns="-32" rIns="0" bIns="0" anchor="t" anchorCtr="0">
            <a:noAutofit/>
          </a:bodyPr>
          <a:lstStyle/>
          <a:p>
            <a:pPr algn="r"/>
            <a:r>
              <a:rPr lang="zh-CN" sz="980" dirty="0">
                <a:solidFill>
                  <a:srgbClr val="404040"/>
                </a:solidFill>
                <a:latin typeface="Arial" panose="020B0604020202020204"/>
                <a:ea typeface="Arial" panose="020B0604020202020204"/>
                <a:cs typeface="Arial" panose="020B0604020202020204"/>
              </a:rPr>
              <a:t>27</a:t>
            </a:r>
            <a:endParaRPr lang="zh-CN" sz="980" dirty="0">
              <a:solidFill>
                <a:srgbClr val="404040"/>
              </a:solidFill>
              <a:latin typeface="Arial" panose="020B0604020202020204"/>
              <a:ea typeface="Arial" panose="020B0604020202020204"/>
              <a:cs typeface="Arial" panose="020B0604020202020204"/>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356.5,&quot;left&quot;:52.98,&quot;top&quot;:118.25,&quot;width&quot;:853.0200000000001}"/>
</p:tagLst>
</file>

<file path=ppt/tags/tag64.xml><?xml version="1.0" encoding="utf-8"?>
<p:tagLst xmlns:p="http://schemas.openxmlformats.org/presentationml/2006/main">
  <p:tag name="KSO_WM_DIAGRAM_VIRTUALLY_FRAME" val="{&quot;height&quot;:356.5,&quot;left&quot;:52.98,&quot;top&quot;:118.25,&quot;width&quot;:853.0200000000001}"/>
</p:tagLst>
</file>

<file path=ppt/tags/tag65.xml><?xml version="1.0" encoding="utf-8"?>
<p:tagLst xmlns:p="http://schemas.openxmlformats.org/presentationml/2006/main">
  <p:tag name="KSO_WM_DIAGRAM_VIRTUALLY_FRAME" val="{&quot;height&quot;:356.5,&quot;left&quot;:52.98,&quot;top&quot;:118.25,&quot;width&quot;:853.0200000000001}"/>
</p:tagLst>
</file>

<file path=ppt/tags/tag66.xml><?xml version="1.0" encoding="utf-8"?>
<p:tagLst xmlns:p="http://schemas.openxmlformats.org/presentationml/2006/main">
  <p:tag name="KSO_WM_DIAGRAM_VIRTUALLY_FRAME" val="{&quot;height&quot;:356.5,&quot;left&quot;:52.98,&quot;top&quot;:118.25,&quot;width&quot;:853.0200000000001}"/>
</p:tagLst>
</file>

<file path=ppt/tags/tag67.xml><?xml version="1.0" encoding="utf-8"?>
<p:tagLst xmlns:p="http://schemas.openxmlformats.org/presentationml/2006/main">
  <p:tag name="KSO_WM_DIAGRAM_VIRTUALLY_FRAME" val="{&quot;height&quot;:356.5,&quot;left&quot;:52.98,&quot;top&quot;:118.25,&quot;width&quot;:853.0200000000001}"/>
</p:tagLst>
</file>

<file path=ppt/tags/tag68.xml><?xml version="1.0" encoding="utf-8"?>
<p:tagLst xmlns:p="http://schemas.openxmlformats.org/presentationml/2006/main">
  <p:tag name="KSO_WM_DIAGRAM_VIRTUALLY_FRAME" val="{&quot;height&quot;:356.5,&quot;left&quot;:52.98,&quot;top&quot;:118.25,&quot;width&quot;:853.0200000000001}"/>
</p:tagLst>
</file>

<file path=ppt/tags/tag69.xml><?xml version="1.0" encoding="utf-8"?>
<p:tagLst xmlns:p="http://schemas.openxmlformats.org/presentationml/2006/main">
  <p:tag name="KSO_WM_DIAGRAM_VIRTUALLY_FRAME" val="{&quot;height&quot;:356.5,&quot;left&quot;:52.98,&quot;top&quot;:118.25,&quot;width&quot;:853.0200000000001}"/>
</p:tagLst>
</file>

<file path=ppt/tags/tag70.xml><?xml version="1.0" encoding="utf-8"?>
<p:tagLst xmlns:p="http://schemas.openxmlformats.org/presentationml/2006/main">
  <p:tag name="KSO_WM_DIAGRAM_VIRTUALLY_FRAME" val="{&quot;height&quot;:356.5,&quot;left&quot;:52.98,&quot;top&quot;:118.25,&quot;width&quot;:853.0200000000001}"/>
</p:tagLst>
</file>

<file path=ppt/tags/tag71.xml><?xml version="1.0" encoding="utf-8"?>
<p:tagLst xmlns:p="http://schemas.openxmlformats.org/presentationml/2006/main">
  <p:tag name="KSO_WM_DIAGRAM_VIRTUALLY_FRAME" val="{&quot;height&quot;:356.5,&quot;left&quot;:52.98,&quot;top&quot;:118.25,&quot;width&quot;:853.0200000000001}"/>
</p:tagLst>
</file>

<file path=ppt/tags/tag72.xml><?xml version="1.0" encoding="utf-8"?>
<p:tagLst xmlns:p="http://schemas.openxmlformats.org/presentationml/2006/main">
  <p:tag name="KSO_WM_DIAGRAM_VIRTUALLY_FRAME" val="{&quot;height&quot;:356.5,&quot;left&quot;:52.98,&quot;top&quot;:118.25,&quot;width&quot;:853.0200000000001}"/>
</p:tagLst>
</file>

<file path=ppt/tags/tag73.xml><?xml version="1.0" encoding="utf-8"?>
<p:tagLst xmlns:p="http://schemas.openxmlformats.org/presentationml/2006/main">
  <p:tag name="KSO_WM_DIAGRAM_VIRTUALLY_FRAME" val="{&quot;height&quot;:356.5,&quot;left&quot;:52.98,&quot;top&quot;:118.25,&quot;width&quot;:853.0200000000001}"/>
</p:tagLst>
</file>

<file path=ppt/tags/tag74.xml><?xml version="1.0" encoding="utf-8"?>
<p:tagLst xmlns:p="http://schemas.openxmlformats.org/presentationml/2006/main">
  <p:tag name="KSO_WM_DIAGRAM_VIRTUALLY_FRAME" val="{&quot;height&quot;:356.5,&quot;left&quot;:52.98,&quot;top&quot;:118.25,&quot;width&quot;:853.0200000000001}"/>
</p:tagLst>
</file>

<file path=ppt/tags/tag75.xml><?xml version="1.0" encoding="utf-8"?>
<p:tagLst xmlns:p="http://schemas.openxmlformats.org/presentationml/2006/main">
  <p:tag name="KSO_WM_DIAGRAM_VIRTUALLY_FRAME" val="{&quot;height&quot;:356.5,&quot;left&quot;:52.98,&quot;top&quot;:118.25,&quot;width&quot;:853.0200000000001}"/>
</p:tagLst>
</file>

<file path=ppt/tags/tag76.xml><?xml version="1.0" encoding="utf-8"?>
<p:tagLst xmlns:p="http://schemas.openxmlformats.org/presentationml/2006/main">
  <p:tag name="KSO_WM_DIAGRAM_VIRTUALLY_FRAME" val="{&quot;height&quot;:356.5,&quot;left&quot;:52.98,&quot;top&quot;:118.25,&quot;width&quot;:853.0200000000001}"/>
</p:tagLst>
</file>

<file path=ppt/tags/tag77.xml><?xml version="1.0" encoding="utf-8"?>
<p:tagLst xmlns:p="http://schemas.openxmlformats.org/presentationml/2006/main">
  <p:tag name="KSO_WM_DIAGRAM_VIRTUALLY_FRAME" val="{&quot;height&quot;:356.5,&quot;left&quot;:52.98,&quot;top&quot;:118.25,&quot;width&quot;:853.0200000000001}"/>
</p:tagLst>
</file>

<file path=ppt/tags/tag78.xml><?xml version="1.0" encoding="utf-8"?>
<p:tagLst xmlns:p="http://schemas.openxmlformats.org/presentationml/2006/main">
  <p:tag name="KSO_WM_DIAGRAM_VIRTUALLY_FRAME" val="{&quot;height&quot;:356.5,&quot;left&quot;:52.98,&quot;top&quot;:118.25,&quot;width&quot;:853.0200000000001}"/>
</p:tagLst>
</file>

<file path=ppt/tags/tag79.xml><?xml version="1.0" encoding="utf-8"?>
<p:tagLst xmlns:p="http://schemas.openxmlformats.org/presentationml/2006/main">
  <p:tag name="KSO_WM_DIAGRAM_VIRTUALLY_FRAME" val="{&quot;height&quot;:373.75,&quot;left&quot;:52.5,&quot;top&quot;:117.5,&quot;width&quot;:853.5}"/>
</p:tagLst>
</file>

<file path=ppt/tags/tag80.xml><?xml version="1.0" encoding="utf-8"?>
<p:tagLst xmlns:p="http://schemas.openxmlformats.org/presentationml/2006/main">
  <p:tag name="KSO_WM_DIAGRAM_VIRTUALLY_FRAME" val="{&quot;height&quot;:373.75,&quot;left&quot;:52.5,&quot;top&quot;:117.5,&quot;width&quot;:853.5}"/>
</p:tagLst>
</file>

<file path=ppt/tags/tag81.xml><?xml version="1.0" encoding="utf-8"?>
<p:tagLst xmlns:p="http://schemas.openxmlformats.org/presentationml/2006/main">
  <p:tag name="KSO_WM_DIAGRAM_VIRTUALLY_FRAME" val="{&quot;height&quot;:373.75,&quot;left&quot;:52.5,&quot;top&quot;:117.5,&quot;width&quot;:853.5}"/>
</p:tagLst>
</file>

<file path=ppt/tags/tag82.xml><?xml version="1.0" encoding="utf-8"?>
<p:tagLst xmlns:p="http://schemas.openxmlformats.org/presentationml/2006/main">
  <p:tag name="KSO_WM_DIAGRAM_VIRTUALLY_FRAME" val="{&quot;height&quot;:373.75,&quot;left&quot;:52.5,&quot;top&quot;:117.5,&quot;width&quot;:853.5}"/>
</p:tagLst>
</file>

<file path=ppt/tags/tag83.xml><?xml version="1.0" encoding="utf-8"?>
<p:tagLst xmlns:p="http://schemas.openxmlformats.org/presentationml/2006/main">
  <p:tag name="KSO_WM_DIAGRAM_VIRTUALLY_FRAME" val="{&quot;height&quot;:373.75,&quot;left&quot;:52.5,&quot;top&quot;:117.5,&quot;width&quot;:853.5}"/>
</p:tagLst>
</file>

<file path=ppt/tags/tag84.xml><?xml version="1.0" encoding="utf-8"?>
<p:tagLst xmlns:p="http://schemas.openxmlformats.org/presentationml/2006/main">
  <p:tag name="KSO_WM_DIAGRAM_VIRTUALLY_FRAME" val="{&quot;height&quot;:373.75,&quot;left&quot;:52.5,&quot;top&quot;:117.5,&quot;width&quot;:853.5}"/>
</p:tagLst>
</file>

<file path=ppt/tags/tag85.xml><?xml version="1.0" encoding="utf-8"?>
<p:tagLst xmlns:p="http://schemas.openxmlformats.org/presentationml/2006/main">
  <p:tag name="KSO_WM_DIAGRAM_VIRTUALLY_FRAME" val="{&quot;height&quot;:373.75,&quot;left&quot;:52.5,&quot;top&quot;:117.5,&quot;width&quot;:853.5}"/>
</p:tagLst>
</file>

<file path=ppt/tags/tag86.xml><?xml version="1.0" encoding="utf-8"?>
<p:tagLst xmlns:p="http://schemas.openxmlformats.org/presentationml/2006/main">
  <p:tag name="KSO_WM_DIAGRAM_VIRTUALLY_FRAME" val="{&quot;height&quot;:366.25,&quot;left&quot;:52.98,&quot;top&quot;:117.5,&quot;width&quot;:853.0200000000001}"/>
</p:tagLst>
</file>

<file path=ppt/tags/tag87.xml><?xml version="1.0" encoding="utf-8"?>
<p:tagLst xmlns:p="http://schemas.openxmlformats.org/presentationml/2006/main">
  <p:tag name="KSO_WM_DIAGRAM_VIRTUALLY_FRAME" val="{&quot;height&quot;:366.25,&quot;left&quot;:52.98,&quot;top&quot;:117.5,&quot;width&quot;:853.0200000000001}"/>
</p:tagLst>
</file>

<file path=ppt/tags/tag88.xml><?xml version="1.0" encoding="utf-8"?>
<p:tagLst xmlns:p="http://schemas.openxmlformats.org/presentationml/2006/main">
  <p:tag name="KSO_WM_DIAGRAM_VIRTUALLY_FRAME" val="{&quot;height&quot;:366.25,&quot;left&quot;:52.98,&quot;top&quot;:117.5,&quot;width&quot;:853.0200000000001}"/>
</p:tagLst>
</file>

<file path=ppt/tags/tag89.xml><?xml version="1.0" encoding="utf-8"?>
<p:tagLst xmlns:p="http://schemas.openxmlformats.org/presentationml/2006/main">
  <p:tag name="KSO_WM_DIAGRAM_VIRTUALLY_FRAME" val="{&quot;height&quot;:366.25,&quot;left&quot;:52.98,&quot;top&quot;:117.5,&quot;width&quot;:853.0200000000001}"/>
</p:tagLst>
</file>

<file path=ppt/tags/tag90.xml><?xml version="1.0" encoding="utf-8"?>
<p:tagLst xmlns:p="http://schemas.openxmlformats.org/presentationml/2006/main">
  <p:tag name="KSO_WM_DIAGRAM_VIRTUALLY_FRAME" val="{&quot;height&quot;:366.25,&quot;left&quot;:52.98,&quot;top&quot;:117.5,&quot;width&quot;:853.0200000000001}"/>
</p:tagLst>
</file>

<file path=ppt/tags/tag91.xml><?xml version="1.0" encoding="utf-8"?>
<p:tagLst xmlns:p="http://schemas.openxmlformats.org/presentationml/2006/main">
  <p:tag name="KSO_WM_DIAGRAM_VIRTUALLY_FRAME" val="{&quot;height&quot;:366.25,&quot;left&quot;:52.98,&quot;top&quot;:117.5,&quot;width&quot;:853.0200000000001}"/>
</p:tagLst>
</file>

<file path=ppt/tags/tag92.xml><?xml version="1.0" encoding="utf-8"?>
<p:tagLst xmlns:p="http://schemas.openxmlformats.org/presentationml/2006/main">
  <p:tag name="KSO_WM_DIAGRAM_VIRTUALLY_FRAME" val="{&quot;height&quot;:366.25,&quot;left&quot;:52.98,&quot;top&quot;:117.5,&quot;width&quot;:853.0200000000001}"/>
</p:tagLst>
</file>

<file path=ppt/tags/tag93.xml><?xml version="1.0" encoding="utf-8"?>
<p:tagLst xmlns:p="http://schemas.openxmlformats.org/presentationml/2006/main">
  <p:tag name="KSO_WM_DIAGRAM_VIRTUALLY_FRAME" val="{&quot;height&quot;:366.25,&quot;left&quot;:52.98,&quot;top&quot;:117.5,&quot;width&quot;:853.0200000000001}"/>
</p:tagLst>
</file>

<file path=ppt/tags/tag94.xml><?xml version="1.0" encoding="utf-8"?>
<p:tagLst xmlns:p="http://schemas.openxmlformats.org/presentationml/2006/main">
  <p:tag name="KSO_WM_DIAGRAM_VIRTUALLY_FRAME" val="{&quot;height&quot;:366.25,&quot;left&quot;:52.98,&quot;top&quot;:117.5,&quot;width&quot;:853.0200000000001}"/>
</p:tagLst>
</file>

<file path=ppt/tags/tag95.xml><?xml version="1.0" encoding="utf-8"?>
<p:tagLst xmlns:p="http://schemas.openxmlformats.org/presentationml/2006/main">
  <p:tag name="KSO_WM_DIAGRAM_VIRTUALLY_FRAME" val="{&quot;height&quot;:366.25,&quot;left&quot;:52.98,&quot;top&quot;:117.5,&quot;width&quot;:853.0200000000001}"/>
</p:tagLst>
</file>

<file path=ppt/tags/tag96.xml><?xml version="1.0" encoding="utf-8"?>
<p:tagLst xmlns:p="http://schemas.openxmlformats.org/presentationml/2006/main">
  <p:tag name="KSO_WM_DIAGRAM_VIRTUALLY_FRAME" val="{&quot;height&quot;:366.25,&quot;left&quot;:52.98,&quot;top&quot;:117.5,&quot;width&quot;:853.0200000000001}"/>
</p:tagLst>
</file>

<file path=ppt/tags/tag97.xml><?xml version="1.0" encoding="utf-8"?>
<p:tagLst xmlns:p="http://schemas.openxmlformats.org/presentationml/2006/main">
  <p:tag name="KSO_WM_DIAGRAM_VIRTUALLY_FRAME" val="{&quot;height&quot;:366.25,&quot;left&quot;:52.98,&quot;top&quot;:117.5,&quot;width&quot;:853.0200000000001}"/>
</p:tagLst>
</file>

<file path=ppt/tags/tag98.xml><?xml version="1.0" encoding="utf-8"?>
<p:tagLst xmlns:p="http://schemas.openxmlformats.org/presentationml/2006/main">
  <p:tag name="KSO_WM_DIAGRAM_VIRTUALLY_FRAME" val="{&quot;height&quot;:366.25,&quot;left&quot;:52.98,&quot;top&quot;:117.5,&quot;width&quot;:853.0200000000001}"/>
</p:tagLst>
</file>

<file path=ppt/tags/tag99.xml><?xml version="1.0" encoding="utf-8"?>
<p:tagLst xmlns:p="http://schemas.openxmlformats.org/presentationml/2006/main">
  <p:tag name="KSO_WPP_MARK_KEY" val="189599d4-8542-4dae-b410-5b21e400ed19"/>
  <p:tag name="COMMONDATA" val="eyJoZGlkIjoiMWJkY2I5OTE5ZWI5MWMxNTVlNmFlZmRiMTE5YjU4MTk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4382</Words>
  <Application>WPS 演示</Application>
  <PresentationFormat>宽屏</PresentationFormat>
  <Paragraphs>683</Paragraphs>
  <Slides>28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宋体</vt:lpstr>
      <vt:lpstr>Wingdings</vt:lpstr>
      <vt:lpstr>Wingdings</vt:lpstr>
      <vt:lpstr>黑体</vt:lpstr>
      <vt:lpstr>微软雅黑</vt:lpstr>
      <vt:lpstr>Arial</vt:lpstr>
      <vt:lpstr>Arial Black</vt:lpstr>
      <vt:lpstr>Calibri</vt:lpstr>
      <vt:lpstr>Arial Unicode MS</vt:lpstr>
      <vt:lpstr>MS PGothic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李蔚栋</dc:creator>
  <cp:lastModifiedBy>李祯</cp:lastModifiedBy>
  <cp:revision>257</cp:revision>
  <dcterms:created xsi:type="dcterms:W3CDTF">2019-06-19T02:08:00Z</dcterms:created>
  <dcterms:modified xsi:type="dcterms:W3CDTF">2026-10-08T04:24:49Z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670AC98471C44E3D9E358106F9597E8B</vt:lpwstr>
  </property>
</Properties>
</file>